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1D2EE1-9A6D-D62A-796C-011C35E33FA8}" v="29" dt="2025-10-15T19:11:41.7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us Casado" userId="S::j.casado@kajoservices.com::d1f22296-730f-4fec-9305-16050906619d" providerId="AD" clId="Web-{2C1D2EE1-9A6D-D62A-796C-011C35E33FA8}"/>
    <pc:docChg chg="modSld">
      <pc:chgData name="Jesus Casado" userId="S::j.casado@kajoservices.com::d1f22296-730f-4fec-9305-16050906619d" providerId="AD" clId="Web-{2C1D2EE1-9A6D-D62A-796C-011C35E33FA8}" dt="2025-10-15T19:11:41.760" v="27"/>
      <pc:docMkLst>
        <pc:docMk/>
      </pc:docMkLst>
      <pc:sldChg chg="addSp delSp modSp">
        <pc:chgData name="Jesus Casado" userId="S::j.casado@kajoservices.com::d1f22296-730f-4fec-9305-16050906619d" providerId="AD" clId="Web-{2C1D2EE1-9A6D-D62A-796C-011C35E33FA8}" dt="2025-10-15T19:11:41.760" v="27"/>
        <pc:sldMkLst>
          <pc:docMk/>
          <pc:sldMk cId="0" sldId="259"/>
        </pc:sldMkLst>
        <pc:spChg chg="del topLvl">
          <ac:chgData name="Jesus Casado" userId="S::j.casado@kajoservices.com::d1f22296-730f-4fec-9305-16050906619d" providerId="AD" clId="Web-{2C1D2EE1-9A6D-D62A-796C-011C35E33FA8}" dt="2025-10-15T19:10:36.164" v="18"/>
          <ac:spMkLst>
            <pc:docMk/>
            <pc:sldMk cId="0" sldId="259"/>
            <ac:spMk id="128" creationId="{00000000-0000-0000-0000-000000000000}"/>
          </ac:spMkLst>
        </pc:spChg>
        <pc:spChg chg="del topLvl">
          <ac:chgData name="Jesus Casado" userId="S::j.casado@kajoservices.com::d1f22296-730f-4fec-9305-16050906619d" providerId="AD" clId="Web-{2C1D2EE1-9A6D-D62A-796C-011C35E33FA8}" dt="2025-10-15T19:10:36.148" v="6"/>
          <ac:spMkLst>
            <pc:docMk/>
            <pc:sldMk cId="0" sldId="259"/>
            <ac:spMk id="158" creationId="{00000000-0000-0000-0000-000000000000}"/>
          </ac:spMkLst>
        </pc:spChg>
        <pc:spChg chg="del topLvl">
          <ac:chgData name="Jesus Casado" userId="S::j.casado@kajoservices.com::d1f22296-730f-4fec-9305-16050906619d" providerId="AD" clId="Web-{2C1D2EE1-9A6D-D62A-796C-011C35E33FA8}" dt="2025-10-15T19:10:36.164" v="15"/>
          <ac:spMkLst>
            <pc:docMk/>
            <pc:sldMk cId="0" sldId="259"/>
            <ac:spMk id="159" creationId="{00000000-0000-0000-0000-000000000000}"/>
          </ac:spMkLst>
        </pc:spChg>
        <pc:spChg chg="del topLvl">
          <ac:chgData name="Jesus Casado" userId="S::j.casado@kajoservices.com::d1f22296-730f-4fec-9305-16050906619d" providerId="AD" clId="Web-{2C1D2EE1-9A6D-D62A-796C-011C35E33FA8}" dt="2025-10-15T19:10:36.101" v="3"/>
          <ac:spMkLst>
            <pc:docMk/>
            <pc:sldMk cId="0" sldId="259"/>
            <ac:spMk id="161" creationId="{00000000-0000-0000-0000-000000000000}"/>
          </ac:spMkLst>
        </pc:spChg>
        <pc:spChg chg="del topLvl">
          <ac:chgData name="Jesus Casado" userId="S::j.casado@kajoservices.com::d1f22296-730f-4fec-9305-16050906619d" providerId="AD" clId="Web-{2C1D2EE1-9A6D-D62A-796C-011C35E33FA8}" dt="2025-10-15T19:10:36.164" v="7"/>
          <ac:spMkLst>
            <pc:docMk/>
            <pc:sldMk cId="0" sldId="259"/>
            <ac:spMk id="164" creationId="{00000000-0000-0000-0000-000000000000}"/>
          </ac:spMkLst>
        </pc:spChg>
        <pc:spChg chg="del topLvl">
          <ac:chgData name="Jesus Casado" userId="S::j.casado@kajoservices.com::d1f22296-730f-4fec-9305-16050906619d" providerId="AD" clId="Web-{2C1D2EE1-9A6D-D62A-796C-011C35E33FA8}" dt="2025-10-15T19:10:36.132" v="5"/>
          <ac:spMkLst>
            <pc:docMk/>
            <pc:sldMk cId="0" sldId="259"/>
            <ac:spMk id="166" creationId="{00000000-0000-0000-0000-000000000000}"/>
          </ac:spMkLst>
        </pc:spChg>
        <pc:spChg chg="del topLvl">
          <ac:chgData name="Jesus Casado" userId="S::j.casado@kajoservices.com::d1f22296-730f-4fec-9305-16050906619d" providerId="AD" clId="Web-{2C1D2EE1-9A6D-D62A-796C-011C35E33FA8}" dt="2025-10-15T19:10:36.117" v="4"/>
          <ac:spMkLst>
            <pc:docMk/>
            <pc:sldMk cId="0" sldId="259"/>
            <ac:spMk id="168" creationId="{00000000-0000-0000-0000-000000000000}"/>
          </ac:spMkLst>
        </pc:spChg>
        <pc:spChg chg="del topLvl">
          <ac:chgData name="Jesus Casado" userId="S::j.casado@kajoservices.com::d1f22296-730f-4fec-9305-16050906619d" providerId="AD" clId="Web-{2C1D2EE1-9A6D-D62A-796C-011C35E33FA8}" dt="2025-10-15T19:10:36.164" v="9"/>
          <ac:spMkLst>
            <pc:docMk/>
            <pc:sldMk cId="0" sldId="259"/>
            <ac:spMk id="169" creationId="{00000000-0000-0000-0000-000000000000}"/>
          </ac:spMkLst>
        </pc:spChg>
        <pc:spChg chg="del topLvl">
          <ac:chgData name="Jesus Casado" userId="S::j.casado@kajoservices.com::d1f22296-730f-4fec-9305-16050906619d" providerId="AD" clId="Web-{2C1D2EE1-9A6D-D62A-796C-011C35E33FA8}" dt="2025-10-15T19:10:38.257" v="19"/>
          <ac:spMkLst>
            <pc:docMk/>
            <pc:sldMk cId="0" sldId="259"/>
            <ac:spMk id="171" creationId="{00000000-0000-0000-0000-000000000000}"/>
          </ac:spMkLst>
        </pc:spChg>
        <pc:grpChg chg="del topLvl">
          <ac:chgData name="Jesus Casado" userId="S::j.casado@kajoservices.com::d1f22296-730f-4fec-9305-16050906619d" providerId="AD" clId="Web-{2C1D2EE1-9A6D-D62A-796C-011C35E33FA8}" dt="2025-10-15T19:10:36.164" v="17"/>
          <ac:grpSpMkLst>
            <pc:docMk/>
            <pc:sldMk cId="0" sldId="259"/>
            <ac:grpSpMk id="129" creationId="{00000000-0000-0000-0000-000000000000}"/>
          </ac:grpSpMkLst>
        </pc:grpChg>
        <pc:grpChg chg="del">
          <ac:chgData name="Jesus Casado" userId="S::j.casado@kajoservices.com::d1f22296-730f-4fec-9305-16050906619d" providerId="AD" clId="Web-{2C1D2EE1-9A6D-D62A-796C-011C35E33FA8}" dt="2025-10-15T19:10:32.569" v="1"/>
          <ac:grpSpMkLst>
            <pc:docMk/>
            <pc:sldMk cId="0" sldId="259"/>
            <ac:grpSpMk id="173" creationId="{00000000-0000-0000-0000-000000000000}"/>
          </ac:grpSpMkLst>
        </pc:grpChg>
        <pc:picChg chg="add mod modCrop">
          <ac:chgData name="Jesus Casado" userId="S::j.casado@kajoservices.com::d1f22296-730f-4fec-9305-16050906619d" providerId="AD" clId="Web-{2C1D2EE1-9A6D-D62A-796C-011C35E33FA8}" dt="2025-10-15T19:11:41.760" v="27"/>
          <ac:picMkLst>
            <pc:docMk/>
            <pc:sldMk cId="0" sldId="259"/>
            <ac:picMk id="2" creationId="{4F403344-40D8-7A9B-B02E-729D656E0D7E}"/>
          </ac:picMkLst>
        </pc:picChg>
        <pc:cxnChg chg="mod">
          <ac:chgData name="Jesus Casado" userId="S::j.casado@kajoservices.com::d1f22296-730f-4fec-9305-16050906619d" providerId="AD" clId="Web-{2C1D2EE1-9A6D-D62A-796C-011C35E33FA8}" dt="2025-10-15T19:10:36.164" v="17"/>
          <ac:cxnSpMkLst>
            <pc:docMk/>
            <pc:sldMk cId="0" sldId="259"/>
            <ac:cxnSpMk id="139" creationId="{00000000-0000-0000-0000-000000000000}"/>
          </ac:cxnSpMkLst>
        </pc:cxnChg>
        <pc:cxnChg chg="mod">
          <ac:chgData name="Jesus Casado" userId="S::j.casado@kajoservices.com::d1f22296-730f-4fec-9305-16050906619d" providerId="AD" clId="Web-{2C1D2EE1-9A6D-D62A-796C-011C35E33FA8}" dt="2025-10-15T19:10:36.164" v="17"/>
          <ac:cxnSpMkLst>
            <pc:docMk/>
            <pc:sldMk cId="0" sldId="259"/>
            <ac:cxnSpMk id="140" creationId="{00000000-0000-0000-0000-000000000000}"/>
          </ac:cxnSpMkLst>
        </pc:cxnChg>
        <pc:cxnChg chg="mod">
          <ac:chgData name="Jesus Casado" userId="S::j.casado@kajoservices.com::d1f22296-730f-4fec-9305-16050906619d" providerId="AD" clId="Web-{2C1D2EE1-9A6D-D62A-796C-011C35E33FA8}" dt="2025-10-15T19:10:36.164" v="17"/>
          <ac:cxnSpMkLst>
            <pc:docMk/>
            <pc:sldMk cId="0" sldId="259"/>
            <ac:cxnSpMk id="142" creationId="{00000000-0000-0000-0000-000000000000}"/>
          </ac:cxnSpMkLst>
        </pc:cxnChg>
        <pc:cxnChg chg="mod">
          <ac:chgData name="Jesus Casado" userId="S::j.casado@kajoservices.com::d1f22296-730f-4fec-9305-16050906619d" providerId="AD" clId="Web-{2C1D2EE1-9A6D-D62A-796C-011C35E33FA8}" dt="2025-10-15T19:10:36.164" v="17"/>
          <ac:cxnSpMkLst>
            <pc:docMk/>
            <pc:sldMk cId="0" sldId="259"/>
            <ac:cxnSpMk id="149" creationId="{00000000-0000-0000-0000-000000000000}"/>
          </ac:cxnSpMkLst>
        </pc:cxnChg>
        <pc:cxnChg chg="mod">
          <ac:chgData name="Jesus Casado" userId="S::j.casado@kajoservices.com::d1f22296-730f-4fec-9305-16050906619d" providerId="AD" clId="Web-{2C1D2EE1-9A6D-D62A-796C-011C35E33FA8}" dt="2025-10-15T19:10:36.164" v="17"/>
          <ac:cxnSpMkLst>
            <pc:docMk/>
            <pc:sldMk cId="0" sldId="259"/>
            <ac:cxnSpMk id="150" creationId="{00000000-0000-0000-0000-000000000000}"/>
          </ac:cxnSpMkLst>
        </pc:cxnChg>
        <pc:cxnChg chg="mod">
          <ac:chgData name="Jesus Casado" userId="S::j.casado@kajoservices.com::d1f22296-730f-4fec-9305-16050906619d" providerId="AD" clId="Web-{2C1D2EE1-9A6D-D62A-796C-011C35E33FA8}" dt="2025-10-15T19:10:36.164" v="17"/>
          <ac:cxnSpMkLst>
            <pc:docMk/>
            <pc:sldMk cId="0" sldId="259"/>
            <ac:cxnSpMk id="151" creationId="{00000000-0000-0000-0000-000000000000}"/>
          </ac:cxnSpMkLst>
        </pc:cxnChg>
        <pc:cxnChg chg="mod">
          <ac:chgData name="Jesus Casado" userId="S::j.casado@kajoservices.com::d1f22296-730f-4fec-9305-16050906619d" providerId="AD" clId="Web-{2C1D2EE1-9A6D-D62A-796C-011C35E33FA8}" dt="2025-10-15T19:10:36.164" v="17"/>
          <ac:cxnSpMkLst>
            <pc:docMk/>
            <pc:sldMk cId="0" sldId="259"/>
            <ac:cxnSpMk id="152" creationId="{00000000-0000-0000-0000-000000000000}"/>
          </ac:cxnSpMkLst>
        </pc:cxnChg>
        <pc:cxnChg chg="mod">
          <ac:chgData name="Jesus Casado" userId="S::j.casado@kajoservices.com::d1f22296-730f-4fec-9305-16050906619d" providerId="AD" clId="Web-{2C1D2EE1-9A6D-D62A-796C-011C35E33FA8}" dt="2025-10-15T19:10:36.164" v="17"/>
          <ac:cxnSpMkLst>
            <pc:docMk/>
            <pc:sldMk cId="0" sldId="259"/>
            <ac:cxnSpMk id="153" creationId="{00000000-0000-0000-0000-000000000000}"/>
          </ac:cxnSpMkLst>
        </pc:cxnChg>
        <pc:cxnChg chg="mod">
          <ac:chgData name="Jesus Casado" userId="S::j.casado@kajoservices.com::d1f22296-730f-4fec-9305-16050906619d" providerId="AD" clId="Web-{2C1D2EE1-9A6D-D62A-796C-011C35E33FA8}" dt="2025-10-15T19:10:36.164" v="17"/>
          <ac:cxnSpMkLst>
            <pc:docMk/>
            <pc:sldMk cId="0" sldId="259"/>
            <ac:cxnSpMk id="155" creationId="{00000000-0000-0000-0000-000000000000}"/>
          </ac:cxnSpMkLst>
        </pc:cxnChg>
        <pc:cxnChg chg="del mod">
          <ac:chgData name="Jesus Casado" userId="S::j.casado@kajoservices.com::d1f22296-730f-4fec-9305-16050906619d" providerId="AD" clId="Web-{2C1D2EE1-9A6D-D62A-796C-011C35E33FA8}" dt="2025-10-15T19:10:36.164" v="16"/>
          <ac:cxnSpMkLst>
            <pc:docMk/>
            <pc:sldMk cId="0" sldId="259"/>
            <ac:cxnSpMk id="157" creationId="{00000000-0000-0000-0000-000000000000}"/>
          </ac:cxnSpMkLst>
        </pc:cxnChg>
        <pc:cxnChg chg="del mod">
          <ac:chgData name="Jesus Casado" userId="S::j.casado@kajoservices.com::d1f22296-730f-4fec-9305-16050906619d" providerId="AD" clId="Web-{2C1D2EE1-9A6D-D62A-796C-011C35E33FA8}" dt="2025-10-15T19:10:36.164" v="14"/>
          <ac:cxnSpMkLst>
            <pc:docMk/>
            <pc:sldMk cId="0" sldId="259"/>
            <ac:cxnSpMk id="160" creationId="{00000000-0000-0000-0000-000000000000}"/>
          </ac:cxnSpMkLst>
        </pc:cxnChg>
        <pc:cxnChg chg="del mod">
          <ac:chgData name="Jesus Casado" userId="S::j.casado@kajoservices.com::d1f22296-730f-4fec-9305-16050906619d" providerId="AD" clId="Web-{2C1D2EE1-9A6D-D62A-796C-011C35E33FA8}" dt="2025-10-15T19:10:36.164" v="13"/>
          <ac:cxnSpMkLst>
            <pc:docMk/>
            <pc:sldMk cId="0" sldId="259"/>
            <ac:cxnSpMk id="162" creationId="{00000000-0000-0000-0000-000000000000}"/>
          </ac:cxnSpMkLst>
        </pc:cxnChg>
        <pc:cxnChg chg="del mod">
          <ac:chgData name="Jesus Casado" userId="S::j.casado@kajoservices.com::d1f22296-730f-4fec-9305-16050906619d" providerId="AD" clId="Web-{2C1D2EE1-9A6D-D62A-796C-011C35E33FA8}" dt="2025-10-15T19:10:36.164" v="12"/>
          <ac:cxnSpMkLst>
            <pc:docMk/>
            <pc:sldMk cId="0" sldId="259"/>
            <ac:cxnSpMk id="163" creationId="{00000000-0000-0000-0000-000000000000}"/>
          </ac:cxnSpMkLst>
        </pc:cxnChg>
        <pc:cxnChg chg="del mod">
          <ac:chgData name="Jesus Casado" userId="S::j.casado@kajoservices.com::d1f22296-730f-4fec-9305-16050906619d" providerId="AD" clId="Web-{2C1D2EE1-9A6D-D62A-796C-011C35E33FA8}" dt="2025-10-15T19:10:36.164" v="11"/>
          <ac:cxnSpMkLst>
            <pc:docMk/>
            <pc:sldMk cId="0" sldId="259"/>
            <ac:cxnSpMk id="165" creationId="{00000000-0000-0000-0000-000000000000}"/>
          </ac:cxnSpMkLst>
        </pc:cxnChg>
        <pc:cxnChg chg="del mod">
          <ac:chgData name="Jesus Casado" userId="S::j.casado@kajoservices.com::d1f22296-730f-4fec-9305-16050906619d" providerId="AD" clId="Web-{2C1D2EE1-9A6D-D62A-796C-011C35E33FA8}" dt="2025-10-15T19:10:36.164" v="10"/>
          <ac:cxnSpMkLst>
            <pc:docMk/>
            <pc:sldMk cId="0" sldId="259"/>
            <ac:cxnSpMk id="167" creationId="{00000000-0000-0000-0000-000000000000}"/>
          </ac:cxnSpMkLst>
        </pc:cxnChg>
        <pc:cxnChg chg="del mod">
          <ac:chgData name="Jesus Casado" userId="S::j.casado@kajoservices.com::d1f22296-730f-4fec-9305-16050906619d" providerId="AD" clId="Web-{2C1D2EE1-9A6D-D62A-796C-011C35E33FA8}" dt="2025-10-15T19:10:36.164" v="8"/>
          <ac:cxnSpMkLst>
            <pc:docMk/>
            <pc:sldMk cId="0" sldId="259"/>
            <ac:cxnSpMk id="170" creationId="{00000000-0000-0000-0000-000000000000}"/>
          </ac:cxnSpMkLst>
        </pc:cxnChg>
        <pc:cxnChg chg="del mod">
          <ac:chgData name="Jesus Casado" userId="S::j.casado@kajoservices.com::d1f22296-730f-4fec-9305-16050906619d" providerId="AD" clId="Web-{2C1D2EE1-9A6D-D62A-796C-011C35E33FA8}" dt="2025-10-15T19:10:36.101" v="2"/>
          <ac:cxnSpMkLst>
            <pc:docMk/>
            <pc:sldMk cId="0" sldId="259"/>
            <ac:cxnSpMk id="172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1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2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3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2C600C2-BE75-4046-8EA3-CACFB0A50AF1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A6536DF-96FF-4745-9768-5878799EB8F7}" type="slidenum"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EC52C52-B129-41B2-B221-340E9D4D46FD}" type="slidenum"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13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ció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Haga clic para modificar el estilo de título del patrón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64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64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20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20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" name="PlaceHolder 8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9AC6DD-56FE-4570-A7AD-252EF7A5B727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Haga clic para modificar el estilo de título del patrón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CB2622D-611E-4B7D-A7B6-BB7165F2732B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D953D1D-C54D-49B4-AAC9-99F9F7A7C66C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Haga clic para modificar el estilo de título del patrón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70CCB2-FDC8-4B73-B483-238DFC33A58E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ido con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Haga clic para modificar el estilo de título del patrón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806BCB6-C91C-44B8-8B76-C5C448A0254A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n con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Haga clic para modificar el estilo de título del patrón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5A0140E-A99E-4F68-AFDD-85C738549B6E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Haga clic para modificar el estilo de título del patrón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2A6CC8A-8A42-47D2-A5F0-0C5D561D2175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000" cy="58107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Haga clic para modificar el estilo de título del patrón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160" cy="58107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10CF3F8-57BC-4A9D-B777-4020025EA190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Haga clic para modificar el estilo de título del patrón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F81179D-8A0A-4F59-9E85-971CCEA7B4F5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cabezado de secció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Haga clic para modificar el estilo de título del patrón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1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576F64D-B254-4514-B314-DE51813D359C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Haga clic para modificar el estilo de título del patrón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48E94DC-AA38-41F0-8E3C-4A51E3438FF9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jpe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jpe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jpe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jpe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13" Type="http://schemas.openxmlformats.org/officeDocument/2006/relationships/image" Target="../media/image31.jpeg"/><Relationship Id="rId18" Type="http://schemas.openxmlformats.org/officeDocument/2006/relationships/image" Target="../media/image36.png"/><Relationship Id="rId3" Type="http://schemas.openxmlformats.org/officeDocument/2006/relationships/image" Target="../media/image9.jpeg"/><Relationship Id="rId21" Type="http://schemas.openxmlformats.org/officeDocument/2006/relationships/image" Target="../media/image39.png"/><Relationship Id="rId7" Type="http://schemas.openxmlformats.org/officeDocument/2006/relationships/image" Target="../media/image25.jpeg"/><Relationship Id="rId12" Type="http://schemas.openxmlformats.org/officeDocument/2006/relationships/image" Target="../media/image30.png"/><Relationship Id="rId17" Type="http://schemas.openxmlformats.org/officeDocument/2006/relationships/image" Target="../media/image35.jpeg"/><Relationship Id="rId25" Type="http://schemas.openxmlformats.org/officeDocument/2006/relationships/image" Target="../media/image4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4.jpe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jpeg"/><Relationship Id="rId11" Type="http://schemas.openxmlformats.org/officeDocument/2006/relationships/image" Target="../media/image29.jpeg"/><Relationship Id="rId24" Type="http://schemas.openxmlformats.org/officeDocument/2006/relationships/image" Target="../media/image42.jpeg"/><Relationship Id="rId5" Type="http://schemas.openxmlformats.org/officeDocument/2006/relationships/image" Target="../media/image23.jpeg"/><Relationship Id="rId15" Type="http://schemas.openxmlformats.org/officeDocument/2006/relationships/image" Target="../media/image33.png"/><Relationship Id="rId23" Type="http://schemas.openxmlformats.org/officeDocument/2006/relationships/image" Target="../media/image41.jpeg"/><Relationship Id="rId10" Type="http://schemas.openxmlformats.org/officeDocument/2006/relationships/image" Target="../media/image28.png"/><Relationship Id="rId19" Type="http://schemas.openxmlformats.org/officeDocument/2006/relationships/image" Target="../media/image37.svg"/><Relationship Id="rId4" Type="http://schemas.openxmlformats.org/officeDocument/2006/relationships/image" Target="../media/image22.jpeg"/><Relationship Id="rId9" Type="http://schemas.openxmlformats.org/officeDocument/2006/relationships/image" Target="../media/image27.png"/><Relationship Id="rId14" Type="http://schemas.openxmlformats.org/officeDocument/2006/relationships/image" Target="../media/image32.jpeg"/><Relationship Id="rId22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0F8FD">
                <a:alpha val="0"/>
              </a:srgbClr>
            </a:gs>
            <a:gs pos="91000">
              <a:srgbClr val="FFFFFF">
                <a:alpha val="0"/>
              </a:srgbClr>
            </a:gs>
            <a:gs pos="100000">
              <a:srgbClr val="AEAEAE">
                <a:alpha val="60000"/>
              </a:srgbClr>
            </a:gs>
          </a:gsLst>
          <a:lin ang="108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Imagen 87"/>
          <p:cNvPicPr/>
          <p:nvPr/>
        </p:nvPicPr>
        <p:blipFill>
          <a:blip r:embed="rId3"/>
          <a:srcRect t="14034" r="26029" b="9098"/>
          <a:stretch/>
        </p:blipFill>
        <p:spPr>
          <a:xfrm>
            <a:off x="155160" y="0"/>
            <a:ext cx="1203588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Imagen 89"/>
          <p:cNvPicPr/>
          <p:nvPr/>
        </p:nvPicPr>
        <p:blipFill>
          <a:blip r:embed="rId3"/>
          <a:srcRect t="14034" r="26029" b="9098"/>
          <a:stretch/>
        </p:blipFill>
        <p:spPr>
          <a:xfrm>
            <a:off x="0" y="0"/>
            <a:ext cx="1218924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Rectángulo 68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gradFill rotWithShape="0">
            <a:gsLst>
              <a:gs pos="0">
                <a:srgbClr val="F0F8FD">
                  <a:alpha val="0"/>
                </a:srgbClr>
              </a:gs>
              <a:gs pos="60000">
                <a:srgbClr val="FFFFFF">
                  <a:alpha val="0"/>
                </a:srgbClr>
              </a:gs>
              <a:gs pos="100000">
                <a:srgbClr val="AEAEAE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s-E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7" name="Rectángulo 5"/>
          <p:cNvSpPr/>
          <p:nvPr/>
        </p:nvSpPr>
        <p:spPr>
          <a:xfrm>
            <a:off x="0" y="0"/>
            <a:ext cx="12191040" cy="1098360"/>
          </a:xfrm>
          <a:prstGeom prst="rect">
            <a:avLst/>
          </a:prstGeom>
          <a:solidFill>
            <a:srgbClr val="CDD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s-E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68" name="Imagen 16" descr="Interfaz de usuario gráfica, Aplicación&#10;&#10;El contenido generado por IA puede ser incorrecto."/>
          <p:cNvPicPr/>
          <p:nvPr/>
        </p:nvPicPr>
        <p:blipFill>
          <a:blip r:embed="rId4"/>
          <a:srcRect l="41695" t="29538" r="37192" b="42104"/>
          <a:stretch/>
        </p:blipFill>
        <p:spPr>
          <a:xfrm>
            <a:off x="10739160" y="-83160"/>
            <a:ext cx="1451520" cy="109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CuadroTexto 70"/>
          <p:cNvSpPr/>
          <p:nvPr/>
        </p:nvSpPr>
        <p:spPr>
          <a:xfrm>
            <a:off x="4075200" y="187920"/>
            <a:ext cx="694080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22-23 de octubre de 2025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s-E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Zaragoza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ángulo 72"/>
          <p:cNvSpPr/>
          <p:nvPr/>
        </p:nvSpPr>
        <p:spPr>
          <a:xfrm>
            <a:off x="8994600" y="5126040"/>
            <a:ext cx="3196080" cy="1730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s-E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1" name="Diagrama de flujo: terminador 78"/>
          <p:cNvSpPr/>
          <p:nvPr/>
        </p:nvSpPr>
        <p:spPr>
          <a:xfrm>
            <a:off x="8615520" y="1532520"/>
            <a:ext cx="3420360" cy="1070640"/>
          </a:xfrm>
          <a:prstGeom prst="flowChartTerminator">
            <a:avLst/>
          </a:prstGeom>
          <a:solidFill>
            <a:srgbClr val="ABB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800" b="1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Hidrología y dinámica fluvial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n 1" descr="Logotipo, nombre de la empresa&#10;&#10;El contenido generado por IA puede ser incorrecto."/>
          <p:cNvPicPr/>
          <p:nvPr/>
        </p:nvPicPr>
        <p:blipFill>
          <a:blip r:embed="rId5"/>
          <a:srcRect l="23562" t="12506"/>
          <a:stretch/>
        </p:blipFill>
        <p:spPr>
          <a:xfrm>
            <a:off x="0" y="0"/>
            <a:ext cx="6706080" cy="599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Rectángulo 7"/>
          <p:cNvSpPr/>
          <p:nvPr/>
        </p:nvSpPr>
        <p:spPr>
          <a:xfrm>
            <a:off x="0" y="5126040"/>
            <a:ext cx="9024480" cy="1730880"/>
          </a:xfrm>
          <a:prstGeom prst="rect">
            <a:avLst/>
          </a:prstGeom>
          <a:solidFill>
            <a:srgbClr val="CDD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s-E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4" name="CuadroTexto 69"/>
          <p:cNvSpPr/>
          <p:nvPr/>
        </p:nvSpPr>
        <p:spPr>
          <a:xfrm>
            <a:off x="1103760" y="5126040"/>
            <a:ext cx="694080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Simulación del caudal en España utilizando redes Long Short-term Memory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CuadroTexto 79"/>
          <p:cNvSpPr/>
          <p:nvPr/>
        </p:nvSpPr>
        <p:spPr>
          <a:xfrm>
            <a:off x="1103760" y="5911920"/>
            <a:ext cx="6940800" cy="88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2000" b="1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Jesús Casado Rodríguez</a:t>
            </a:r>
            <a:r>
              <a:rPr lang="es-ES" sz="2000" b="1" i="1" u="none" strike="noStrike" baseline="33000">
                <a:solidFill>
                  <a:schemeClr val="dk1"/>
                </a:solidFill>
                <a:effectLst/>
                <a:uFillTx/>
                <a:latin typeface="Arial"/>
              </a:rPr>
              <a:t>a,b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s-ES" sz="1600" b="0" i="1" u="none" strike="noStrike" baseline="33000">
                <a:solidFill>
                  <a:schemeClr val="dk1"/>
                </a:solidFill>
                <a:effectLst/>
                <a:uFillTx/>
                <a:latin typeface="Arial"/>
              </a:rPr>
              <a:t>a</a:t>
            </a:r>
            <a:r>
              <a:rPr lang="es-ES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European Commission – Joint Research Centre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s-ES" sz="1600" b="0" i="1" u="none" strike="noStrike" baseline="33000">
                <a:solidFill>
                  <a:schemeClr val="dk1"/>
                </a:solidFill>
                <a:effectLst/>
                <a:uFillTx/>
                <a:latin typeface="Arial"/>
              </a:rPr>
              <a:t>b</a:t>
            </a:r>
            <a:r>
              <a:rPr lang="es-ES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Kajo Services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" name="Grupo 2"/>
          <p:cNvGrpSpPr/>
          <p:nvPr/>
        </p:nvGrpSpPr>
        <p:grpSpPr>
          <a:xfrm>
            <a:off x="9266760" y="5463000"/>
            <a:ext cx="2612160" cy="1061280"/>
            <a:chOff x="9266760" y="5463000"/>
            <a:chExt cx="2612160" cy="1061280"/>
          </a:xfrm>
        </p:grpSpPr>
        <p:pic>
          <p:nvPicPr>
            <p:cNvPr id="77" name="Imagen 76"/>
            <p:cNvPicPr/>
            <p:nvPr/>
          </p:nvPicPr>
          <p:blipFill>
            <a:blip r:embed="rId6"/>
            <a:stretch/>
          </p:blipFill>
          <p:spPr>
            <a:xfrm>
              <a:off x="9266760" y="5463000"/>
              <a:ext cx="1553400" cy="1061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8" name="Imagen 1"/>
            <p:cNvPicPr/>
            <p:nvPr/>
          </p:nvPicPr>
          <p:blipFill>
            <a:blip r:embed="rId7"/>
            <a:stretch/>
          </p:blipFill>
          <p:spPr>
            <a:xfrm>
              <a:off x="10822320" y="5463360"/>
              <a:ext cx="1056600" cy="10566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ángulo 10"/>
          <p:cNvSpPr/>
          <p:nvPr/>
        </p:nvSpPr>
        <p:spPr>
          <a:xfrm>
            <a:off x="0" y="784800"/>
            <a:ext cx="12191040" cy="700920"/>
          </a:xfrm>
          <a:prstGeom prst="rect">
            <a:avLst/>
          </a:prstGeom>
          <a:solidFill>
            <a:srgbClr val="DDE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80" name="CuadroTexto 26"/>
          <p:cNvSpPr/>
          <p:nvPr/>
        </p:nvSpPr>
        <p:spPr>
          <a:xfrm>
            <a:off x="181080" y="874440"/>
            <a:ext cx="1020636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8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Introducción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Forma libre: forma 8"/>
          <p:cNvSpPr/>
          <p:nvPr/>
        </p:nvSpPr>
        <p:spPr>
          <a:xfrm>
            <a:off x="0" y="5924520"/>
            <a:ext cx="12191040" cy="932400"/>
          </a:xfrm>
          <a:custGeom>
            <a:avLst/>
            <a:gdLst>
              <a:gd name="textAreaLeft" fmla="*/ 0 w 12191040"/>
              <a:gd name="textAreaRight" fmla="*/ 12192120 w 12191040"/>
              <a:gd name="textAreaTop" fmla="*/ 0 h 932400"/>
              <a:gd name="textAreaBottom" fmla="*/ 933480 h 932400"/>
              <a:gd name="GluePoint1X" fmla="*/ 0 w 12192000"/>
              <a:gd name="GluePoint1Y" fmla="*/ 0 h 933544"/>
              <a:gd name="GluePoint2X" fmla="*/ 23182 w 12192000"/>
              <a:gd name="GluePoint2Y" fmla="*/ 5088 h 933544"/>
              <a:gd name="GluePoint3X" fmla="*/ 6096000 w 12192000"/>
              <a:gd name="GluePoint3Y" fmla="*/ 577694 h 933544"/>
              <a:gd name="GluePoint4X" fmla="*/ 12168818 w 12192000"/>
              <a:gd name="GluePoint4Y" fmla="*/ 5088 h 933544"/>
              <a:gd name="GluePoint5X" fmla="*/ 12192000 w 12192000"/>
              <a:gd name="GluePoint5Y" fmla="*/ 0 h 933544"/>
              <a:gd name="GluePoint6X" fmla="*/ 12192000 w 12192000"/>
              <a:gd name="GluePoint6Y" fmla="*/ 933544 h 933544"/>
              <a:gd name="GluePoint7X" fmla="*/ 0 w 12192000"/>
              <a:gd name="GluePoint7Y" fmla="*/ 933544 h 933544"/>
              <a:gd name="GluePoint8X" fmla="*/ 0 w 12192000"/>
              <a:gd name="GluePoint8Y" fmla="*/ 0 h 9335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2192000" h="933544">
                <a:moveTo>
                  <a:pt x="0" y="0"/>
                </a:moveTo>
                <a:lnTo>
                  <a:pt x="23182" y="5088"/>
                </a:lnTo>
                <a:cubicBezTo>
                  <a:pt x="1756703" y="366602"/>
                  <a:pt x="3846491" y="577694"/>
                  <a:pt x="6096000" y="577694"/>
                </a:cubicBezTo>
                <a:cubicBezTo>
                  <a:pt x="8345509" y="577694"/>
                  <a:pt x="10435297" y="366602"/>
                  <a:pt x="12168818" y="5088"/>
                </a:cubicBezTo>
                <a:lnTo>
                  <a:pt x="12192000" y="0"/>
                </a:lnTo>
                <a:lnTo>
                  <a:pt x="12192000" y="933544"/>
                </a:lnTo>
                <a:lnTo>
                  <a:pt x="0" y="933544"/>
                </a:lnTo>
                <a:lnTo>
                  <a:pt x="0" y="0"/>
                </a:lnTo>
                <a:close/>
              </a:path>
            </a:pathLst>
          </a:custGeom>
          <a:solidFill>
            <a:srgbClr val="627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sldNum" idx="37"/>
          </p:nvPr>
        </p:nvSpPr>
        <p:spPr>
          <a:xfrm>
            <a:off x="9331200" y="63133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568662F-CF9A-44EE-B17C-2AC1EEF7CDDB}" type="slidenum">
              <a: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fld>
            <a:endParaRPr lang="es-E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CuadroTexto 27"/>
          <p:cNvSpPr/>
          <p:nvPr/>
        </p:nvSpPr>
        <p:spPr>
          <a:xfrm>
            <a:off x="1438920" y="4448880"/>
            <a:ext cx="689040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Desventajas: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Tiempo de computación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Calibración: tiempo y trasvase de información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Regionalización en cuencas no aforadas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CuadroTexto 28"/>
          <p:cNvSpPr/>
          <p:nvPr/>
        </p:nvSpPr>
        <p:spPr>
          <a:xfrm>
            <a:off x="231840" y="1486440"/>
            <a:ext cx="10027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4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Modelos hidrológicos: físicos </a:t>
            </a:r>
            <a:r>
              <a:rPr lang="es-ES" sz="2400" b="1" u="none" strike="noStrike">
                <a:solidFill>
                  <a:srgbClr val="729FCF"/>
                </a:solidFill>
                <a:effectLst/>
                <a:uFillTx/>
                <a:latin typeface="Calibri"/>
                <a:ea typeface="Calibri"/>
              </a:rPr>
              <a:t>vs basados en datos vs híbridos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5" name="Grupo 7"/>
          <p:cNvGrpSpPr/>
          <p:nvPr/>
        </p:nvGrpSpPr>
        <p:grpSpPr>
          <a:xfrm>
            <a:off x="7867800" y="2057040"/>
            <a:ext cx="4320000" cy="3724200"/>
            <a:chOff x="7867800" y="2057040"/>
            <a:chExt cx="4320000" cy="3724200"/>
          </a:xfrm>
        </p:grpSpPr>
        <p:pic>
          <p:nvPicPr>
            <p:cNvPr id="86" name="Picture 15"/>
            <p:cNvPicPr/>
            <p:nvPr/>
          </p:nvPicPr>
          <p:blipFill>
            <a:blip r:embed="rId2"/>
            <a:srcRect l="685" t="1389" r="46378" b="1029"/>
            <a:stretch/>
          </p:blipFill>
          <p:spPr>
            <a:xfrm>
              <a:off x="7999560" y="2057040"/>
              <a:ext cx="4188240" cy="37098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7" name="Group 12"/>
            <p:cNvGrpSpPr/>
            <p:nvPr/>
          </p:nvGrpSpPr>
          <p:grpSpPr>
            <a:xfrm>
              <a:off x="7867800" y="4448880"/>
              <a:ext cx="1231200" cy="1332360"/>
              <a:chOff x="7867800" y="4448880"/>
              <a:chExt cx="1231200" cy="1332360"/>
            </a:xfrm>
          </p:grpSpPr>
          <p:pic>
            <p:nvPicPr>
              <p:cNvPr id="88" name="Picture 19"/>
              <p:cNvPicPr/>
              <p:nvPr/>
            </p:nvPicPr>
            <p:blipFill>
              <a:blip r:embed="rId3"/>
              <a:srcRect l="616" t="22042" r="71258" b="27708"/>
              <a:stretch/>
            </p:blipFill>
            <p:spPr>
              <a:xfrm>
                <a:off x="7867800" y="4448880"/>
                <a:ext cx="1231200" cy="1332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89" name="Rectangle 14"/>
              <p:cNvSpPr/>
              <p:nvPr/>
            </p:nvSpPr>
            <p:spPr>
              <a:xfrm>
                <a:off x="8205480" y="4783320"/>
                <a:ext cx="297720" cy="256680"/>
              </a:xfrm>
              <a:prstGeom prst="rect">
                <a:avLst/>
              </a:prstGeom>
              <a:solidFill>
                <a:srgbClr val="00B0F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s-E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90" name="Group 15"/>
              <p:cNvGrpSpPr/>
              <p:nvPr/>
            </p:nvGrpSpPr>
            <p:grpSpPr>
              <a:xfrm>
                <a:off x="7949160" y="4506840"/>
                <a:ext cx="552960" cy="535680"/>
                <a:chOff x="7949160" y="4506840"/>
                <a:chExt cx="552960" cy="535680"/>
              </a:xfrm>
            </p:grpSpPr>
            <p:sp>
              <p:nvSpPr>
                <p:cNvPr id="91" name="Rectangle 18"/>
                <p:cNvSpPr/>
                <p:nvPr/>
              </p:nvSpPr>
              <p:spPr>
                <a:xfrm>
                  <a:off x="7949160" y="4506840"/>
                  <a:ext cx="552960" cy="277560"/>
                </a:xfrm>
                <a:prstGeom prst="rect">
                  <a:avLst/>
                </a:prstGeom>
                <a:solidFill>
                  <a:srgbClr val="92D050">
                    <a:alpha val="5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</a:pPr>
                  <a:endParaRPr lang="es-E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92" name="Rectangle 19"/>
                <p:cNvSpPr/>
                <p:nvPr/>
              </p:nvSpPr>
              <p:spPr>
                <a:xfrm>
                  <a:off x="7949160" y="4785840"/>
                  <a:ext cx="256320" cy="256680"/>
                </a:xfrm>
                <a:prstGeom prst="rect">
                  <a:avLst/>
                </a:prstGeom>
                <a:solidFill>
                  <a:srgbClr val="92D050">
                    <a:alpha val="5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</a:pPr>
                  <a:endParaRPr lang="es-E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  <p:sp>
            <p:nvSpPr>
              <p:cNvPr id="93" name="Rectangle 16"/>
              <p:cNvSpPr/>
              <p:nvPr/>
            </p:nvSpPr>
            <p:spPr>
              <a:xfrm>
                <a:off x="7949160" y="5039640"/>
                <a:ext cx="552960" cy="463680"/>
              </a:xfrm>
              <a:prstGeom prst="rect">
                <a:avLst/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s-E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94" name="Rectangle 17"/>
              <p:cNvSpPr/>
              <p:nvPr/>
            </p:nvSpPr>
            <p:spPr>
              <a:xfrm>
                <a:off x="8502840" y="4514040"/>
                <a:ext cx="552960" cy="989280"/>
              </a:xfrm>
              <a:prstGeom prst="rect">
                <a:avLst/>
              </a:prstGeom>
              <a:solidFill>
                <a:schemeClr val="dk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s-E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pic>
        <p:nvPicPr>
          <p:cNvPr id="95" name="Imagen 93"/>
          <p:cNvPicPr/>
          <p:nvPr/>
        </p:nvPicPr>
        <p:blipFill>
          <a:blip r:embed="rId4"/>
          <a:stretch/>
        </p:blipFill>
        <p:spPr>
          <a:xfrm>
            <a:off x="417240" y="2109240"/>
            <a:ext cx="1019880" cy="101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Box 9"/>
          <p:cNvSpPr/>
          <p:nvPr/>
        </p:nvSpPr>
        <p:spPr>
          <a:xfrm>
            <a:off x="1507320" y="2052360"/>
            <a:ext cx="6884280" cy="119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1" u="none" strike="noStrike">
                <a:solidFill>
                  <a:srgbClr val="3465A4"/>
                </a:solidFill>
                <a:effectLst/>
                <a:uFillTx/>
                <a:latin typeface="Calibri Light"/>
              </a:rPr>
              <a:t>LISFLOOD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es un modelo hidrológico </a:t>
            </a:r>
            <a:r>
              <a:rPr lang="es-ES" sz="1800" b="0" u="none" strike="noStrike">
                <a:solidFill>
                  <a:srgbClr val="3465A4"/>
                </a:solidFill>
                <a:effectLst/>
                <a:uFillTx/>
                <a:latin typeface="Calibri Light"/>
              </a:rPr>
              <a:t>espacialmente distribuido y basado en procesos físicos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desarrollado por el JRC desde 1997.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 usa en sistemas de alerta operacionales como </a:t>
            </a:r>
            <a:r>
              <a:rPr lang="es-ES" sz="1800" b="1" u="none" strike="noStrike">
                <a:solidFill>
                  <a:srgbClr val="3465A4"/>
                </a:solidFill>
                <a:effectLst/>
                <a:uFillTx/>
                <a:latin typeface="Calibri Light"/>
              </a:rPr>
              <a:t>EFAS</a:t>
            </a: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/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GloFAS o EDO/GDO de Copernicus Emergency Management Services (CEMS).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CuadroTexto 42"/>
          <p:cNvSpPr/>
          <p:nvPr/>
        </p:nvSpPr>
        <p:spPr>
          <a:xfrm>
            <a:off x="1507320" y="3248280"/>
            <a:ext cx="6881760" cy="119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Ventajas: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Basados en procesos físicos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Reproduce múltiples variables de estado y flujos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Espacialmente distribuidos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CuadroTexto 12"/>
          <p:cNvSpPr/>
          <p:nvPr/>
        </p:nvSpPr>
        <p:spPr>
          <a:xfrm>
            <a:off x="1803600" y="78840"/>
            <a:ext cx="858384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Simulación del caudal en España utilizando redes LSTM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Jesús Casado Rodríguez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9" name="Grupo 4"/>
          <p:cNvGrpSpPr/>
          <p:nvPr/>
        </p:nvGrpSpPr>
        <p:grpSpPr>
          <a:xfrm>
            <a:off x="10545840" y="93240"/>
            <a:ext cx="1565280" cy="620640"/>
            <a:chOff x="10545840" y="93240"/>
            <a:chExt cx="1565280" cy="620640"/>
          </a:xfrm>
        </p:grpSpPr>
        <p:pic>
          <p:nvPicPr>
            <p:cNvPr id="100" name="Imagen 2"/>
            <p:cNvPicPr/>
            <p:nvPr/>
          </p:nvPicPr>
          <p:blipFill>
            <a:blip r:embed="rId5"/>
            <a:stretch/>
          </p:blipFill>
          <p:spPr>
            <a:xfrm>
              <a:off x="10545840" y="93240"/>
              <a:ext cx="930960" cy="620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1" name="Imagen 3"/>
            <p:cNvPicPr/>
            <p:nvPr/>
          </p:nvPicPr>
          <p:blipFill>
            <a:blip r:embed="rId6"/>
            <a:stretch/>
          </p:blipFill>
          <p:spPr>
            <a:xfrm>
              <a:off x="11478240" y="93600"/>
              <a:ext cx="632880" cy="6177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02" name="Picture 12"/>
          <p:cNvPicPr/>
          <p:nvPr/>
        </p:nvPicPr>
        <p:blipFill>
          <a:blip r:embed="rId7"/>
          <a:stretch/>
        </p:blipFill>
        <p:spPr>
          <a:xfrm>
            <a:off x="0" y="42840"/>
            <a:ext cx="956520" cy="70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CuadroTexto 9"/>
          <p:cNvSpPr/>
          <p:nvPr/>
        </p:nvSpPr>
        <p:spPr>
          <a:xfrm>
            <a:off x="481320" y="6406200"/>
            <a:ext cx="3463920" cy="33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6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ec-jrc.github.io/lisflood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n 103"/>
          <p:cNvPicPr/>
          <p:nvPr/>
        </p:nvPicPr>
        <p:blipFill>
          <a:blip r:embed="rId8"/>
          <a:stretch/>
        </p:blipFill>
        <p:spPr>
          <a:xfrm>
            <a:off x="121320" y="6384240"/>
            <a:ext cx="359640" cy="359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ángulo 11"/>
          <p:cNvSpPr/>
          <p:nvPr/>
        </p:nvSpPr>
        <p:spPr>
          <a:xfrm>
            <a:off x="0" y="784800"/>
            <a:ext cx="12191040" cy="700920"/>
          </a:xfrm>
          <a:prstGeom prst="rect">
            <a:avLst/>
          </a:prstGeom>
          <a:solidFill>
            <a:srgbClr val="DDE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06" name="Forma libre: forma 9"/>
          <p:cNvSpPr/>
          <p:nvPr/>
        </p:nvSpPr>
        <p:spPr>
          <a:xfrm>
            <a:off x="0" y="5924520"/>
            <a:ext cx="12191040" cy="932400"/>
          </a:xfrm>
          <a:custGeom>
            <a:avLst/>
            <a:gdLst>
              <a:gd name="textAreaLeft" fmla="*/ 0 w 12191040"/>
              <a:gd name="textAreaRight" fmla="*/ 12192120 w 12191040"/>
              <a:gd name="textAreaTop" fmla="*/ 0 h 932400"/>
              <a:gd name="textAreaBottom" fmla="*/ 933480 h 932400"/>
              <a:gd name="GluePoint1X" fmla="*/ 0 w 12192000"/>
              <a:gd name="GluePoint1Y" fmla="*/ 0 h 933544"/>
              <a:gd name="GluePoint2X" fmla="*/ 23182 w 12192000"/>
              <a:gd name="GluePoint2Y" fmla="*/ 5088 h 933544"/>
              <a:gd name="GluePoint3X" fmla="*/ 6096000 w 12192000"/>
              <a:gd name="GluePoint3Y" fmla="*/ 577694 h 933544"/>
              <a:gd name="GluePoint4X" fmla="*/ 12168818 w 12192000"/>
              <a:gd name="GluePoint4Y" fmla="*/ 5088 h 933544"/>
              <a:gd name="GluePoint5X" fmla="*/ 12192000 w 12192000"/>
              <a:gd name="GluePoint5Y" fmla="*/ 0 h 933544"/>
              <a:gd name="GluePoint6X" fmla="*/ 12192000 w 12192000"/>
              <a:gd name="GluePoint6Y" fmla="*/ 933544 h 933544"/>
              <a:gd name="GluePoint7X" fmla="*/ 0 w 12192000"/>
              <a:gd name="GluePoint7Y" fmla="*/ 933544 h 933544"/>
              <a:gd name="GluePoint8X" fmla="*/ 0 w 12192000"/>
              <a:gd name="GluePoint8Y" fmla="*/ 0 h 9335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2192000" h="933544">
                <a:moveTo>
                  <a:pt x="0" y="0"/>
                </a:moveTo>
                <a:lnTo>
                  <a:pt x="23182" y="5088"/>
                </a:lnTo>
                <a:cubicBezTo>
                  <a:pt x="1756703" y="366602"/>
                  <a:pt x="3846491" y="577694"/>
                  <a:pt x="6096000" y="577694"/>
                </a:cubicBezTo>
                <a:cubicBezTo>
                  <a:pt x="8345509" y="577694"/>
                  <a:pt x="10435297" y="366602"/>
                  <a:pt x="12168818" y="5088"/>
                </a:cubicBezTo>
                <a:lnTo>
                  <a:pt x="12192000" y="0"/>
                </a:lnTo>
                <a:lnTo>
                  <a:pt x="12192000" y="933544"/>
                </a:lnTo>
                <a:lnTo>
                  <a:pt x="0" y="933544"/>
                </a:lnTo>
                <a:lnTo>
                  <a:pt x="0" y="0"/>
                </a:lnTo>
                <a:close/>
              </a:path>
            </a:pathLst>
          </a:custGeom>
          <a:solidFill>
            <a:srgbClr val="627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sldNum" idx="38"/>
          </p:nvPr>
        </p:nvSpPr>
        <p:spPr>
          <a:xfrm>
            <a:off x="9331200" y="63133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E1D550C-ABD3-4B5E-BA49-2E2A9FDE7F12}" type="slidenum">
              <a: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fld>
            <a:endParaRPr lang="es-E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CuadroTexto 34"/>
          <p:cNvSpPr/>
          <p:nvPr/>
        </p:nvSpPr>
        <p:spPr>
          <a:xfrm>
            <a:off x="1508040" y="2053440"/>
            <a:ext cx="8174160" cy="119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1" u="none" strike="noStrike">
                <a:solidFill>
                  <a:srgbClr val="2A6099"/>
                </a:solidFill>
                <a:effectLst/>
                <a:uFillTx/>
                <a:latin typeface="Calibri light"/>
              </a:rPr>
              <a:t>NeuralHydrology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es un modelo de simulación de caudal agregado basado puramente en datos y desarrollado por Frederik Kratzert (2018) y después utilizado en </a:t>
            </a:r>
            <a:r>
              <a:rPr lang="es-ES" sz="1800" b="1" u="none" strike="noStrike">
                <a:solidFill>
                  <a:srgbClr val="2A6099"/>
                </a:solidFill>
                <a:effectLst/>
                <a:uFillTx/>
                <a:latin typeface="Calibri light"/>
              </a:rPr>
              <a:t>Google Flood Hub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Utiliza un tipo de redes neuronal recurrente llamado </a:t>
            </a:r>
            <a:r>
              <a:rPr lang="es-ES" sz="1800" b="1" u="none" strike="noStrike">
                <a:solidFill>
                  <a:srgbClr val="2A6099"/>
                </a:solidFill>
                <a:effectLst/>
                <a:uFillTx/>
                <a:latin typeface="Calibri light"/>
              </a:rPr>
              <a:t>LSTM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(Long-Short Term Memory).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n 108"/>
          <p:cNvPicPr/>
          <p:nvPr/>
        </p:nvPicPr>
        <p:blipFill>
          <a:blip r:embed="rId2"/>
          <a:srcRect r="636"/>
          <a:stretch/>
        </p:blipFill>
        <p:spPr>
          <a:xfrm>
            <a:off x="193320" y="2014920"/>
            <a:ext cx="1190520" cy="119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CuadroTexto 43"/>
          <p:cNvSpPr/>
          <p:nvPr/>
        </p:nvSpPr>
        <p:spPr>
          <a:xfrm>
            <a:off x="1511640" y="3243240"/>
            <a:ext cx="3825360" cy="122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Ventajas: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Mayor rendimiento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Menor tiempo de computación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Aprendizaje conjunto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CuadroTexto 44"/>
          <p:cNvSpPr/>
          <p:nvPr/>
        </p:nvSpPr>
        <p:spPr>
          <a:xfrm>
            <a:off x="1507320" y="4490280"/>
            <a:ext cx="3936600" cy="92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Desventajas: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Cajas negras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Sólo reproducen caudal o calado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Imagen 111"/>
          <p:cNvPicPr/>
          <p:nvPr/>
        </p:nvPicPr>
        <p:blipFill>
          <a:blip r:embed="rId3"/>
          <a:srcRect l="7708" t="9823" r="1436" b="6720"/>
          <a:stretch/>
        </p:blipFill>
        <p:spPr>
          <a:xfrm>
            <a:off x="6251760" y="3251520"/>
            <a:ext cx="3430440" cy="246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CuadroTexto 12"/>
          <p:cNvSpPr/>
          <p:nvPr/>
        </p:nvSpPr>
        <p:spPr>
          <a:xfrm>
            <a:off x="1803600" y="87120"/>
            <a:ext cx="858384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Simulación del caudal en España utilizando redes LSTM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Jesús Casado Rodríguez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4" name="Grupo 14"/>
          <p:cNvGrpSpPr/>
          <p:nvPr/>
        </p:nvGrpSpPr>
        <p:grpSpPr>
          <a:xfrm>
            <a:off x="10545840" y="101880"/>
            <a:ext cx="1565280" cy="620640"/>
            <a:chOff x="10545840" y="101880"/>
            <a:chExt cx="1565280" cy="620640"/>
          </a:xfrm>
        </p:grpSpPr>
        <p:pic>
          <p:nvPicPr>
            <p:cNvPr id="115" name="Imagen 12"/>
            <p:cNvPicPr/>
            <p:nvPr/>
          </p:nvPicPr>
          <p:blipFill>
            <a:blip r:embed="rId4"/>
            <a:stretch/>
          </p:blipFill>
          <p:spPr>
            <a:xfrm>
              <a:off x="10545840" y="101880"/>
              <a:ext cx="930960" cy="620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6" name="Imagen 13"/>
            <p:cNvPicPr/>
            <p:nvPr/>
          </p:nvPicPr>
          <p:blipFill>
            <a:blip r:embed="rId5"/>
            <a:stretch/>
          </p:blipFill>
          <p:spPr>
            <a:xfrm>
              <a:off x="11478240" y="102240"/>
              <a:ext cx="632880" cy="6177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17" name="Picture 12"/>
          <p:cNvPicPr/>
          <p:nvPr/>
        </p:nvPicPr>
        <p:blipFill>
          <a:blip r:embed="rId6"/>
          <a:stretch/>
        </p:blipFill>
        <p:spPr>
          <a:xfrm>
            <a:off x="0" y="51480"/>
            <a:ext cx="956520" cy="70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CuadroTexto 26"/>
          <p:cNvSpPr/>
          <p:nvPr/>
        </p:nvSpPr>
        <p:spPr>
          <a:xfrm>
            <a:off x="181080" y="874440"/>
            <a:ext cx="1020636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8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Introducción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CuadroTexto 28"/>
          <p:cNvSpPr/>
          <p:nvPr/>
        </p:nvSpPr>
        <p:spPr>
          <a:xfrm>
            <a:off x="231840" y="1486440"/>
            <a:ext cx="10027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4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Modelos hidrológicos: </a:t>
            </a:r>
            <a:r>
              <a:rPr lang="es-ES" sz="2400" b="1" u="none" strike="noStrike">
                <a:solidFill>
                  <a:srgbClr val="729FCF"/>
                </a:solidFill>
                <a:effectLst/>
                <a:uFillTx/>
                <a:latin typeface="Calibri"/>
                <a:ea typeface="Calibri"/>
              </a:rPr>
              <a:t>físicos</a:t>
            </a:r>
            <a:r>
              <a:rPr lang="es-ES" sz="24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s-ES" sz="2400" b="1" u="none" strike="noStrike">
                <a:solidFill>
                  <a:srgbClr val="729FCF"/>
                </a:solidFill>
                <a:effectLst/>
                <a:uFillTx/>
                <a:latin typeface="Calibri"/>
                <a:ea typeface="Calibri"/>
              </a:rPr>
              <a:t>vs </a:t>
            </a:r>
            <a:r>
              <a:rPr lang="es-ES" sz="24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basados en datos</a:t>
            </a:r>
            <a:r>
              <a:rPr lang="es-ES" sz="2400" b="1" u="none" strike="noStrike">
                <a:solidFill>
                  <a:srgbClr val="729FCF"/>
                </a:solidFill>
                <a:effectLst/>
                <a:uFillTx/>
                <a:latin typeface="Calibri"/>
                <a:ea typeface="Calibri"/>
              </a:rPr>
              <a:t> vs híbridos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CuadroTexto 28"/>
          <p:cNvSpPr/>
          <p:nvPr/>
        </p:nvSpPr>
        <p:spPr>
          <a:xfrm>
            <a:off x="481320" y="6406200"/>
            <a:ext cx="3463920" cy="33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6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neuralhydrology.github.io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n 120"/>
          <p:cNvPicPr/>
          <p:nvPr/>
        </p:nvPicPr>
        <p:blipFill>
          <a:blip r:embed="rId7"/>
          <a:stretch/>
        </p:blipFill>
        <p:spPr>
          <a:xfrm>
            <a:off x="121320" y="6384240"/>
            <a:ext cx="359640" cy="359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ángulo 12"/>
          <p:cNvSpPr/>
          <p:nvPr/>
        </p:nvSpPr>
        <p:spPr>
          <a:xfrm>
            <a:off x="0" y="784800"/>
            <a:ext cx="12191040" cy="700920"/>
          </a:xfrm>
          <a:prstGeom prst="rect">
            <a:avLst/>
          </a:prstGeom>
          <a:solidFill>
            <a:srgbClr val="DDE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23" name="Forma libre: forma 10"/>
          <p:cNvSpPr/>
          <p:nvPr/>
        </p:nvSpPr>
        <p:spPr>
          <a:xfrm>
            <a:off x="0" y="5924520"/>
            <a:ext cx="12191040" cy="932400"/>
          </a:xfrm>
          <a:custGeom>
            <a:avLst/>
            <a:gdLst>
              <a:gd name="textAreaLeft" fmla="*/ 0 w 12191040"/>
              <a:gd name="textAreaRight" fmla="*/ 12192120 w 12191040"/>
              <a:gd name="textAreaTop" fmla="*/ 0 h 932400"/>
              <a:gd name="textAreaBottom" fmla="*/ 933480 h 932400"/>
              <a:gd name="GluePoint1X" fmla="*/ 0 w 12192000"/>
              <a:gd name="GluePoint1Y" fmla="*/ 0 h 933544"/>
              <a:gd name="GluePoint2X" fmla="*/ 23182 w 12192000"/>
              <a:gd name="GluePoint2Y" fmla="*/ 5088 h 933544"/>
              <a:gd name="GluePoint3X" fmla="*/ 6096000 w 12192000"/>
              <a:gd name="GluePoint3Y" fmla="*/ 577694 h 933544"/>
              <a:gd name="GluePoint4X" fmla="*/ 12168818 w 12192000"/>
              <a:gd name="GluePoint4Y" fmla="*/ 5088 h 933544"/>
              <a:gd name="GluePoint5X" fmla="*/ 12192000 w 12192000"/>
              <a:gd name="GluePoint5Y" fmla="*/ 0 h 933544"/>
              <a:gd name="GluePoint6X" fmla="*/ 12192000 w 12192000"/>
              <a:gd name="GluePoint6Y" fmla="*/ 933544 h 933544"/>
              <a:gd name="GluePoint7X" fmla="*/ 0 w 12192000"/>
              <a:gd name="GluePoint7Y" fmla="*/ 933544 h 933544"/>
              <a:gd name="GluePoint8X" fmla="*/ 0 w 12192000"/>
              <a:gd name="GluePoint8Y" fmla="*/ 0 h 9335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2192000" h="933544">
                <a:moveTo>
                  <a:pt x="0" y="0"/>
                </a:moveTo>
                <a:lnTo>
                  <a:pt x="23182" y="5088"/>
                </a:lnTo>
                <a:cubicBezTo>
                  <a:pt x="1756703" y="366602"/>
                  <a:pt x="3846491" y="577694"/>
                  <a:pt x="6096000" y="577694"/>
                </a:cubicBezTo>
                <a:cubicBezTo>
                  <a:pt x="8345509" y="577694"/>
                  <a:pt x="10435297" y="366602"/>
                  <a:pt x="12168818" y="5088"/>
                </a:cubicBezTo>
                <a:lnTo>
                  <a:pt x="12192000" y="0"/>
                </a:lnTo>
                <a:lnTo>
                  <a:pt x="12192000" y="933544"/>
                </a:lnTo>
                <a:lnTo>
                  <a:pt x="0" y="933544"/>
                </a:lnTo>
                <a:lnTo>
                  <a:pt x="0" y="0"/>
                </a:lnTo>
                <a:close/>
              </a:path>
            </a:pathLst>
          </a:custGeom>
          <a:solidFill>
            <a:srgbClr val="627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sldNum" idx="39"/>
          </p:nvPr>
        </p:nvSpPr>
        <p:spPr>
          <a:xfrm>
            <a:off x="9331200" y="63133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A100626-7768-465F-94C9-7F3E66C8A100}" type="slidenum">
              <a: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fld>
            <a:endParaRPr lang="es-E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CuadroTexto 40"/>
          <p:cNvSpPr/>
          <p:nvPr/>
        </p:nvSpPr>
        <p:spPr>
          <a:xfrm>
            <a:off x="314280" y="2008800"/>
            <a:ext cx="9270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Tsai et al. (2021) propusieron un enfoque híbrido llamado </a:t>
            </a:r>
            <a:r>
              <a:rPr lang="es-ES" sz="1800" b="1" u="none" strike="noStrike">
                <a:solidFill>
                  <a:srgbClr val="2A6099"/>
                </a:solidFill>
                <a:effectLst/>
                <a:uFillTx/>
                <a:latin typeface="Calibri light"/>
              </a:rPr>
              <a:t>Parameter Learning </a:t>
            </a: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en el que las redes neuronales se utilizan sólo en la calibración del modelo físico.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CuadroTexto 46"/>
          <p:cNvSpPr/>
          <p:nvPr/>
        </p:nvSpPr>
        <p:spPr>
          <a:xfrm>
            <a:off x="315360" y="2644920"/>
            <a:ext cx="10520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Objetivo: mantener las ventajas de los dos tipos de modelo anteriores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Desventaja: El modelo hidrológico debe ser diferenciable → </a:t>
            </a:r>
            <a:r>
              <a:rPr lang="es-ES" sz="1800" b="1" u="none" strike="noStrike">
                <a:solidFill>
                  <a:srgbClr val="2A6099"/>
                </a:solidFill>
                <a:effectLst/>
                <a:uFillTx/>
                <a:latin typeface="Calibri light"/>
              </a:rPr>
              <a:t>modelo subrogado (LSTM)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CuadroTexto 12"/>
          <p:cNvSpPr/>
          <p:nvPr/>
        </p:nvSpPr>
        <p:spPr>
          <a:xfrm>
            <a:off x="1803600" y="78840"/>
            <a:ext cx="858384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Simulación del caudal en España utilizando redes LSTM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Jesús Casado Rodríguez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1" name="Grupo 6"/>
          <p:cNvGrpSpPr/>
          <p:nvPr/>
        </p:nvGrpSpPr>
        <p:grpSpPr>
          <a:xfrm>
            <a:off x="10545840" y="93240"/>
            <a:ext cx="1565280" cy="620640"/>
            <a:chOff x="10545840" y="93240"/>
            <a:chExt cx="1565280" cy="620640"/>
          </a:xfrm>
        </p:grpSpPr>
        <p:pic>
          <p:nvPicPr>
            <p:cNvPr id="182" name="Imagen 4"/>
            <p:cNvPicPr/>
            <p:nvPr/>
          </p:nvPicPr>
          <p:blipFill>
            <a:blip r:embed="rId2"/>
            <a:stretch/>
          </p:blipFill>
          <p:spPr>
            <a:xfrm>
              <a:off x="10545840" y="93240"/>
              <a:ext cx="930960" cy="620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3" name="Imagen 5"/>
            <p:cNvPicPr/>
            <p:nvPr/>
          </p:nvPicPr>
          <p:blipFill>
            <a:blip r:embed="rId3"/>
            <a:stretch/>
          </p:blipFill>
          <p:spPr>
            <a:xfrm>
              <a:off x="11478240" y="93600"/>
              <a:ext cx="632880" cy="6177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84" name="Picture 12"/>
          <p:cNvPicPr/>
          <p:nvPr/>
        </p:nvPicPr>
        <p:blipFill>
          <a:blip r:embed="rId4"/>
          <a:stretch/>
        </p:blipFill>
        <p:spPr>
          <a:xfrm>
            <a:off x="0" y="42840"/>
            <a:ext cx="956520" cy="70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CuadroTexto 26"/>
          <p:cNvSpPr/>
          <p:nvPr/>
        </p:nvSpPr>
        <p:spPr>
          <a:xfrm>
            <a:off x="181080" y="874440"/>
            <a:ext cx="1020636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8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Introducción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CuadroTexto 28"/>
          <p:cNvSpPr/>
          <p:nvPr/>
        </p:nvSpPr>
        <p:spPr>
          <a:xfrm>
            <a:off x="231840" y="1486440"/>
            <a:ext cx="10027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4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Modelos hidrológicos: </a:t>
            </a:r>
            <a:r>
              <a:rPr lang="es-ES" sz="2400" b="1" u="none" strike="noStrike">
                <a:solidFill>
                  <a:srgbClr val="729FCF"/>
                </a:solidFill>
                <a:effectLst/>
                <a:uFillTx/>
                <a:latin typeface="Calibri"/>
                <a:ea typeface="Calibri"/>
              </a:rPr>
              <a:t>físicos</a:t>
            </a:r>
            <a:r>
              <a:rPr lang="es-ES" sz="24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s-ES" sz="2400" b="1" u="none" strike="noStrike">
                <a:solidFill>
                  <a:srgbClr val="729FCF"/>
                </a:solidFill>
                <a:effectLst/>
                <a:uFillTx/>
                <a:latin typeface="Calibri"/>
                <a:ea typeface="Calibri"/>
              </a:rPr>
              <a:t>vs basados en datos vs </a:t>
            </a:r>
            <a:r>
              <a:rPr lang="es-ES" sz="24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híbridos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CuadroTexto 17"/>
          <p:cNvSpPr/>
          <p:nvPr/>
        </p:nvSpPr>
        <p:spPr>
          <a:xfrm>
            <a:off x="481320" y="6406200"/>
            <a:ext cx="3463920" cy="33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6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mhpi.github.io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8" name="Imagen 187"/>
          <p:cNvPicPr/>
          <p:nvPr/>
        </p:nvPicPr>
        <p:blipFill>
          <a:blip r:embed="rId5"/>
          <a:stretch/>
        </p:blipFill>
        <p:spPr>
          <a:xfrm>
            <a:off x="121320" y="6384240"/>
            <a:ext cx="359640" cy="35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4F403344-40D8-7A9B-B02E-729D656E0D7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7" t="67" b="314"/>
          <a:stretch>
            <a:fillRect/>
          </a:stretch>
        </p:blipFill>
        <p:spPr>
          <a:xfrm>
            <a:off x="1676342" y="3286995"/>
            <a:ext cx="8398654" cy="29025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ángulo 13"/>
          <p:cNvSpPr/>
          <p:nvPr/>
        </p:nvSpPr>
        <p:spPr>
          <a:xfrm>
            <a:off x="0" y="784800"/>
            <a:ext cx="12191040" cy="700920"/>
          </a:xfrm>
          <a:prstGeom prst="rect">
            <a:avLst/>
          </a:prstGeom>
          <a:solidFill>
            <a:srgbClr val="DDE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90" name="Forma libre: forma 11"/>
          <p:cNvSpPr/>
          <p:nvPr/>
        </p:nvSpPr>
        <p:spPr>
          <a:xfrm>
            <a:off x="0" y="5924520"/>
            <a:ext cx="12191040" cy="932400"/>
          </a:xfrm>
          <a:custGeom>
            <a:avLst/>
            <a:gdLst>
              <a:gd name="textAreaLeft" fmla="*/ 0 w 12191040"/>
              <a:gd name="textAreaRight" fmla="*/ 12192120 w 12191040"/>
              <a:gd name="textAreaTop" fmla="*/ 0 h 932400"/>
              <a:gd name="textAreaBottom" fmla="*/ 933480 h 932400"/>
              <a:gd name="GluePoint1X" fmla="*/ 0 w 12192000"/>
              <a:gd name="GluePoint1Y" fmla="*/ 0 h 933544"/>
              <a:gd name="GluePoint2X" fmla="*/ 23182 w 12192000"/>
              <a:gd name="GluePoint2Y" fmla="*/ 5088 h 933544"/>
              <a:gd name="GluePoint3X" fmla="*/ 6096000 w 12192000"/>
              <a:gd name="GluePoint3Y" fmla="*/ 577694 h 933544"/>
              <a:gd name="GluePoint4X" fmla="*/ 12168818 w 12192000"/>
              <a:gd name="GluePoint4Y" fmla="*/ 5088 h 933544"/>
              <a:gd name="GluePoint5X" fmla="*/ 12192000 w 12192000"/>
              <a:gd name="GluePoint5Y" fmla="*/ 0 h 933544"/>
              <a:gd name="GluePoint6X" fmla="*/ 12192000 w 12192000"/>
              <a:gd name="GluePoint6Y" fmla="*/ 933544 h 933544"/>
              <a:gd name="GluePoint7X" fmla="*/ 0 w 12192000"/>
              <a:gd name="GluePoint7Y" fmla="*/ 933544 h 933544"/>
              <a:gd name="GluePoint8X" fmla="*/ 0 w 12192000"/>
              <a:gd name="GluePoint8Y" fmla="*/ 0 h 9335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2192000" h="933544">
                <a:moveTo>
                  <a:pt x="0" y="0"/>
                </a:moveTo>
                <a:lnTo>
                  <a:pt x="23182" y="5088"/>
                </a:lnTo>
                <a:cubicBezTo>
                  <a:pt x="1756703" y="366602"/>
                  <a:pt x="3846491" y="577694"/>
                  <a:pt x="6096000" y="577694"/>
                </a:cubicBezTo>
                <a:cubicBezTo>
                  <a:pt x="8345509" y="577694"/>
                  <a:pt x="10435297" y="366602"/>
                  <a:pt x="12168818" y="5088"/>
                </a:cubicBezTo>
                <a:lnTo>
                  <a:pt x="12192000" y="0"/>
                </a:lnTo>
                <a:lnTo>
                  <a:pt x="12192000" y="933544"/>
                </a:lnTo>
                <a:lnTo>
                  <a:pt x="0" y="933544"/>
                </a:lnTo>
                <a:lnTo>
                  <a:pt x="0" y="0"/>
                </a:lnTo>
                <a:close/>
              </a:path>
            </a:pathLst>
          </a:custGeom>
          <a:solidFill>
            <a:srgbClr val="627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sldNum" idx="40"/>
          </p:nvPr>
        </p:nvSpPr>
        <p:spPr>
          <a:xfrm>
            <a:off x="9331200" y="63133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655A19-6B46-46A1-AA8D-29487AA79503}" type="slidenum">
              <a: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fld>
            <a:endParaRPr lang="es-E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CuadroTexto 51"/>
          <p:cNvSpPr/>
          <p:nvPr/>
        </p:nvSpPr>
        <p:spPr>
          <a:xfrm>
            <a:off x="229680" y="2448000"/>
            <a:ext cx="7207200" cy="212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Crear un </a:t>
            </a:r>
            <a:r>
              <a:rPr lang="es-ES" sz="1800" b="1" u="none" strike="noStrike">
                <a:solidFill>
                  <a:schemeClr val="accent1"/>
                </a:solidFill>
                <a:effectLst/>
                <a:uFillTx/>
                <a:latin typeface="Calibri light"/>
              </a:rPr>
              <a:t>conjun</a:t>
            </a:r>
            <a:r>
              <a:rPr lang="es-ES" sz="1800" b="1" u="none" strike="noStrike">
                <a:solidFill>
                  <a:srgbClr val="2A6099"/>
                </a:solidFill>
                <a:effectLst/>
                <a:uFillTx/>
                <a:latin typeface="Calibri light"/>
              </a:rPr>
              <a:t>to de datos hidrológicos para España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: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Características de las cuencas.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Series meteorológicas.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Series de caudal observado y simulado.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Entrenar una </a:t>
            </a:r>
            <a:r>
              <a:rPr lang="es-ES" sz="1800" b="1" u="none" strike="noStrike">
                <a:solidFill>
                  <a:srgbClr val="2A6099"/>
                </a:solidFill>
                <a:effectLst/>
                <a:uFillTx/>
                <a:latin typeface="Calibri light"/>
                <a:ea typeface="Calibri light"/>
              </a:rPr>
              <a:t>red neuronal LSTM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 con ese conjunto de datos.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Desarrollar una red neuronal LSTM como </a:t>
            </a:r>
            <a:r>
              <a:rPr lang="es-ES" sz="1800" b="1" u="none" strike="noStrike">
                <a:solidFill>
                  <a:schemeClr val="accent1"/>
                </a:solidFill>
                <a:effectLst/>
                <a:uFillTx/>
                <a:latin typeface="Calibri light"/>
                <a:ea typeface="Calibri light"/>
              </a:rPr>
              <a:t>emulador de LISFLOOD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CuadroTexto 12"/>
          <p:cNvSpPr/>
          <p:nvPr/>
        </p:nvSpPr>
        <p:spPr>
          <a:xfrm>
            <a:off x="1803600" y="78840"/>
            <a:ext cx="858384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Simulación del caudal en España utilizando redes LSTM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Jesús Casado Rodríguez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4" name="Grupo 6"/>
          <p:cNvGrpSpPr/>
          <p:nvPr/>
        </p:nvGrpSpPr>
        <p:grpSpPr>
          <a:xfrm>
            <a:off x="10545840" y="93240"/>
            <a:ext cx="1565280" cy="620640"/>
            <a:chOff x="10545840" y="93240"/>
            <a:chExt cx="1565280" cy="620640"/>
          </a:xfrm>
        </p:grpSpPr>
        <p:pic>
          <p:nvPicPr>
            <p:cNvPr id="195" name="Imagen 4"/>
            <p:cNvPicPr/>
            <p:nvPr/>
          </p:nvPicPr>
          <p:blipFill>
            <a:blip r:embed="rId2"/>
            <a:stretch/>
          </p:blipFill>
          <p:spPr>
            <a:xfrm>
              <a:off x="10545840" y="93240"/>
              <a:ext cx="930960" cy="620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6" name="Imagen 5"/>
            <p:cNvPicPr/>
            <p:nvPr/>
          </p:nvPicPr>
          <p:blipFill>
            <a:blip r:embed="rId3"/>
            <a:stretch/>
          </p:blipFill>
          <p:spPr>
            <a:xfrm>
              <a:off x="11478240" y="93600"/>
              <a:ext cx="632880" cy="6177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97" name="Picture 12"/>
          <p:cNvPicPr/>
          <p:nvPr/>
        </p:nvPicPr>
        <p:blipFill>
          <a:blip r:embed="rId4"/>
          <a:stretch/>
        </p:blipFill>
        <p:spPr>
          <a:xfrm>
            <a:off x="0" y="42840"/>
            <a:ext cx="956520" cy="70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CuadroTexto 26"/>
          <p:cNvSpPr/>
          <p:nvPr/>
        </p:nvSpPr>
        <p:spPr>
          <a:xfrm>
            <a:off x="181080" y="874440"/>
            <a:ext cx="1020636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8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Introducción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CuadroTexto 28"/>
          <p:cNvSpPr/>
          <p:nvPr/>
        </p:nvSpPr>
        <p:spPr>
          <a:xfrm>
            <a:off x="231840" y="1486440"/>
            <a:ext cx="10027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4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Objetivos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ángulo 4"/>
          <p:cNvSpPr/>
          <p:nvPr/>
        </p:nvSpPr>
        <p:spPr>
          <a:xfrm>
            <a:off x="0" y="784800"/>
            <a:ext cx="12191040" cy="700920"/>
          </a:xfrm>
          <a:prstGeom prst="rect">
            <a:avLst/>
          </a:prstGeom>
          <a:solidFill>
            <a:srgbClr val="DDE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01" name="CuadroTexto 10"/>
          <p:cNvSpPr/>
          <p:nvPr/>
        </p:nvSpPr>
        <p:spPr>
          <a:xfrm>
            <a:off x="181080" y="874440"/>
            <a:ext cx="1020636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8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Datos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Forma libre: forma 4"/>
          <p:cNvSpPr/>
          <p:nvPr/>
        </p:nvSpPr>
        <p:spPr>
          <a:xfrm>
            <a:off x="8280" y="5924520"/>
            <a:ext cx="12191040" cy="932400"/>
          </a:xfrm>
          <a:custGeom>
            <a:avLst/>
            <a:gdLst>
              <a:gd name="textAreaLeft" fmla="*/ 0 w 12191040"/>
              <a:gd name="textAreaRight" fmla="*/ 12192120 w 12191040"/>
              <a:gd name="textAreaTop" fmla="*/ 0 h 932400"/>
              <a:gd name="textAreaBottom" fmla="*/ 933480 h 932400"/>
              <a:gd name="GluePoint1X" fmla="*/ 0 w 12192000"/>
              <a:gd name="GluePoint1Y" fmla="*/ 0 h 933544"/>
              <a:gd name="GluePoint2X" fmla="*/ 23182 w 12192000"/>
              <a:gd name="GluePoint2Y" fmla="*/ 5088 h 933544"/>
              <a:gd name="GluePoint3X" fmla="*/ 6096000 w 12192000"/>
              <a:gd name="GluePoint3Y" fmla="*/ 577694 h 933544"/>
              <a:gd name="GluePoint4X" fmla="*/ 12168818 w 12192000"/>
              <a:gd name="GluePoint4Y" fmla="*/ 5088 h 933544"/>
              <a:gd name="GluePoint5X" fmla="*/ 12192000 w 12192000"/>
              <a:gd name="GluePoint5Y" fmla="*/ 0 h 933544"/>
              <a:gd name="GluePoint6X" fmla="*/ 12192000 w 12192000"/>
              <a:gd name="GluePoint6Y" fmla="*/ 933544 h 933544"/>
              <a:gd name="GluePoint7X" fmla="*/ 0 w 12192000"/>
              <a:gd name="GluePoint7Y" fmla="*/ 933544 h 933544"/>
              <a:gd name="GluePoint8X" fmla="*/ 0 w 12192000"/>
              <a:gd name="GluePoint8Y" fmla="*/ 0 h 9335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2192000" h="933544">
                <a:moveTo>
                  <a:pt x="0" y="0"/>
                </a:moveTo>
                <a:lnTo>
                  <a:pt x="23182" y="5088"/>
                </a:lnTo>
                <a:cubicBezTo>
                  <a:pt x="1756703" y="366602"/>
                  <a:pt x="3846491" y="577694"/>
                  <a:pt x="6096000" y="577694"/>
                </a:cubicBezTo>
                <a:cubicBezTo>
                  <a:pt x="8345509" y="577694"/>
                  <a:pt x="10435297" y="366602"/>
                  <a:pt x="12168818" y="5088"/>
                </a:cubicBezTo>
                <a:lnTo>
                  <a:pt x="12192000" y="0"/>
                </a:lnTo>
                <a:lnTo>
                  <a:pt x="12192000" y="933544"/>
                </a:lnTo>
                <a:lnTo>
                  <a:pt x="0" y="933544"/>
                </a:lnTo>
                <a:lnTo>
                  <a:pt x="0" y="0"/>
                </a:lnTo>
                <a:close/>
              </a:path>
            </a:pathLst>
          </a:custGeom>
          <a:solidFill>
            <a:srgbClr val="627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03" name="PlaceHolder 1"/>
          <p:cNvSpPr>
            <a:spLocks noGrp="1"/>
          </p:cNvSpPr>
          <p:nvPr>
            <p:ph type="sldNum" idx="41"/>
          </p:nvPr>
        </p:nvSpPr>
        <p:spPr>
          <a:xfrm>
            <a:off x="9331200" y="63133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4834679-60FC-484B-934E-5F46129C1311}" type="slidenum">
              <a: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</a:t>
            </a:fld>
            <a:endParaRPr lang="es-E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CuadroTexto 52"/>
          <p:cNvSpPr/>
          <p:nvPr/>
        </p:nvSpPr>
        <p:spPr>
          <a:xfrm>
            <a:off x="231840" y="1486440"/>
            <a:ext cx="11559240" cy="79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4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CAMELS-ES: 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2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Catchment Attributes and Meteorology for Large-sample Studies - España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Imagen 192"/>
          <p:cNvPicPr/>
          <p:nvPr/>
        </p:nvPicPr>
        <p:blipFill>
          <a:blip r:embed="rId2"/>
          <a:stretch/>
        </p:blipFill>
        <p:spPr>
          <a:xfrm>
            <a:off x="4086360" y="2656440"/>
            <a:ext cx="8097120" cy="325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CuadroTexto 53"/>
          <p:cNvSpPr/>
          <p:nvPr/>
        </p:nvSpPr>
        <p:spPr>
          <a:xfrm>
            <a:off x="232560" y="2613600"/>
            <a:ext cx="448452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Fuentes: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Caudal: Anuario de Aforos &amp; EFAS5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Meteorología: ERA5 &amp; EMO1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Atributos: HydroATLAS &amp; EFAS5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CuadroTexto 54"/>
          <p:cNvSpPr/>
          <p:nvPr/>
        </p:nvSpPr>
        <p:spPr>
          <a:xfrm>
            <a:off x="235800" y="3834720"/>
            <a:ext cx="4493160" cy="19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Características: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Resolución diaria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1991 - 2020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Cuencas seleccionadas (269):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17480" lvl="2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≥ 100 km²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17480" lvl="2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≥ </a:t>
            </a: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ptos"/>
              </a:rPr>
              <a:t>8 años de datos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17480" lvl="2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ptos"/>
              </a:rPr>
              <a:t>No alteradas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" name="Imagen 195"/>
          <p:cNvPicPr/>
          <p:nvPr/>
        </p:nvPicPr>
        <p:blipFill>
          <a:blip r:embed="rId3"/>
          <a:stretch/>
        </p:blipFill>
        <p:spPr>
          <a:xfrm>
            <a:off x="10018080" y="1483560"/>
            <a:ext cx="2175120" cy="109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CuadroTexto 12"/>
          <p:cNvSpPr/>
          <p:nvPr/>
        </p:nvSpPr>
        <p:spPr>
          <a:xfrm>
            <a:off x="1803600" y="78840"/>
            <a:ext cx="858384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Simulación del caudal en España utilizando redes LSTM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Jesús Casado Rodríguez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0" name="Grupo 6"/>
          <p:cNvGrpSpPr/>
          <p:nvPr/>
        </p:nvGrpSpPr>
        <p:grpSpPr>
          <a:xfrm>
            <a:off x="10545840" y="93240"/>
            <a:ext cx="1565280" cy="620640"/>
            <a:chOff x="10545840" y="93240"/>
            <a:chExt cx="1565280" cy="620640"/>
          </a:xfrm>
        </p:grpSpPr>
        <p:pic>
          <p:nvPicPr>
            <p:cNvPr id="211" name="Imagen 4"/>
            <p:cNvPicPr/>
            <p:nvPr/>
          </p:nvPicPr>
          <p:blipFill>
            <a:blip r:embed="rId4"/>
            <a:stretch/>
          </p:blipFill>
          <p:spPr>
            <a:xfrm>
              <a:off x="10545840" y="93240"/>
              <a:ext cx="930960" cy="620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2" name="Imagen 5"/>
            <p:cNvPicPr/>
            <p:nvPr/>
          </p:nvPicPr>
          <p:blipFill>
            <a:blip r:embed="rId5"/>
            <a:stretch/>
          </p:blipFill>
          <p:spPr>
            <a:xfrm>
              <a:off x="11478240" y="93600"/>
              <a:ext cx="632880" cy="6177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213" name="Picture 12"/>
          <p:cNvPicPr/>
          <p:nvPr/>
        </p:nvPicPr>
        <p:blipFill>
          <a:blip r:embed="rId6"/>
          <a:stretch/>
        </p:blipFill>
        <p:spPr>
          <a:xfrm>
            <a:off x="0" y="42840"/>
            <a:ext cx="956520" cy="70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Gráfico 11" descr="10.5281/zenodo.15040948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323280" y="2280600"/>
            <a:ext cx="181872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CuadroTexto 15"/>
          <p:cNvSpPr/>
          <p:nvPr/>
        </p:nvSpPr>
        <p:spPr>
          <a:xfrm>
            <a:off x="481320" y="6406200"/>
            <a:ext cx="3838320" cy="33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6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github.com/kratzert/Caravan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6" name="Imagen 215"/>
          <p:cNvPicPr/>
          <p:nvPr/>
        </p:nvPicPr>
        <p:blipFill>
          <a:blip r:embed="rId9"/>
          <a:stretch/>
        </p:blipFill>
        <p:spPr>
          <a:xfrm>
            <a:off x="121320" y="6384240"/>
            <a:ext cx="359640" cy="359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ángulo 6"/>
          <p:cNvSpPr/>
          <p:nvPr/>
        </p:nvSpPr>
        <p:spPr>
          <a:xfrm>
            <a:off x="0" y="784800"/>
            <a:ext cx="12191040" cy="700920"/>
          </a:xfrm>
          <a:prstGeom prst="rect">
            <a:avLst/>
          </a:prstGeom>
          <a:solidFill>
            <a:srgbClr val="DDE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18" name="CuadroTexto 15"/>
          <p:cNvSpPr/>
          <p:nvPr/>
        </p:nvSpPr>
        <p:spPr>
          <a:xfrm>
            <a:off x="181080" y="874440"/>
            <a:ext cx="1020636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8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Métodos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Forma libre: forma 5"/>
          <p:cNvSpPr/>
          <p:nvPr/>
        </p:nvSpPr>
        <p:spPr>
          <a:xfrm>
            <a:off x="0" y="5924520"/>
            <a:ext cx="12191040" cy="932400"/>
          </a:xfrm>
          <a:custGeom>
            <a:avLst/>
            <a:gdLst>
              <a:gd name="textAreaLeft" fmla="*/ 0 w 12191040"/>
              <a:gd name="textAreaRight" fmla="*/ 12192120 w 12191040"/>
              <a:gd name="textAreaTop" fmla="*/ 0 h 932400"/>
              <a:gd name="textAreaBottom" fmla="*/ 933480 h 932400"/>
              <a:gd name="GluePoint1X" fmla="*/ 0 w 12192000"/>
              <a:gd name="GluePoint1Y" fmla="*/ 0 h 933544"/>
              <a:gd name="GluePoint2X" fmla="*/ 23182 w 12192000"/>
              <a:gd name="GluePoint2Y" fmla="*/ 5088 h 933544"/>
              <a:gd name="GluePoint3X" fmla="*/ 6096000 w 12192000"/>
              <a:gd name="GluePoint3Y" fmla="*/ 577694 h 933544"/>
              <a:gd name="GluePoint4X" fmla="*/ 12168818 w 12192000"/>
              <a:gd name="GluePoint4Y" fmla="*/ 5088 h 933544"/>
              <a:gd name="GluePoint5X" fmla="*/ 12192000 w 12192000"/>
              <a:gd name="GluePoint5Y" fmla="*/ 0 h 933544"/>
              <a:gd name="GluePoint6X" fmla="*/ 12192000 w 12192000"/>
              <a:gd name="GluePoint6Y" fmla="*/ 933544 h 933544"/>
              <a:gd name="GluePoint7X" fmla="*/ 0 w 12192000"/>
              <a:gd name="GluePoint7Y" fmla="*/ 933544 h 933544"/>
              <a:gd name="GluePoint8X" fmla="*/ 0 w 12192000"/>
              <a:gd name="GluePoint8Y" fmla="*/ 0 h 9335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2192000" h="933544">
                <a:moveTo>
                  <a:pt x="0" y="0"/>
                </a:moveTo>
                <a:lnTo>
                  <a:pt x="23182" y="5088"/>
                </a:lnTo>
                <a:cubicBezTo>
                  <a:pt x="1756703" y="366602"/>
                  <a:pt x="3846491" y="577694"/>
                  <a:pt x="6096000" y="577694"/>
                </a:cubicBezTo>
                <a:cubicBezTo>
                  <a:pt x="8345509" y="577694"/>
                  <a:pt x="10435297" y="366602"/>
                  <a:pt x="12168818" y="5088"/>
                </a:cubicBezTo>
                <a:lnTo>
                  <a:pt x="12192000" y="0"/>
                </a:lnTo>
                <a:lnTo>
                  <a:pt x="12192000" y="933544"/>
                </a:lnTo>
                <a:lnTo>
                  <a:pt x="0" y="933544"/>
                </a:lnTo>
                <a:lnTo>
                  <a:pt x="0" y="0"/>
                </a:lnTo>
                <a:close/>
              </a:path>
            </a:pathLst>
          </a:custGeom>
          <a:solidFill>
            <a:srgbClr val="627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20" name="PlaceHolder 1"/>
          <p:cNvSpPr>
            <a:spLocks noGrp="1"/>
          </p:cNvSpPr>
          <p:nvPr>
            <p:ph type="sldNum" idx="42"/>
          </p:nvPr>
        </p:nvSpPr>
        <p:spPr>
          <a:xfrm>
            <a:off x="9331200" y="63133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3F736F9-BE57-45DB-A96C-AB7DA3CEF0FE}" type="slidenum">
              <a: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7</a:t>
            </a:fld>
            <a:endParaRPr lang="es-E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1" name="Imagen 203"/>
          <p:cNvPicPr/>
          <p:nvPr/>
        </p:nvPicPr>
        <p:blipFill>
          <a:blip r:embed="rId2"/>
          <a:stretch/>
        </p:blipFill>
        <p:spPr>
          <a:xfrm>
            <a:off x="968760" y="2267280"/>
            <a:ext cx="9786240" cy="370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CuadroTexto 55"/>
          <p:cNvSpPr/>
          <p:nvPr/>
        </p:nvSpPr>
        <p:spPr>
          <a:xfrm>
            <a:off x="240480" y="1627560"/>
            <a:ext cx="10520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El modelo utilizado es </a:t>
            </a:r>
            <a:r>
              <a:rPr lang="es-ES" sz="1800" b="1" u="none" strike="noStrike">
                <a:solidFill>
                  <a:schemeClr val="accent1"/>
                </a:solidFill>
                <a:effectLst/>
                <a:uFillTx/>
                <a:latin typeface="Calibri light"/>
              </a:rPr>
              <a:t>cudalstm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de la librería </a:t>
            </a:r>
            <a:r>
              <a:rPr lang="es-ES" sz="1800" b="1" u="none" strike="noStrike">
                <a:solidFill>
                  <a:schemeClr val="accent1"/>
                </a:solidFill>
                <a:effectLst/>
                <a:uFillTx/>
                <a:latin typeface="Calibri light"/>
              </a:rPr>
              <a:t>NeuralHydrology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CuadroTexto 12"/>
          <p:cNvSpPr/>
          <p:nvPr/>
        </p:nvSpPr>
        <p:spPr>
          <a:xfrm>
            <a:off x="1803600" y="78840"/>
            <a:ext cx="858384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Simulación del caudal en España utilizando redes LSTM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Jesús Casado Rodríguez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4" name="Grupo 6"/>
          <p:cNvGrpSpPr/>
          <p:nvPr/>
        </p:nvGrpSpPr>
        <p:grpSpPr>
          <a:xfrm>
            <a:off x="10545840" y="93240"/>
            <a:ext cx="1565280" cy="620640"/>
            <a:chOff x="10545840" y="93240"/>
            <a:chExt cx="1565280" cy="620640"/>
          </a:xfrm>
        </p:grpSpPr>
        <p:pic>
          <p:nvPicPr>
            <p:cNvPr id="225" name="Imagen 4"/>
            <p:cNvPicPr/>
            <p:nvPr/>
          </p:nvPicPr>
          <p:blipFill>
            <a:blip r:embed="rId3"/>
            <a:stretch/>
          </p:blipFill>
          <p:spPr>
            <a:xfrm>
              <a:off x="10545840" y="93240"/>
              <a:ext cx="930960" cy="620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6" name="Imagen 5"/>
            <p:cNvPicPr/>
            <p:nvPr/>
          </p:nvPicPr>
          <p:blipFill>
            <a:blip r:embed="rId4"/>
            <a:stretch/>
          </p:blipFill>
          <p:spPr>
            <a:xfrm>
              <a:off x="11478240" y="93600"/>
              <a:ext cx="632880" cy="6177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227" name="Picture 12"/>
          <p:cNvPicPr/>
          <p:nvPr/>
        </p:nvPicPr>
        <p:blipFill>
          <a:blip r:embed="rId5"/>
          <a:stretch/>
        </p:blipFill>
        <p:spPr>
          <a:xfrm>
            <a:off x="0" y="42840"/>
            <a:ext cx="956520" cy="70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CuadroTexto 12"/>
          <p:cNvSpPr/>
          <p:nvPr/>
        </p:nvSpPr>
        <p:spPr>
          <a:xfrm>
            <a:off x="481320" y="6406200"/>
            <a:ext cx="3463920" cy="33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6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neuralhydrology.github.io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9" name="Imagen 228"/>
          <p:cNvPicPr/>
          <p:nvPr/>
        </p:nvPicPr>
        <p:blipFill>
          <a:blip r:embed="rId6"/>
          <a:stretch/>
        </p:blipFill>
        <p:spPr>
          <a:xfrm>
            <a:off x="121320" y="6384240"/>
            <a:ext cx="359640" cy="359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ángulo 8"/>
          <p:cNvSpPr/>
          <p:nvPr/>
        </p:nvSpPr>
        <p:spPr>
          <a:xfrm>
            <a:off x="0" y="784800"/>
            <a:ext cx="12191040" cy="700920"/>
          </a:xfrm>
          <a:prstGeom prst="rect">
            <a:avLst/>
          </a:prstGeom>
          <a:solidFill>
            <a:srgbClr val="DDE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31" name="CuadroTexto 18"/>
          <p:cNvSpPr/>
          <p:nvPr/>
        </p:nvSpPr>
        <p:spPr>
          <a:xfrm>
            <a:off x="181080" y="874440"/>
            <a:ext cx="1020636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8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Métodos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Forma libre: forma 6"/>
          <p:cNvSpPr/>
          <p:nvPr/>
        </p:nvSpPr>
        <p:spPr>
          <a:xfrm>
            <a:off x="0" y="5924520"/>
            <a:ext cx="12191040" cy="932400"/>
          </a:xfrm>
          <a:custGeom>
            <a:avLst/>
            <a:gdLst>
              <a:gd name="textAreaLeft" fmla="*/ 0 w 12191040"/>
              <a:gd name="textAreaRight" fmla="*/ 12192120 w 12191040"/>
              <a:gd name="textAreaTop" fmla="*/ 0 h 932400"/>
              <a:gd name="textAreaBottom" fmla="*/ 933480 h 932400"/>
              <a:gd name="GluePoint1X" fmla="*/ 0 w 12192000"/>
              <a:gd name="GluePoint1Y" fmla="*/ 0 h 933544"/>
              <a:gd name="GluePoint2X" fmla="*/ 23182 w 12192000"/>
              <a:gd name="GluePoint2Y" fmla="*/ 5088 h 933544"/>
              <a:gd name="GluePoint3X" fmla="*/ 6096000 w 12192000"/>
              <a:gd name="GluePoint3Y" fmla="*/ 577694 h 933544"/>
              <a:gd name="GluePoint4X" fmla="*/ 12168818 w 12192000"/>
              <a:gd name="GluePoint4Y" fmla="*/ 5088 h 933544"/>
              <a:gd name="GluePoint5X" fmla="*/ 12192000 w 12192000"/>
              <a:gd name="GluePoint5Y" fmla="*/ 0 h 933544"/>
              <a:gd name="GluePoint6X" fmla="*/ 12192000 w 12192000"/>
              <a:gd name="GluePoint6Y" fmla="*/ 933544 h 933544"/>
              <a:gd name="GluePoint7X" fmla="*/ 0 w 12192000"/>
              <a:gd name="GluePoint7Y" fmla="*/ 933544 h 933544"/>
              <a:gd name="GluePoint8X" fmla="*/ 0 w 12192000"/>
              <a:gd name="GluePoint8Y" fmla="*/ 0 h 9335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2192000" h="933544">
                <a:moveTo>
                  <a:pt x="0" y="0"/>
                </a:moveTo>
                <a:lnTo>
                  <a:pt x="23182" y="5088"/>
                </a:lnTo>
                <a:cubicBezTo>
                  <a:pt x="1756703" y="366602"/>
                  <a:pt x="3846491" y="577694"/>
                  <a:pt x="6096000" y="577694"/>
                </a:cubicBezTo>
                <a:cubicBezTo>
                  <a:pt x="8345509" y="577694"/>
                  <a:pt x="10435297" y="366602"/>
                  <a:pt x="12168818" y="5088"/>
                </a:cubicBezTo>
                <a:lnTo>
                  <a:pt x="12192000" y="0"/>
                </a:lnTo>
                <a:lnTo>
                  <a:pt x="12192000" y="933544"/>
                </a:lnTo>
                <a:lnTo>
                  <a:pt x="0" y="933544"/>
                </a:lnTo>
                <a:lnTo>
                  <a:pt x="0" y="0"/>
                </a:lnTo>
                <a:close/>
              </a:path>
            </a:pathLst>
          </a:custGeom>
          <a:solidFill>
            <a:srgbClr val="627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33" name="PlaceHolder 1"/>
          <p:cNvSpPr>
            <a:spLocks noGrp="1"/>
          </p:cNvSpPr>
          <p:nvPr>
            <p:ph type="sldNum" idx="43"/>
          </p:nvPr>
        </p:nvSpPr>
        <p:spPr>
          <a:xfrm>
            <a:off x="9331200" y="63133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457AAF1-AF92-4498-BE34-B09D22EC9944}" type="slidenum">
              <a: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8</a:t>
            </a:fld>
            <a:endParaRPr lang="es-E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CuadroTexto 56"/>
          <p:cNvSpPr/>
          <p:nvPr/>
        </p:nvSpPr>
        <p:spPr>
          <a:xfrm>
            <a:off x="7945560" y="2602800"/>
            <a:ext cx="4244760" cy="20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Características del LSTM: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Dropout: 0.4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Batch size: 256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Límite de gradientes normalizados: 1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Tamaño de la capa densa: 128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Algoritmo de optimización: Adam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Función de coste: NSE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CuadroTexto 12"/>
          <p:cNvSpPr/>
          <p:nvPr/>
        </p:nvSpPr>
        <p:spPr>
          <a:xfrm>
            <a:off x="1803600" y="78840"/>
            <a:ext cx="858384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Simulación del caudal en España utilizando redes LSTM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Jesús Casado Rodríguez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6" name="Grupo 6"/>
          <p:cNvGrpSpPr/>
          <p:nvPr/>
        </p:nvGrpSpPr>
        <p:grpSpPr>
          <a:xfrm>
            <a:off x="10545840" y="93240"/>
            <a:ext cx="1565280" cy="620640"/>
            <a:chOff x="10545840" y="93240"/>
            <a:chExt cx="1565280" cy="620640"/>
          </a:xfrm>
        </p:grpSpPr>
        <p:pic>
          <p:nvPicPr>
            <p:cNvPr id="237" name="Imagen 4"/>
            <p:cNvPicPr/>
            <p:nvPr/>
          </p:nvPicPr>
          <p:blipFill>
            <a:blip r:embed="rId2"/>
            <a:stretch/>
          </p:blipFill>
          <p:spPr>
            <a:xfrm>
              <a:off x="10545840" y="93240"/>
              <a:ext cx="930960" cy="620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8" name="Imagen 5"/>
            <p:cNvPicPr/>
            <p:nvPr/>
          </p:nvPicPr>
          <p:blipFill>
            <a:blip r:embed="rId3"/>
            <a:stretch/>
          </p:blipFill>
          <p:spPr>
            <a:xfrm>
              <a:off x="11478240" y="93600"/>
              <a:ext cx="632880" cy="6177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239" name="Picture 12"/>
          <p:cNvPicPr/>
          <p:nvPr/>
        </p:nvPicPr>
        <p:blipFill>
          <a:blip r:embed="rId4"/>
          <a:stretch/>
        </p:blipFill>
        <p:spPr>
          <a:xfrm>
            <a:off x="0" y="42840"/>
            <a:ext cx="956520" cy="7009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40" name="Tabla 9"/>
          <p:cNvGraphicFramePr/>
          <p:nvPr/>
        </p:nvGraphicFramePr>
        <p:xfrm>
          <a:off x="329760" y="2592360"/>
          <a:ext cx="7307280" cy="2021760"/>
        </p:xfrm>
        <a:graphic>
          <a:graphicData uri="http://schemas.openxmlformats.org/drawingml/2006/table">
            <a:tbl>
              <a:tblPr/>
              <a:tblGrid>
                <a:gridCol w="1058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8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2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00">
                <a:tc gridSpan="2">
                  <a:txBody>
                    <a:bodyPr/>
                    <a:lstStyle/>
                    <a:p>
                      <a:endParaRPr lang="es-ES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Calibri light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E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 light"/>
                        </a:rPr>
                        <a:t>Modelo 1: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E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 light"/>
                        </a:rPr>
                        <a:t>caudal observado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E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 light"/>
                        </a:rPr>
                        <a:t>Modelo 2: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ES" sz="18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 light"/>
                        </a:rPr>
                        <a:t>emulador de LISFLOOD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 rowSpan="2"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 light"/>
                        </a:rPr>
                        <a:t>Variables de entrada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 light"/>
                        </a:rPr>
                        <a:t>Atributos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</a:rPr>
                        <a:t>HydroAtlas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</a:rPr>
                        <a:t>Indices climáticos: ERA5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</a:rPr>
                        <a:t>Mapas estáticos EFAS5 Parámetros EFAS5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 vMerge="1">
                  <a:txBody>
                    <a:bodyPr/>
                    <a:lstStyle/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 light"/>
                        </a:rPr>
                        <a:t>Meteorología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</a:rPr>
                        <a:t>ERA5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</a:rPr>
                        <a:t>EMO1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00">
                <a:tc gridSpan="2"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 light"/>
                        </a:rPr>
                        <a:t>Variable objetivo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</a:rPr>
                        <a:t>Caudal observado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</a:rPr>
                        <a:t>Caudal simulado EFAS5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ángulo 3"/>
          <p:cNvSpPr/>
          <p:nvPr/>
        </p:nvSpPr>
        <p:spPr>
          <a:xfrm>
            <a:off x="0" y="784800"/>
            <a:ext cx="12191040" cy="700920"/>
          </a:xfrm>
          <a:prstGeom prst="rect">
            <a:avLst/>
          </a:prstGeom>
          <a:solidFill>
            <a:srgbClr val="DDE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42" name="CuadroTexto 7"/>
          <p:cNvSpPr/>
          <p:nvPr/>
        </p:nvSpPr>
        <p:spPr>
          <a:xfrm>
            <a:off x="181080" y="874440"/>
            <a:ext cx="1020636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8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Resultados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Forma libre: forma 2"/>
          <p:cNvSpPr/>
          <p:nvPr/>
        </p:nvSpPr>
        <p:spPr>
          <a:xfrm>
            <a:off x="0" y="5924520"/>
            <a:ext cx="12191040" cy="932400"/>
          </a:xfrm>
          <a:custGeom>
            <a:avLst/>
            <a:gdLst>
              <a:gd name="textAreaLeft" fmla="*/ 0 w 12191040"/>
              <a:gd name="textAreaRight" fmla="*/ 12192120 w 12191040"/>
              <a:gd name="textAreaTop" fmla="*/ 0 h 932400"/>
              <a:gd name="textAreaBottom" fmla="*/ 933480 h 932400"/>
              <a:gd name="GluePoint1X" fmla="*/ 0 w 12192000"/>
              <a:gd name="GluePoint1Y" fmla="*/ 0 h 933544"/>
              <a:gd name="GluePoint2X" fmla="*/ 23182 w 12192000"/>
              <a:gd name="GluePoint2Y" fmla="*/ 5088 h 933544"/>
              <a:gd name="GluePoint3X" fmla="*/ 6096000 w 12192000"/>
              <a:gd name="GluePoint3Y" fmla="*/ 577694 h 933544"/>
              <a:gd name="GluePoint4X" fmla="*/ 12168818 w 12192000"/>
              <a:gd name="GluePoint4Y" fmla="*/ 5088 h 933544"/>
              <a:gd name="GluePoint5X" fmla="*/ 12192000 w 12192000"/>
              <a:gd name="GluePoint5Y" fmla="*/ 0 h 933544"/>
              <a:gd name="GluePoint6X" fmla="*/ 12192000 w 12192000"/>
              <a:gd name="GluePoint6Y" fmla="*/ 933544 h 933544"/>
              <a:gd name="GluePoint7X" fmla="*/ 0 w 12192000"/>
              <a:gd name="GluePoint7Y" fmla="*/ 933544 h 933544"/>
              <a:gd name="GluePoint8X" fmla="*/ 0 w 12192000"/>
              <a:gd name="GluePoint8Y" fmla="*/ 0 h 9335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2192000" h="933544">
                <a:moveTo>
                  <a:pt x="0" y="0"/>
                </a:moveTo>
                <a:lnTo>
                  <a:pt x="23182" y="5088"/>
                </a:lnTo>
                <a:cubicBezTo>
                  <a:pt x="1756703" y="366602"/>
                  <a:pt x="3846491" y="577694"/>
                  <a:pt x="6096000" y="577694"/>
                </a:cubicBezTo>
                <a:cubicBezTo>
                  <a:pt x="8345509" y="577694"/>
                  <a:pt x="10435297" y="366602"/>
                  <a:pt x="12168818" y="5088"/>
                </a:cubicBezTo>
                <a:lnTo>
                  <a:pt x="12192000" y="0"/>
                </a:lnTo>
                <a:lnTo>
                  <a:pt x="12192000" y="933544"/>
                </a:lnTo>
                <a:lnTo>
                  <a:pt x="0" y="933544"/>
                </a:lnTo>
                <a:lnTo>
                  <a:pt x="0" y="0"/>
                </a:lnTo>
                <a:close/>
              </a:path>
            </a:pathLst>
          </a:custGeom>
          <a:solidFill>
            <a:srgbClr val="627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44" name="PlaceHolder 1"/>
          <p:cNvSpPr>
            <a:spLocks noGrp="1"/>
          </p:cNvSpPr>
          <p:nvPr>
            <p:ph type="sldNum" idx="44"/>
          </p:nvPr>
        </p:nvSpPr>
        <p:spPr>
          <a:xfrm>
            <a:off x="9331200" y="63133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8396E8D-0E00-4CBF-B4FC-4D5ACF917D43}" type="slidenum">
              <a: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9</a:t>
            </a:fld>
            <a:endParaRPr lang="es-E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5" name="Imagen 222"/>
          <p:cNvPicPr/>
          <p:nvPr/>
        </p:nvPicPr>
        <p:blipFill>
          <a:blip r:embed="rId2"/>
          <a:stretch/>
        </p:blipFill>
        <p:spPr>
          <a:xfrm>
            <a:off x="4344840" y="2128320"/>
            <a:ext cx="7844400" cy="349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CuadroTexto 60"/>
          <p:cNvSpPr/>
          <p:nvPr/>
        </p:nvSpPr>
        <p:spPr>
          <a:xfrm>
            <a:off x="291960" y="2125800"/>
            <a:ext cx="4045320" cy="138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Mediana KGE: 0.383 (pobre)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 light"/>
                <a:ea typeface="Calibri light"/>
              </a:rPr>
              <a:t>Razones: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Clima árido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Regímenes fuertemente regulados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CuadroTexto 12"/>
          <p:cNvSpPr/>
          <p:nvPr/>
        </p:nvSpPr>
        <p:spPr>
          <a:xfrm>
            <a:off x="1803600" y="78840"/>
            <a:ext cx="858384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Simulación del caudal en España utilizando redes LSTM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Jesús Casado Rodríguez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8" name="Grupo 6"/>
          <p:cNvGrpSpPr/>
          <p:nvPr/>
        </p:nvGrpSpPr>
        <p:grpSpPr>
          <a:xfrm>
            <a:off x="10545840" y="93240"/>
            <a:ext cx="1565280" cy="620640"/>
            <a:chOff x="10545840" y="93240"/>
            <a:chExt cx="1565280" cy="620640"/>
          </a:xfrm>
        </p:grpSpPr>
        <p:pic>
          <p:nvPicPr>
            <p:cNvPr id="249" name="Imagen 4"/>
            <p:cNvPicPr/>
            <p:nvPr/>
          </p:nvPicPr>
          <p:blipFill>
            <a:blip r:embed="rId3"/>
            <a:stretch/>
          </p:blipFill>
          <p:spPr>
            <a:xfrm>
              <a:off x="10545840" y="93240"/>
              <a:ext cx="930960" cy="620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0" name="Imagen 5"/>
            <p:cNvPicPr/>
            <p:nvPr/>
          </p:nvPicPr>
          <p:blipFill>
            <a:blip r:embed="rId4"/>
            <a:stretch/>
          </p:blipFill>
          <p:spPr>
            <a:xfrm>
              <a:off x="11478240" y="93600"/>
              <a:ext cx="632880" cy="6177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251" name="Picture 12"/>
          <p:cNvPicPr/>
          <p:nvPr/>
        </p:nvPicPr>
        <p:blipFill>
          <a:blip r:embed="rId5"/>
          <a:stretch/>
        </p:blipFill>
        <p:spPr>
          <a:xfrm>
            <a:off x="0" y="42840"/>
            <a:ext cx="956520" cy="70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CuadroTexto 28"/>
          <p:cNvSpPr/>
          <p:nvPr/>
        </p:nvSpPr>
        <p:spPr>
          <a:xfrm>
            <a:off x="231840" y="1486440"/>
            <a:ext cx="10027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4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Referencia: EFAS5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Imagen 1" descr="Imagen que contiene Gráfico&#10;&#10;El contenido generado por IA puede ser incorrecto."/>
          <p:cNvPicPr/>
          <p:nvPr/>
        </p:nvPicPr>
        <p:blipFill>
          <a:blip r:embed="rId2"/>
          <a:srcRect l="-638" t="-50" r="-308" b="259"/>
          <a:stretch/>
        </p:blipFill>
        <p:spPr>
          <a:xfrm>
            <a:off x="4340520" y="2125080"/>
            <a:ext cx="7854840" cy="347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Rectángulo 3"/>
          <p:cNvSpPr/>
          <p:nvPr/>
        </p:nvSpPr>
        <p:spPr>
          <a:xfrm>
            <a:off x="0" y="784800"/>
            <a:ext cx="12191040" cy="700920"/>
          </a:xfrm>
          <a:prstGeom prst="rect">
            <a:avLst/>
          </a:prstGeom>
          <a:solidFill>
            <a:srgbClr val="DDE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55" name="CuadroTexto 7"/>
          <p:cNvSpPr/>
          <p:nvPr/>
        </p:nvSpPr>
        <p:spPr>
          <a:xfrm>
            <a:off x="181080" y="874440"/>
            <a:ext cx="1020636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8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Resultados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Forma libre: forma 2"/>
          <p:cNvSpPr/>
          <p:nvPr/>
        </p:nvSpPr>
        <p:spPr>
          <a:xfrm>
            <a:off x="0" y="5924520"/>
            <a:ext cx="12191040" cy="932400"/>
          </a:xfrm>
          <a:custGeom>
            <a:avLst/>
            <a:gdLst>
              <a:gd name="textAreaLeft" fmla="*/ 0 w 12191040"/>
              <a:gd name="textAreaRight" fmla="*/ 12192120 w 12191040"/>
              <a:gd name="textAreaTop" fmla="*/ 0 h 932400"/>
              <a:gd name="textAreaBottom" fmla="*/ 933480 h 932400"/>
              <a:gd name="GluePoint1X" fmla="*/ 0 w 12192000"/>
              <a:gd name="GluePoint1Y" fmla="*/ 0 h 933544"/>
              <a:gd name="GluePoint2X" fmla="*/ 23182 w 12192000"/>
              <a:gd name="GluePoint2Y" fmla="*/ 5088 h 933544"/>
              <a:gd name="GluePoint3X" fmla="*/ 6096000 w 12192000"/>
              <a:gd name="GluePoint3Y" fmla="*/ 577694 h 933544"/>
              <a:gd name="GluePoint4X" fmla="*/ 12168818 w 12192000"/>
              <a:gd name="GluePoint4Y" fmla="*/ 5088 h 933544"/>
              <a:gd name="GluePoint5X" fmla="*/ 12192000 w 12192000"/>
              <a:gd name="GluePoint5Y" fmla="*/ 0 h 933544"/>
              <a:gd name="GluePoint6X" fmla="*/ 12192000 w 12192000"/>
              <a:gd name="GluePoint6Y" fmla="*/ 933544 h 933544"/>
              <a:gd name="GluePoint7X" fmla="*/ 0 w 12192000"/>
              <a:gd name="GluePoint7Y" fmla="*/ 933544 h 933544"/>
              <a:gd name="GluePoint8X" fmla="*/ 0 w 12192000"/>
              <a:gd name="GluePoint8Y" fmla="*/ 0 h 9335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2192000" h="933544">
                <a:moveTo>
                  <a:pt x="0" y="0"/>
                </a:moveTo>
                <a:lnTo>
                  <a:pt x="23182" y="5088"/>
                </a:lnTo>
                <a:cubicBezTo>
                  <a:pt x="1756703" y="366602"/>
                  <a:pt x="3846491" y="577694"/>
                  <a:pt x="6096000" y="577694"/>
                </a:cubicBezTo>
                <a:cubicBezTo>
                  <a:pt x="8345509" y="577694"/>
                  <a:pt x="10435297" y="366602"/>
                  <a:pt x="12168818" y="5088"/>
                </a:cubicBezTo>
                <a:lnTo>
                  <a:pt x="12192000" y="0"/>
                </a:lnTo>
                <a:lnTo>
                  <a:pt x="12192000" y="933544"/>
                </a:lnTo>
                <a:lnTo>
                  <a:pt x="0" y="933544"/>
                </a:lnTo>
                <a:lnTo>
                  <a:pt x="0" y="0"/>
                </a:lnTo>
                <a:close/>
              </a:path>
            </a:pathLst>
          </a:custGeom>
          <a:solidFill>
            <a:srgbClr val="627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57" name="PlaceHolder 1"/>
          <p:cNvSpPr>
            <a:spLocks noGrp="1"/>
          </p:cNvSpPr>
          <p:nvPr>
            <p:ph type="sldNum" idx="45"/>
          </p:nvPr>
        </p:nvSpPr>
        <p:spPr>
          <a:xfrm>
            <a:off x="9331200" y="63133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FD379F3-292C-4EFB-A1B8-F78C49AD74D0}" type="slidenum">
              <a: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10</a:t>
            </a:fld>
            <a:endParaRPr lang="es-E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CuadroTexto 60"/>
          <p:cNvSpPr/>
          <p:nvPr/>
        </p:nvSpPr>
        <p:spPr>
          <a:xfrm>
            <a:off x="242280" y="2125800"/>
            <a:ext cx="4095000" cy="16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Mediana KGE: 0.693 (bueno)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 light"/>
                <a:ea typeface="Calibri light"/>
              </a:rPr>
              <a:t>Comentarios: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Cierto sobreajuste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Gradiente de rendimiento hacia el Noroeste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CuadroTexto 12"/>
          <p:cNvSpPr/>
          <p:nvPr/>
        </p:nvSpPr>
        <p:spPr>
          <a:xfrm>
            <a:off x="1803600" y="78840"/>
            <a:ext cx="858384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Simulación del caudal en España utilizando redes LSTM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Jesús Casado Rodríguez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0" name="Grupo 6"/>
          <p:cNvGrpSpPr/>
          <p:nvPr/>
        </p:nvGrpSpPr>
        <p:grpSpPr>
          <a:xfrm>
            <a:off x="10545840" y="93240"/>
            <a:ext cx="1565280" cy="620640"/>
            <a:chOff x="10545840" y="93240"/>
            <a:chExt cx="1565280" cy="620640"/>
          </a:xfrm>
        </p:grpSpPr>
        <p:pic>
          <p:nvPicPr>
            <p:cNvPr id="261" name="Imagen 4"/>
            <p:cNvPicPr/>
            <p:nvPr/>
          </p:nvPicPr>
          <p:blipFill>
            <a:blip r:embed="rId3"/>
            <a:stretch/>
          </p:blipFill>
          <p:spPr>
            <a:xfrm>
              <a:off x="10545840" y="93240"/>
              <a:ext cx="930960" cy="620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62" name="Imagen 5"/>
            <p:cNvPicPr/>
            <p:nvPr/>
          </p:nvPicPr>
          <p:blipFill>
            <a:blip r:embed="rId4"/>
            <a:stretch/>
          </p:blipFill>
          <p:spPr>
            <a:xfrm>
              <a:off x="11478240" y="93600"/>
              <a:ext cx="632880" cy="6177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263" name="Picture 12"/>
          <p:cNvPicPr/>
          <p:nvPr/>
        </p:nvPicPr>
        <p:blipFill>
          <a:blip r:embed="rId5"/>
          <a:stretch/>
        </p:blipFill>
        <p:spPr>
          <a:xfrm>
            <a:off x="0" y="42840"/>
            <a:ext cx="956520" cy="70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CuadroTexto 28"/>
          <p:cNvSpPr/>
          <p:nvPr/>
        </p:nvSpPr>
        <p:spPr>
          <a:xfrm>
            <a:off x="231840" y="1486440"/>
            <a:ext cx="10027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4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Modelo 1: LSTM caudal observado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Imagen 7" descr="Imagen que contiene Gráfico&#10;&#10;El contenido generado por IA puede ser incorrecto."/>
          <p:cNvPicPr/>
          <p:nvPr/>
        </p:nvPicPr>
        <p:blipFill>
          <a:blip r:embed="rId2"/>
          <a:stretch/>
        </p:blipFill>
        <p:spPr>
          <a:xfrm>
            <a:off x="4344840" y="2123280"/>
            <a:ext cx="7774200" cy="347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Rectángulo 3"/>
          <p:cNvSpPr/>
          <p:nvPr/>
        </p:nvSpPr>
        <p:spPr>
          <a:xfrm>
            <a:off x="0" y="784800"/>
            <a:ext cx="12191040" cy="700920"/>
          </a:xfrm>
          <a:prstGeom prst="rect">
            <a:avLst/>
          </a:prstGeom>
          <a:solidFill>
            <a:srgbClr val="DDE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67" name="CuadroTexto 7"/>
          <p:cNvSpPr/>
          <p:nvPr/>
        </p:nvSpPr>
        <p:spPr>
          <a:xfrm>
            <a:off x="181080" y="874440"/>
            <a:ext cx="1020636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8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Resultados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Forma libre: forma 2"/>
          <p:cNvSpPr/>
          <p:nvPr/>
        </p:nvSpPr>
        <p:spPr>
          <a:xfrm>
            <a:off x="0" y="5924520"/>
            <a:ext cx="12191040" cy="932400"/>
          </a:xfrm>
          <a:custGeom>
            <a:avLst/>
            <a:gdLst>
              <a:gd name="textAreaLeft" fmla="*/ 0 w 12191040"/>
              <a:gd name="textAreaRight" fmla="*/ 12192120 w 12191040"/>
              <a:gd name="textAreaTop" fmla="*/ 0 h 932400"/>
              <a:gd name="textAreaBottom" fmla="*/ 933480 h 932400"/>
              <a:gd name="GluePoint1X" fmla="*/ 0 w 12192000"/>
              <a:gd name="GluePoint1Y" fmla="*/ 0 h 933544"/>
              <a:gd name="GluePoint2X" fmla="*/ 23182 w 12192000"/>
              <a:gd name="GluePoint2Y" fmla="*/ 5088 h 933544"/>
              <a:gd name="GluePoint3X" fmla="*/ 6096000 w 12192000"/>
              <a:gd name="GluePoint3Y" fmla="*/ 577694 h 933544"/>
              <a:gd name="GluePoint4X" fmla="*/ 12168818 w 12192000"/>
              <a:gd name="GluePoint4Y" fmla="*/ 5088 h 933544"/>
              <a:gd name="GluePoint5X" fmla="*/ 12192000 w 12192000"/>
              <a:gd name="GluePoint5Y" fmla="*/ 0 h 933544"/>
              <a:gd name="GluePoint6X" fmla="*/ 12192000 w 12192000"/>
              <a:gd name="GluePoint6Y" fmla="*/ 933544 h 933544"/>
              <a:gd name="GluePoint7X" fmla="*/ 0 w 12192000"/>
              <a:gd name="GluePoint7Y" fmla="*/ 933544 h 933544"/>
              <a:gd name="GluePoint8X" fmla="*/ 0 w 12192000"/>
              <a:gd name="GluePoint8Y" fmla="*/ 0 h 9335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2192000" h="933544">
                <a:moveTo>
                  <a:pt x="0" y="0"/>
                </a:moveTo>
                <a:lnTo>
                  <a:pt x="23182" y="5088"/>
                </a:lnTo>
                <a:cubicBezTo>
                  <a:pt x="1756703" y="366602"/>
                  <a:pt x="3846491" y="577694"/>
                  <a:pt x="6096000" y="577694"/>
                </a:cubicBezTo>
                <a:cubicBezTo>
                  <a:pt x="8345509" y="577694"/>
                  <a:pt x="10435297" y="366602"/>
                  <a:pt x="12168818" y="5088"/>
                </a:cubicBezTo>
                <a:lnTo>
                  <a:pt x="12192000" y="0"/>
                </a:lnTo>
                <a:lnTo>
                  <a:pt x="12192000" y="933544"/>
                </a:lnTo>
                <a:lnTo>
                  <a:pt x="0" y="933544"/>
                </a:lnTo>
                <a:lnTo>
                  <a:pt x="0" y="0"/>
                </a:lnTo>
                <a:close/>
              </a:path>
            </a:pathLst>
          </a:custGeom>
          <a:solidFill>
            <a:srgbClr val="627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69" name="PlaceHolder 1"/>
          <p:cNvSpPr>
            <a:spLocks noGrp="1"/>
          </p:cNvSpPr>
          <p:nvPr>
            <p:ph type="sldNum" idx="46"/>
          </p:nvPr>
        </p:nvSpPr>
        <p:spPr>
          <a:xfrm>
            <a:off x="9331200" y="63133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92D8AC3-A1DF-4B2B-9C5E-46C3535109F2}" type="slidenum">
              <a: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11</a:t>
            </a:fld>
            <a:endParaRPr lang="es-E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CuadroTexto 60"/>
          <p:cNvSpPr/>
          <p:nvPr/>
        </p:nvSpPr>
        <p:spPr>
          <a:xfrm>
            <a:off x="242280" y="2125800"/>
            <a:ext cx="4095000" cy="295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Mediana KGE: 0.732 (insuficiente)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 light"/>
                <a:ea typeface="Calibri light"/>
              </a:rPr>
              <a:t>Razones: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Falta de información espacial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Falta de representación de ciertos procesos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 light"/>
                <a:ea typeface="Calibri light"/>
              </a:rPr>
              <a:t>Comentarios: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Cierto sobreajuste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Gradiente de rendimiento hacia el Noroeste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CuadroTexto 12"/>
          <p:cNvSpPr/>
          <p:nvPr/>
        </p:nvSpPr>
        <p:spPr>
          <a:xfrm>
            <a:off x="1803600" y="78840"/>
            <a:ext cx="858384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Simulación del caudal en España utilizando redes LSTM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Jesús Casado Rodríguez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2" name="Grupo 6"/>
          <p:cNvGrpSpPr/>
          <p:nvPr/>
        </p:nvGrpSpPr>
        <p:grpSpPr>
          <a:xfrm>
            <a:off x="10545840" y="93240"/>
            <a:ext cx="1565280" cy="620640"/>
            <a:chOff x="10545840" y="93240"/>
            <a:chExt cx="1565280" cy="620640"/>
          </a:xfrm>
        </p:grpSpPr>
        <p:pic>
          <p:nvPicPr>
            <p:cNvPr id="273" name="Imagen 4"/>
            <p:cNvPicPr/>
            <p:nvPr/>
          </p:nvPicPr>
          <p:blipFill>
            <a:blip r:embed="rId3"/>
            <a:stretch/>
          </p:blipFill>
          <p:spPr>
            <a:xfrm>
              <a:off x="10545840" y="93240"/>
              <a:ext cx="930960" cy="620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74" name="Imagen 5"/>
            <p:cNvPicPr/>
            <p:nvPr/>
          </p:nvPicPr>
          <p:blipFill>
            <a:blip r:embed="rId4"/>
            <a:stretch/>
          </p:blipFill>
          <p:spPr>
            <a:xfrm>
              <a:off x="11478240" y="93600"/>
              <a:ext cx="632880" cy="6177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275" name="Picture 12"/>
          <p:cNvPicPr/>
          <p:nvPr/>
        </p:nvPicPr>
        <p:blipFill>
          <a:blip r:embed="rId5"/>
          <a:stretch/>
        </p:blipFill>
        <p:spPr>
          <a:xfrm>
            <a:off x="0" y="42840"/>
            <a:ext cx="956520" cy="70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CuadroTexto 28"/>
          <p:cNvSpPr/>
          <p:nvPr/>
        </p:nvSpPr>
        <p:spPr>
          <a:xfrm>
            <a:off x="231840" y="1486440"/>
            <a:ext cx="10027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4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Modelo 2: LSTM emulador de LISFLOOD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ángulo 1"/>
          <p:cNvSpPr/>
          <p:nvPr/>
        </p:nvSpPr>
        <p:spPr>
          <a:xfrm>
            <a:off x="0" y="784800"/>
            <a:ext cx="12191040" cy="700920"/>
          </a:xfrm>
          <a:prstGeom prst="rect">
            <a:avLst/>
          </a:prstGeom>
          <a:solidFill>
            <a:srgbClr val="DDE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78" name="CuadroTexto 4"/>
          <p:cNvSpPr/>
          <p:nvPr/>
        </p:nvSpPr>
        <p:spPr>
          <a:xfrm>
            <a:off x="181080" y="874440"/>
            <a:ext cx="1020636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800" b="1" u="none" strike="noStrike">
                <a:solidFill>
                  <a:srgbClr val="08058A"/>
                </a:solidFill>
                <a:effectLst/>
                <a:uFillTx/>
                <a:latin typeface="Arial"/>
              </a:rPr>
              <a:t>Conclusiones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Forma libre: forma 1"/>
          <p:cNvSpPr/>
          <p:nvPr/>
        </p:nvSpPr>
        <p:spPr>
          <a:xfrm>
            <a:off x="0" y="5924520"/>
            <a:ext cx="12191040" cy="932400"/>
          </a:xfrm>
          <a:custGeom>
            <a:avLst/>
            <a:gdLst>
              <a:gd name="textAreaLeft" fmla="*/ 0 w 12191040"/>
              <a:gd name="textAreaRight" fmla="*/ 12192120 w 12191040"/>
              <a:gd name="textAreaTop" fmla="*/ 0 h 932400"/>
              <a:gd name="textAreaBottom" fmla="*/ 933480 h 932400"/>
              <a:gd name="GluePoint1X" fmla="*/ 0 w 12192000"/>
              <a:gd name="GluePoint1Y" fmla="*/ 0 h 933544"/>
              <a:gd name="GluePoint2X" fmla="*/ 23182 w 12192000"/>
              <a:gd name="GluePoint2Y" fmla="*/ 5088 h 933544"/>
              <a:gd name="GluePoint3X" fmla="*/ 6096000 w 12192000"/>
              <a:gd name="GluePoint3Y" fmla="*/ 577694 h 933544"/>
              <a:gd name="GluePoint4X" fmla="*/ 12168818 w 12192000"/>
              <a:gd name="GluePoint4Y" fmla="*/ 5088 h 933544"/>
              <a:gd name="GluePoint5X" fmla="*/ 12192000 w 12192000"/>
              <a:gd name="GluePoint5Y" fmla="*/ 0 h 933544"/>
              <a:gd name="GluePoint6X" fmla="*/ 12192000 w 12192000"/>
              <a:gd name="GluePoint6Y" fmla="*/ 933544 h 933544"/>
              <a:gd name="GluePoint7X" fmla="*/ 0 w 12192000"/>
              <a:gd name="GluePoint7Y" fmla="*/ 933544 h 933544"/>
              <a:gd name="GluePoint8X" fmla="*/ 0 w 12192000"/>
              <a:gd name="GluePoint8Y" fmla="*/ 0 h 9335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2192000" h="933544">
                <a:moveTo>
                  <a:pt x="0" y="0"/>
                </a:moveTo>
                <a:lnTo>
                  <a:pt x="23182" y="5088"/>
                </a:lnTo>
                <a:cubicBezTo>
                  <a:pt x="1756703" y="366602"/>
                  <a:pt x="3846491" y="577694"/>
                  <a:pt x="6096000" y="577694"/>
                </a:cubicBezTo>
                <a:cubicBezTo>
                  <a:pt x="8345509" y="577694"/>
                  <a:pt x="10435297" y="366602"/>
                  <a:pt x="12168818" y="5088"/>
                </a:cubicBezTo>
                <a:lnTo>
                  <a:pt x="12192000" y="0"/>
                </a:lnTo>
                <a:lnTo>
                  <a:pt x="12192000" y="933544"/>
                </a:lnTo>
                <a:lnTo>
                  <a:pt x="0" y="933544"/>
                </a:lnTo>
                <a:lnTo>
                  <a:pt x="0" y="0"/>
                </a:lnTo>
                <a:close/>
              </a:path>
            </a:pathLst>
          </a:custGeom>
          <a:solidFill>
            <a:srgbClr val="627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80" name="PlaceHolder 1"/>
          <p:cNvSpPr>
            <a:spLocks noGrp="1"/>
          </p:cNvSpPr>
          <p:nvPr>
            <p:ph type="sldNum" idx="47"/>
          </p:nvPr>
        </p:nvSpPr>
        <p:spPr>
          <a:xfrm>
            <a:off x="9331200" y="63133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47D849-6E56-41D0-BDEF-78DF854AF61E}" type="slidenum">
              <a:rPr lang="es-E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12</a:t>
            </a:fld>
            <a:endParaRPr lang="es-E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CuadroTexto 71"/>
          <p:cNvSpPr/>
          <p:nvPr/>
        </p:nvSpPr>
        <p:spPr>
          <a:xfrm>
            <a:off x="307080" y="1808280"/>
            <a:ext cx="10520640" cy="406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Primera versión del conjunto de datos </a:t>
            </a:r>
            <a:r>
              <a:rPr lang="es-ES" sz="1800" b="1" u="none" strike="noStrike">
                <a:solidFill>
                  <a:schemeClr val="accent1"/>
                </a:solidFill>
                <a:effectLst/>
                <a:uFillTx/>
                <a:latin typeface="Calibri light"/>
              </a:rPr>
              <a:t>CAMELS-ES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, que hace disponible a la comunidad científica global los datos públicos del Ministerio.</a:t>
            </a:r>
            <a:br>
              <a:rPr sz="1800"/>
            </a:b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Mejoras futuras: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33480" lvl="3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Mayor cobertura de la mitad Sur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33480" lvl="3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Incremento de la resolución temporal a 1 h </a:t>
            </a:r>
            <a:r>
              <a:rPr lang="es-ES" sz="1800" b="0" u="none" strike="noStrike">
                <a:solidFill>
                  <a:schemeClr val="dk1">
                    <a:lumMod val="49000"/>
                    <a:lumOff val="51000"/>
                  </a:schemeClr>
                </a:solidFill>
                <a:effectLst/>
                <a:uFillTx/>
                <a:latin typeface="Calibri light"/>
              </a:rPr>
              <a:t>(sólo CAMELS-US)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33480" lvl="3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ResOpsES: Reservoir Operations – España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 ha entrenado una red </a:t>
            </a:r>
            <a:r>
              <a:rPr lang="es-ES" sz="1800" b="1" u="none" strike="noStrike">
                <a:solidFill>
                  <a:schemeClr val="accent1"/>
                </a:solidFill>
                <a:effectLst/>
                <a:uFillTx/>
                <a:latin typeface="Calibri light"/>
              </a:rPr>
              <a:t>LSTM con caudal observado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que supera el rendimiento de EFAS.</a:t>
            </a:r>
            <a:br>
              <a:rPr sz="1800"/>
            </a:b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Mejoras futuras: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3640" lvl="3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 charset="2"/>
              <a:buChar char="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Generalización en cuencas áridas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3640" lvl="3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 charset="2"/>
              <a:buChar char="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Representación de embalses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Se ha entrenado una red </a:t>
            </a:r>
            <a:r>
              <a:rPr lang="es-ES" sz="1800" b="0" u="none" strike="noStrike">
                <a:solidFill>
                  <a:schemeClr val="accent1"/>
                </a:solidFill>
                <a:effectLst/>
                <a:uFillTx/>
                <a:latin typeface="Calibri light"/>
                <a:ea typeface="Calibri light"/>
              </a:rPr>
              <a:t>LSTM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 como </a:t>
            </a:r>
            <a:r>
              <a:rPr lang="es-ES" sz="1800" b="1" u="none" strike="noStrike">
                <a:solidFill>
                  <a:schemeClr val="accent1"/>
                </a:solidFill>
                <a:effectLst/>
                <a:uFillTx/>
                <a:latin typeface="Calibri light"/>
                <a:ea typeface="Calibri light"/>
              </a:rPr>
              <a:t>emulador de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l modelo hidrológico </a:t>
            </a:r>
            <a:r>
              <a:rPr lang="es-ES" sz="1800" b="1" u="none" strike="noStrike">
                <a:solidFill>
                  <a:schemeClr val="accent1"/>
                </a:solidFill>
                <a:effectLst/>
                <a:uFillTx/>
                <a:latin typeface="Calibri light"/>
                <a:ea typeface="Calibri light"/>
              </a:rPr>
              <a:t>LISFLOOD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Rendimiento insuficiente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Mejoras futuras: aprendizaje por refuerzo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CuadroTexto 12"/>
          <p:cNvSpPr/>
          <p:nvPr/>
        </p:nvSpPr>
        <p:spPr>
          <a:xfrm>
            <a:off x="1803600" y="78840"/>
            <a:ext cx="858384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Simulación del caudal en España utilizando redes LSTM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i="1" u="none" strike="noStrike">
                <a:solidFill>
                  <a:srgbClr val="002060"/>
                </a:solidFill>
                <a:effectLst/>
                <a:uFillTx/>
                <a:latin typeface="Arial"/>
                <a:ea typeface="Calibri light"/>
              </a:rPr>
              <a:t>Jesús Casado Rodríguez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3" name="Grupo 6"/>
          <p:cNvGrpSpPr/>
          <p:nvPr/>
        </p:nvGrpSpPr>
        <p:grpSpPr>
          <a:xfrm>
            <a:off x="10545840" y="93240"/>
            <a:ext cx="1565280" cy="620640"/>
            <a:chOff x="10545840" y="93240"/>
            <a:chExt cx="1565280" cy="620640"/>
          </a:xfrm>
        </p:grpSpPr>
        <p:pic>
          <p:nvPicPr>
            <p:cNvPr id="284" name="Imagen 4"/>
            <p:cNvPicPr/>
            <p:nvPr/>
          </p:nvPicPr>
          <p:blipFill>
            <a:blip r:embed="rId2"/>
            <a:stretch/>
          </p:blipFill>
          <p:spPr>
            <a:xfrm>
              <a:off x="10545840" y="93240"/>
              <a:ext cx="930960" cy="620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5" name="Imagen 5"/>
            <p:cNvPicPr/>
            <p:nvPr/>
          </p:nvPicPr>
          <p:blipFill>
            <a:blip r:embed="rId3"/>
            <a:stretch/>
          </p:blipFill>
          <p:spPr>
            <a:xfrm>
              <a:off x="11478240" y="93600"/>
              <a:ext cx="632880" cy="6177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286" name="Picture 12"/>
          <p:cNvPicPr/>
          <p:nvPr/>
        </p:nvPicPr>
        <p:blipFill>
          <a:blip r:embed="rId4"/>
          <a:stretch/>
        </p:blipFill>
        <p:spPr>
          <a:xfrm>
            <a:off x="0" y="42840"/>
            <a:ext cx="956520" cy="700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Rectángulo 1029"/>
          <p:cNvSpPr/>
          <p:nvPr/>
        </p:nvSpPr>
        <p:spPr>
          <a:xfrm>
            <a:off x="0" y="779040"/>
            <a:ext cx="12191040" cy="6072120"/>
          </a:xfrm>
          <a:prstGeom prst="rect">
            <a:avLst/>
          </a:prstGeom>
          <a:solidFill>
            <a:srgbClr val="ABB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s-E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88" name="Rectángulo: esquinas redondeadas 8"/>
          <p:cNvSpPr/>
          <p:nvPr/>
        </p:nvSpPr>
        <p:spPr>
          <a:xfrm>
            <a:off x="957600" y="5740560"/>
            <a:ext cx="5896080" cy="10310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080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s-E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89" name="Rectángulo: esquinas redondeadas 7"/>
          <p:cNvSpPr/>
          <p:nvPr/>
        </p:nvSpPr>
        <p:spPr>
          <a:xfrm>
            <a:off x="302400" y="1098000"/>
            <a:ext cx="7226640" cy="42807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080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s-E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290" name="Picture 2"/>
          <p:cNvPicPr/>
          <p:nvPr/>
        </p:nvPicPr>
        <p:blipFill>
          <a:blip r:embed="rId3"/>
          <a:stretch/>
        </p:blipFill>
        <p:spPr>
          <a:xfrm>
            <a:off x="0" y="0"/>
            <a:ext cx="956520" cy="70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CuadroTexto 3"/>
          <p:cNvSpPr/>
          <p:nvPr/>
        </p:nvSpPr>
        <p:spPr>
          <a:xfrm>
            <a:off x="1803600" y="138600"/>
            <a:ext cx="85838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2800" b="1" i="1" u="none" strike="noStrike">
                <a:solidFill>
                  <a:srgbClr val="002060"/>
                </a:solidFill>
                <a:effectLst/>
                <a:uFillTx/>
                <a:latin typeface="Arial"/>
              </a:rPr>
              <a:t>¡ MUCHAS GRACIAS !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2" name="Picture 4" descr="Impuesto sobre Contaminación de las Aguas en Aragón (ICA ..."/>
          <p:cNvPicPr/>
          <p:nvPr/>
        </p:nvPicPr>
        <p:blipFill>
          <a:blip r:embed="rId4"/>
          <a:stretch/>
        </p:blipFill>
        <p:spPr>
          <a:xfrm>
            <a:off x="4838760" y="1942200"/>
            <a:ext cx="2200320" cy="146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3" name="Picture 4" descr="ACCIONA | BUSINESS AS UNUSUAL"/>
          <p:cNvPicPr/>
          <p:nvPr/>
        </p:nvPicPr>
        <p:blipFill>
          <a:blip r:embed="rId5"/>
          <a:srcRect t="33579" r="-3005" b="29176"/>
          <a:stretch/>
        </p:blipFill>
        <p:spPr>
          <a:xfrm>
            <a:off x="653400" y="1407960"/>
            <a:ext cx="1780920" cy="64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4" name="Picture 8" descr="CAMINOS ARAGÓN - Demarcación de Aragón - Colegio de ..."/>
          <p:cNvPicPr/>
          <p:nvPr/>
        </p:nvPicPr>
        <p:blipFill>
          <a:blip r:embed="rId6"/>
          <a:stretch/>
        </p:blipFill>
        <p:spPr>
          <a:xfrm>
            <a:off x="5938200" y="1194840"/>
            <a:ext cx="1100880" cy="110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5" name="Picture 14" descr="Un logo actualizado - IDOM"/>
          <p:cNvPicPr/>
          <p:nvPr/>
        </p:nvPicPr>
        <p:blipFill>
          <a:blip r:embed="rId7"/>
          <a:srcRect l="28710" t="43617" r="45860" b="35229"/>
          <a:stretch/>
        </p:blipFill>
        <p:spPr>
          <a:xfrm>
            <a:off x="1126080" y="2292840"/>
            <a:ext cx="1434600" cy="607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6" name="Picture 16" descr="Caja Rural Aragón | Talent Clue"/>
          <p:cNvPicPr/>
          <p:nvPr/>
        </p:nvPicPr>
        <p:blipFill>
          <a:blip r:embed="rId8"/>
          <a:stretch/>
        </p:blipFill>
        <p:spPr>
          <a:xfrm>
            <a:off x="4406760" y="1304280"/>
            <a:ext cx="1236240" cy="84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7" name="Picture 26" descr="EUPLA » Ayuntamiento de La Almunia"/>
          <p:cNvPicPr/>
          <p:nvPr/>
        </p:nvPicPr>
        <p:blipFill>
          <a:blip r:embed="rId9"/>
          <a:stretch/>
        </p:blipFill>
        <p:spPr>
          <a:xfrm>
            <a:off x="4893480" y="4358160"/>
            <a:ext cx="2087640" cy="58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8" name="Imagen 6"/>
          <p:cNvPicPr/>
          <p:nvPr/>
        </p:nvPicPr>
        <p:blipFill>
          <a:blip r:embed="rId10"/>
          <a:stretch/>
        </p:blipFill>
        <p:spPr>
          <a:xfrm>
            <a:off x="3164400" y="2301840"/>
            <a:ext cx="1315440" cy="79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CuadroTexto 58"/>
          <p:cNvSpPr/>
          <p:nvPr/>
        </p:nvSpPr>
        <p:spPr>
          <a:xfrm>
            <a:off x="2102040" y="906840"/>
            <a:ext cx="3440160" cy="607680"/>
          </a:xfrm>
          <a:prstGeom prst="rect">
            <a:avLst/>
          </a:prstGeom>
          <a:solidFill>
            <a:srgbClr val="0D08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6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ENTIDADES </a:t>
            </a:r>
            <a:r>
              <a:rPr lang="es-ES" sz="1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PATROCINADORAS</a:t>
            </a:r>
            <a:r>
              <a:rPr lang="es-ES" sz="16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 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0" name="Picture 6" descr="Colegio Oficial de Ingenieros Técnicos Agrícolas de Aragón"/>
          <p:cNvPicPr/>
          <p:nvPr/>
        </p:nvPicPr>
        <p:blipFill>
          <a:blip r:embed="rId11"/>
          <a:srcRect r="3035"/>
          <a:stretch/>
        </p:blipFill>
        <p:spPr>
          <a:xfrm>
            <a:off x="4313160" y="6126840"/>
            <a:ext cx="122904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1" name="Picture 18" descr="Inngen.io participa en el proyecto de innovación DIGIT-BALSA"/>
          <p:cNvPicPr/>
          <p:nvPr/>
        </p:nvPicPr>
        <p:blipFill>
          <a:blip r:embed="rId12"/>
          <a:srcRect l="7717" t="28782" r="5711" b="28877"/>
          <a:stretch/>
        </p:blipFill>
        <p:spPr>
          <a:xfrm>
            <a:off x="2189520" y="6090480"/>
            <a:ext cx="987840" cy="48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2" name="Picture 20" descr="COLEGIO DE INGENIEROS TÉCNICOS DE OBRAS PÚBLICAS ZONA DE ARAGÓN"/>
          <p:cNvPicPr/>
          <p:nvPr/>
        </p:nvPicPr>
        <p:blipFill>
          <a:blip r:embed="rId13"/>
          <a:stretch/>
        </p:blipFill>
        <p:spPr>
          <a:xfrm>
            <a:off x="3381480" y="6165360"/>
            <a:ext cx="697680" cy="43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3" name="Picture 2" descr="TYPSA | LinkedIn"/>
          <p:cNvPicPr/>
          <p:nvPr/>
        </p:nvPicPr>
        <p:blipFill>
          <a:blip r:embed="rId14"/>
          <a:stretch/>
        </p:blipFill>
        <p:spPr>
          <a:xfrm>
            <a:off x="1315080" y="6082200"/>
            <a:ext cx="487800" cy="48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4" name="CuadroTexto 1028"/>
          <p:cNvSpPr/>
          <p:nvPr/>
        </p:nvSpPr>
        <p:spPr>
          <a:xfrm>
            <a:off x="2289240" y="5572800"/>
            <a:ext cx="3316320" cy="607680"/>
          </a:xfrm>
          <a:prstGeom prst="rect">
            <a:avLst/>
          </a:prstGeom>
          <a:solidFill>
            <a:srgbClr val="0D08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6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ENTIDADES </a:t>
            </a:r>
            <a:r>
              <a:rPr lang="es-ES" sz="1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COLABORADORAS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5" name="Imagen 12"/>
          <p:cNvPicPr/>
          <p:nvPr/>
        </p:nvPicPr>
        <p:blipFill>
          <a:blip r:embed="rId15"/>
          <a:stretch/>
        </p:blipFill>
        <p:spPr>
          <a:xfrm>
            <a:off x="781920" y="4186800"/>
            <a:ext cx="3738960" cy="92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6" name="Imagen 14" descr="Texto&#10;&#10;El contenido generado por IA puede ser incorrecto."/>
          <p:cNvPicPr/>
          <p:nvPr/>
        </p:nvPicPr>
        <p:blipFill>
          <a:blip r:embed="rId16"/>
          <a:stretch/>
        </p:blipFill>
        <p:spPr>
          <a:xfrm>
            <a:off x="2561760" y="3230640"/>
            <a:ext cx="2161080" cy="80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7" name="Picture 2"/>
          <p:cNvPicPr/>
          <p:nvPr/>
        </p:nvPicPr>
        <p:blipFill>
          <a:blip r:embed="rId17"/>
          <a:stretch/>
        </p:blipFill>
        <p:spPr>
          <a:xfrm>
            <a:off x="2614320" y="1482480"/>
            <a:ext cx="1533600" cy="47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8" name="Gràfic 7"/>
          <p:cNvPicPr/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>
            <a:off x="5070960" y="3437640"/>
            <a:ext cx="1918800" cy="45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9" name="Picture 16" descr="Ayuntamiento La Almunia de Doña Godina | La Almunia de Doña ..."/>
          <p:cNvPicPr/>
          <p:nvPr/>
        </p:nvPicPr>
        <p:blipFill>
          <a:blip r:embed="rId20"/>
          <a:stretch/>
        </p:blipFill>
        <p:spPr>
          <a:xfrm>
            <a:off x="1026360" y="3019320"/>
            <a:ext cx="1305000" cy="130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Rectángulo: esquinas redondeadas 8"/>
          <p:cNvSpPr/>
          <p:nvPr/>
        </p:nvSpPr>
        <p:spPr>
          <a:xfrm>
            <a:off x="8025840" y="1452240"/>
            <a:ext cx="3510360" cy="14961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080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s-E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1" name="CuadroTexto 29"/>
          <p:cNvSpPr/>
          <p:nvPr/>
        </p:nvSpPr>
        <p:spPr>
          <a:xfrm>
            <a:off x="8658360" y="1247040"/>
            <a:ext cx="2283840" cy="363960"/>
          </a:xfrm>
          <a:prstGeom prst="rect">
            <a:avLst/>
          </a:prstGeom>
          <a:solidFill>
            <a:srgbClr val="0D08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PROMUEVEN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2" name="Picture 2" descr="https://eventos.unizar.es/getFiles/hash/ZiRGN2ATNklzMmZmNkVDMwgTZ3IGO3QDMUmYzMmMyYj:R2FlUkdjVGlkekJGU3FybTUyK0FaQzlOdmJEZnJ5cVd3TkcvT2tKbGw4SGlwczliMU5OMWNhWExIZ25TYXJIeWlnaS9ZYXE0MDIzQktBS0dadVZlSStta0tnN0xnYXVCU3NTNWszb243OUl2TVBEOWlIQzhTcDBXVzFhcDJKYVliaWtiU1NwVFNjTUtXQy9Lb0M0WFltalBPcnl4alQ1TTl6SjllRjUxRXB6aitZQXFSZFZGT29DNHliWkVmZldM"/>
          <p:cNvPicPr/>
          <p:nvPr/>
        </p:nvPicPr>
        <p:blipFill>
          <a:blip r:embed="rId21"/>
          <a:srcRect b="30903"/>
          <a:stretch/>
        </p:blipFill>
        <p:spPr>
          <a:xfrm>
            <a:off x="8196120" y="1676880"/>
            <a:ext cx="1101240" cy="120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3" name="Picture 4" descr="https://eventos.unizar.es/getFiles/hash/YyYmYkVWOyMTO5gTOiBTY2kDZ2YGMjJTMgDZhRGMiJT:TG1Teks5RERoY2YzenhhTTQwWThoQ3Q5bGdvZVdtdkhrcTY0UlI2WGNTZTZvMy9KamZET2RORkZwMno3M05Gcmp3anNpMDFkTWdJQXoxVlh5OXVHZkxQaGNPZHdGSGJBQkJ2V0l4M0ZST0dUVzVjdnJ0S1JOVzVkWFVRRU5MUTlUZC82dVM1K3Z0RVo3YmtDaXZHek55TWo3K1RESmhBVUlCMG9ENUszdVhLVEMrNDVYNStEM2NaT0ErSHdQWTZm"/>
          <p:cNvPicPr/>
          <p:nvPr/>
        </p:nvPicPr>
        <p:blipFill>
          <a:blip r:embed="rId22"/>
          <a:stretch/>
        </p:blipFill>
        <p:spPr>
          <a:xfrm>
            <a:off x="9380520" y="1832040"/>
            <a:ext cx="2014200" cy="84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Rectángulo: esquinas redondeadas 8"/>
          <p:cNvSpPr/>
          <p:nvPr/>
        </p:nvSpPr>
        <p:spPr>
          <a:xfrm>
            <a:off x="8069040" y="3981960"/>
            <a:ext cx="3510360" cy="23709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080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s-E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5" name="CuadroTexto 33"/>
          <p:cNvSpPr/>
          <p:nvPr/>
        </p:nvSpPr>
        <p:spPr>
          <a:xfrm>
            <a:off x="8694360" y="3754440"/>
            <a:ext cx="2283840" cy="333360"/>
          </a:xfrm>
          <a:prstGeom prst="rect">
            <a:avLst/>
          </a:prstGeom>
          <a:solidFill>
            <a:srgbClr val="0D08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6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ORGANIZACIÓN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6" name="Picture 6" descr="https://eventos.unizar.es/getFiles/hash/ZjNGMjFjM1UTOyQ2M1MTOzMzN3UGMlZ2NQjZwYWOkhj:NlY1UkZkd3pKaGh6Yk1yS1krVDBNSjNEWGw1ang3dTVJNVBkRDR3UnRRTkkyNVY5U0VHRy9iS2ZNay9NTlBmZFF6ZFBaUmVYRjJ0Y2xjRHVHV2UzNmNOL2x0SjhWenFoR1RURlkrVVp3UGpacHNZODhRZkZWNi9lR2dsT2N1NUVrM0dhZkR2MlhPKzlKM3dSNTFJS2F6SzYwWTdEcStud2dXS3hOQlZjN2NPaE9BR3d6bkZ6L2hpZmRrNldZaVZI"/>
          <p:cNvPicPr/>
          <p:nvPr/>
        </p:nvPicPr>
        <p:blipFill>
          <a:blip r:embed="rId23"/>
          <a:stretch/>
        </p:blipFill>
        <p:spPr>
          <a:xfrm>
            <a:off x="8318880" y="4074120"/>
            <a:ext cx="2964960" cy="108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7" name="Picture 2" descr="https://zinnae.org/wp-content/uploads/2022/02/Zinnae-Horizontal-V2-1030x544.jpg"/>
          <p:cNvPicPr/>
          <p:nvPr/>
        </p:nvPicPr>
        <p:blipFill>
          <a:blip r:embed="rId24"/>
          <a:srcRect t="6658" b="5698"/>
          <a:stretch/>
        </p:blipFill>
        <p:spPr>
          <a:xfrm>
            <a:off x="5649840" y="6010200"/>
            <a:ext cx="1063440" cy="49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8" name="Imagen 13"/>
          <p:cNvPicPr/>
          <p:nvPr/>
        </p:nvPicPr>
        <p:blipFill>
          <a:blip r:embed="rId25"/>
          <a:stretch/>
        </p:blipFill>
        <p:spPr>
          <a:xfrm>
            <a:off x="8167320" y="5606280"/>
            <a:ext cx="3313440" cy="53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CuadroTexto 37"/>
          <p:cNvSpPr/>
          <p:nvPr/>
        </p:nvSpPr>
        <p:spPr>
          <a:xfrm>
            <a:off x="8943840" y="5311440"/>
            <a:ext cx="1960560" cy="249480"/>
          </a:xfrm>
          <a:prstGeom prst="rect">
            <a:avLst/>
          </a:prstGeom>
          <a:solidFill>
            <a:srgbClr val="DDE2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050" b="1" i="1" u="none" strike="noStrike">
                <a:solidFill>
                  <a:srgbClr val="08058A"/>
                </a:solidFill>
                <a:effectLst/>
                <a:uFillTx/>
                <a:latin typeface="Aptos"/>
              </a:rPr>
              <a:t>Con la colaboración de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</TotalTime>
  <Words>122</Words>
  <Application>Microsoft Office PowerPoint</Application>
  <PresentationFormat>Panorámica</PresentationFormat>
  <Paragraphs>29</Paragraphs>
  <Slides>13</Slides>
  <Notes>2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Ricardo Pernia Tejedor</dc:creator>
  <dc:description/>
  <cp:lastModifiedBy/>
  <cp:revision>441</cp:revision>
  <cp:lastPrinted>2025-07-24T06:49:35Z</cp:lastPrinted>
  <dcterms:created xsi:type="dcterms:W3CDTF">2025-06-10T08:40:15Z</dcterms:created>
  <dcterms:modified xsi:type="dcterms:W3CDTF">2025-10-15T19:11:47Z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0x01010082DE09422041334B8E2104D5A23FF007</vt:lpwstr>
  </property>
  <property fmtid="{D5CDD505-2E9C-101B-9397-08002B2CF9AE}" pid="3" name="MediaServiceImageTags">
    <vt:lpwstr/>
  </property>
  <property fmtid="{D5CDD505-2E9C-101B-9397-08002B2CF9AE}" pid="4" name="Notes">
    <vt:i4>2</vt:i4>
  </property>
  <property fmtid="{D5CDD505-2E9C-101B-9397-08002B2CF9AE}" pid="5" name="PresentationFormat">
    <vt:lpwstr>Panorámica</vt:lpwstr>
  </property>
  <property fmtid="{D5CDD505-2E9C-101B-9397-08002B2CF9AE}" pid="6" name="Slides">
    <vt:i4>14</vt:i4>
  </property>
</Properties>
</file>
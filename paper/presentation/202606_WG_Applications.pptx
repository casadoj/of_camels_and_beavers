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07" r:id="rId3"/>
    <p:sldId id="309" r:id="rId4"/>
    <p:sldId id="315" r:id="rId5"/>
    <p:sldId id="310" r:id="rId6"/>
    <p:sldId id="311" r:id="rId7"/>
    <p:sldId id="312" r:id="rId8"/>
    <p:sldId id="313" r:id="rId9"/>
    <p:sldId id="314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95CFE1B-B890-4AE2-B144-3F68C1BDBB8D}">
          <p14:sldIdLst>
            <p14:sldId id="256"/>
          </p14:sldIdLst>
        </p14:section>
        <p14:section name="Intro" id="{658D7D54-E7D7-4920-9992-8DA64824479F}">
          <p14:sldIdLst>
            <p14:sldId id="307"/>
            <p14:sldId id="309"/>
            <p14:sldId id="315"/>
          </p14:sldIdLst>
        </p14:section>
        <p14:section name="Datasets" id="{FBF54656-13CB-4176-952B-F9C9BAC9E6B4}">
          <p14:sldIdLst>
            <p14:sldId id="310"/>
          </p14:sldIdLst>
        </p14:section>
        <p14:section name="Models" id="{F3FF795E-E9B1-4203-9FE0-632027AE94F7}">
          <p14:sldIdLst>
            <p14:sldId id="311"/>
            <p14:sldId id="312"/>
            <p14:sldId id="313"/>
          </p14:sldIdLst>
        </p14:section>
        <p14:section name="Current state" id="{34755951-5B4C-47FD-BFE9-329C4221F348}">
          <p14:sldIdLst>
            <p14:sldId id="314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84"/>
    <a:srgbClr val="2CDBBD"/>
    <a:srgbClr val="EAFBF8"/>
    <a:srgbClr val="004940"/>
    <a:srgbClr val="2CDBD6"/>
    <a:srgbClr val="2FDC8E"/>
    <a:srgbClr val="004C42"/>
    <a:srgbClr val="000000"/>
    <a:srgbClr val="C55A1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4" autoAdjust="0"/>
    <p:restoredTop sz="95861" autoAdjust="0"/>
  </p:normalViewPr>
  <p:slideViewPr>
    <p:cSldViewPr snapToGrid="0">
      <p:cViewPr varScale="1">
        <p:scale>
          <a:sx n="80" d="100"/>
          <a:sy n="80" d="100"/>
        </p:scale>
        <p:origin x="53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BE4C-FBF5-4D9C-94FB-530A34F84ECE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EEE55-152B-4EC7-9F2E-35311E21D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1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Benchmark dataset and LSTM model.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Update the CAMELS-ES dataset at daily resolution.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Retrain the LSTM benchmark model at national level.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Extension of CAMELS-ES at hourly resolution.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Fine tune the LSTM to the study case (daily-hourly timesteps).</a:t>
            </a:r>
          </a:p>
          <a:p>
            <a:pPr marL="342900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Catchment embeddings: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(variational) autoencoder of the catchment characteristics.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Train the (V)AE+LSTM model.</a:t>
            </a:r>
          </a:p>
          <a:p>
            <a:pPr marL="342900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Meteorological embeddings:</a:t>
            </a:r>
          </a:p>
          <a:p>
            <a:pPr marL="800100" lvl="1" indent="-342900"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WG latent states or outputs as inputs to the hydrological model.</a:t>
            </a:r>
          </a:p>
          <a:p>
            <a:pPr marL="800100" lvl="1" indent="-342900">
              <a:buAutoNum type="arabicPeriod"/>
            </a:pP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EEE55-152B-4EC7-9F2E-35311E21D9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EEE55-152B-4EC7-9F2E-35311E21D9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20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152B-F9FB-433B-A2E0-F380F2DC0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A4366-06B3-435A-8FA1-C41B2AC1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D18-3B85-4BCC-8937-39A98417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D2C1-3381-4949-9C05-0BF7D778AA46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53FD-CF29-413E-B06D-D9BBFD5C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7E7A-84E3-41C9-BD77-CA9494AE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45B-2361-474F-8938-1AC08E3D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400B-9FE4-470E-92CC-14426E47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ADDB-10CE-4C6E-A06D-EDB2BD0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E812-952E-49F6-8757-06DEF9216D46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A9C8-3A0A-4EE1-8CF6-C989528F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6A3-4E69-48F4-97D3-06216560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207D-32E0-4CAD-A0DC-6EF160E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FF7E-7DF8-4F4A-A112-0A3609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96E9-36C2-4639-B47B-B65D0232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38CF-84EE-4924-B040-12F370921513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EF22-0EEA-4CB0-9860-9891718F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36B7-101F-4C52-98BC-2DA0A03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8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1CC-1FB6-4279-9E10-B5A085B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5A5-A27D-4E7F-841D-64EE33E4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0583-29C3-46E3-ABA2-D96AF780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57241-3E26-4C04-B988-A25D141B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FACB-68C4-48DE-AF62-9FB1E966FBD2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75E6-80F0-4819-AADA-1E33AF1D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A224-6383-4210-B228-C06E8712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5BB4-3F71-4035-9173-A1AC939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6F13A-64D2-462F-A89C-D94F54E2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F80B-6DB7-46DC-B9A6-82AB6F38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42A7-2CE5-4F42-84DC-BF0F64848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02B9-A1DC-41F3-8567-8B4F6969E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7C29A-7D5B-4420-8DAB-AFA7BE96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6FA0-AD96-49DF-A023-8F5D8D7E14CF}" type="datetime1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4BAB-A452-4F96-8FF9-EDAC0A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95353-962B-4437-8FFB-211B2B57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450D-356E-433B-B023-07BC67F3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0B60-ECB4-4966-A7E2-677BD7E8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9136-5C3E-4F93-9CB1-30B2894F2CE8}" type="datetime1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8848-604A-4C67-B4B7-4ADE21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82E5A-98AC-4408-85D8-B96A2774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015CA-C613-493E-872B-C3213CB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29DC-051E-4570-8A0A-B9D5E742E900}" type="datetime1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ED28-BA21-49CD-83BA-7ED2E6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25BA-3AE1-4A7D-AB3D-DB6CF0C5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B76-BDE5-42DB-B0EE-DB84C3A2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9D90-EAC1-4A7F-8A36-2AC76B6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C9F-F560-4A9D-8978-95EF07E8E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C641-FB01-4749-B475-16BB8EF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E573-FBCC-4372-9502-B40681BD8A8F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98D-8CA9-4808-9CC2-C9B65704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9353-D498-4664-A6CD-18F3222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5DD-E1E3-41CA-9BCD-A262C87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B854B-4433-4F06-B539-49D0BFF2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F073-3A6F-42B5-8C6B-08339EE2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9685-180B-46D9-B88B-F7DF3CE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FF89-EBC6-4D63-BA54-9BD8D0A7B612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651-6A5B-4642-ADE6-D191D75D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C01E-9B3F-4560-A62D-6A0302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1A4-6B9C-43C6-83D6-96AF45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C6E0-1B89-44B8-9A7D-B8A64BF6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A910-0DE6-4FC9-91EC-ECFDC7E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A20DD-628D-42F3-9E4D-BC6B9D2E7677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9FC-AD8A-4204-9752-37491FCE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165-959F-496D-A4A0-2869266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1E44-7990-433A-AE77-38ED240E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97B01-D664-43B1-B8D8-50E074E9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95B3-EC7C-4832-B2CA-F30DC67E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3AAB-D7A6-4F7D-ABDA-8B8B1FB7679C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B8E-E5E4-47AE-AEDD-EFE4C37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CD5F-3609-4051-A6FA-59E487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BBC3D-5CF7-4E16-857E-657A538F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8EED-7341-4E94-8BC3-BB021E77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8CF8-9A7A-43DC-94B5-A772AC57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C7DD-409D-46C7-92B6-0BB1EFDAC08F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058A-E453-4227-AEBE-19825191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94D9-448C-4C4D-87EB-D93ADB655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jpeg"/><Relationship Id="rId7" Type="http://schemas.openxmlformats.org/officeDocument/2006/relationships/slide" Target="slide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2.xml"/><Relationship Id="rId4" Type="http://schemas.openxmlformats.org/officeDocument/2006/relationships/slide" Target="slide5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ithub.com/ec-jrc/lisflood-code" TargetMode="External"/><Relationship Id="rId7" Type="http://schemas.openxmlformats.org/officeDocument/2006/relationships/slide" Target="slide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2.xml"/><Relationship Id="rId4" Type="http://schemas.openxmlformats.org/officeDocument/2006/relationships/slide" Target="slide5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2.xml"/><Relationship Id="rId4" Type="http://schemas.openxmlformats.org/officeDocument/2006/relationships/slide" Target="slid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0.png"/><Relationship Id="rId7" Type="http://schemas.openxmlformats.org/officeDocument/2006/relationships/slide" Target="slide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5.xml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9681B4-CA36-D7AD-C22D-9C08AACCA425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B70-F3A9-45A9-AF9B-3CCF7EBEAD7B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EC12D-8020-4FDD-8990-6DDBA79677A6}"/>
              </a:ext>
            </a:extLst>
          </p:cNvPr>
          <p:cNvSpPr txBox="1"/>
          <p:nvPr/>
        </p:nvSpPr>
        <p:spPr>
          <a:xfrm>
            <a:off x="136524" y="2126838"/>
            <a:ext cx="4181839" cy="188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AE89E-AA14-07E6-1FC0-DA9A71E8FFBF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AP19 Flood Prediction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A7834-9600-8537-EEEC-28EA13B9B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pic>
        <p:nvPicPr>
          <p:cNvPr id="14" name="Picture 13" descr="NASA: imagen aérea tras la DANA 29-O en Valencia">
            <a:extLst>
              <a:ext uri="{FF2B5EF4-FFF2-40B4-BE49-F238E27FC236}">
                <a16:creationId xmlns:a16="http://schemas.microsoft.com/office/drawing/2014/main" id="{865EEC16-028F-2D1E-D039-8E9AFE0C50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B87DEC-02EA-72C2-7A3C-21A9B425AD3E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 descr="A blue and green logo&#10;&#10;AI-generated content may be incorrect.">
            <a:extLst>
              <a:ext uri="{FF2B5EF4-FFF2-40B4-BE49-F238E27FC236}">
                <a16:creationId xmlns:a16="http://schemas.microsoft.com/office/drawing/2014/main" id="{1FB8F4EF-4978-77E3-FCED-136921638D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099" y="6139097"/>
            <a:ext cx="925882" cy="4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C610-3743-D4A5-AD24-7CED1091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FEDDC2-24FD-E376-7D03-F3E45DC00ECF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837B-38B8-B414-B53E-8D3663C6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2</a:t>
            </a:fld>
            <a:endParaRPr lang="en-US" dirty="0"/>
          </a:p>
        </p:txBody>
      </p:sp>
      <p:sp>
        <p:nvSpPr>
          <p:cNvPr id="26" name="Rectangle: Rounded Corners 25">
            <a:hlinkClick r:id="rId2" action="ppaction://hlinksldjump"/>
            <a:extLst>
              <a:ext uri="{FF2B5EF4-FFF2-40B4-BE49-F238E27FC236}">
                <a16:creationId xmlns:a16="http://schemas.microsoft.com/office/drawing/2014/main" id="{1BF21598-873C-DCFF-A8FD-34750E9E03DC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25" name="Rectangle: Rounded Corners 24">
            <a:hlinkClick r:id="rId3" action="ppaction://hlinksldjump"/>
            <a:extLst>
              <a:ext uri="{FF2B5EF4-FFF2-40B4-BE49-F238E27FC236}">
                <a16:creationId xmlns:a16="http://schemas.microsoft.com/office/drawing/2014/main" id="{E8F044EE-F7AB-D347-A8C8-13F87EA3599E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38D9BF05-8392-DC70-7AB3-94EE1E10B86D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30" name="Rectangle: Rounded Corners 29">
            <a:hlinkClick r:id="rId5" action="ppaction://hlinksldjump"/>
            <a:extLst>
              <a:ext uri="{FF2B5EF4-FFF2-40B4-BE49-F238E27FC236}">
                <a16:creationId xmlns:a16="http://schemas.microsoft.com/office/drawing/2014/main" id="{600C3C70-146B-7AD2-83F4-0D6ED480F0D0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06A65-E65E-832E-04C0-F3A5F906BB76}"/>
              </a:ext>
            </a:extLst>
          </p:cNvPr>
          <p:cNvSpPr txBox="1"/>
          <p:nvPr/>
        </p:nvSpPr>
        <p:spPr>
          <a:xfrm>
            <a:off x="590320" y="1282483"/>
            <a:ext cx="1094153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Proposal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Benchmark: 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GloFAS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(Global Flood Awareness System) &amp; GFM (Global Flood Monitoring)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Calibrate OS-LISFLOOD using a reanalysis produced by WG. Benchmark: ERA5 calibration.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WG medium-range forecast to drive OS-LISFLOOD. Benchmark: ECMWF-IFS forcing.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Develop and train a tail-network with the WG using flood extent estimates of </a:t>
            </a:r>
            <a:r>
              <a:rPr lang="en-GB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GloFAS</a:t>
            </a:r>
            <a:r>
              <a:rPr lang="en-GB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and GFM with data derived from citizen science observations.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3E2C81-7A76-3357-0CED-BA21EAF10B1C}"/>
              </a:ext>
            </a:extLst>
          </p:cNvPr>
          <p:cNvCxnSpPr/>
          <p:nvPr/>
        </p:nvCxnSpPr>
        <p:spPr>
          <a:xfrm>
            <a:off x="988312" y="2614651"/>
            <a:ext cx="7668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95B8E5-3186-99FF-EFA0-49E8B47DD42A}"/>
              </a:ext>
            </a:extLst>
          </p:cNvPr>
          <p:cNvSpPr txBox="1"/>
          <p:nvPr/>
        </p:nvSpPr>
        <p:spPr>
          <a:xfrm>
            <a:off x="590320" y="3805802"/>
            <a:ext cx="10941538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 plan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objective of this application is to create a </a:t>
            </a:r>
            <a:r>
              <a:rPr lang="en-US" sz="1700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deep-learning hydrological forecast system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that predicts river discharge using the Weather Generator as meteorological forcing.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Benchmark: EFAS (European Flood Awareness System) and a LSTM forced with ECMWF-IFS.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6427F1-4945-37D8-6A62-768BD5D4651D}"/>
              </a:ext>
            </a:extLst>
          </p:cNvPr>
          <p:cNvCxnSpPr/>
          <p:nvPr/>
        </p:nvCxnSpPr>
        <p:spPr>
          <a:xfrm>
            <a:off x="988312" y="2866288"/>
            <a:ext cx="7560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5CB486-2D59-419E-3E1C-A68C51AEC450}"/>
              </a:ext>
            </a:extLst>
          </p:cNvPr>
          <p:cNvCxnSpPr/>
          <p:nvPr/>
        </p:nvCxnSpPr>
        <p:spPr>
          <a:xfrm>
            <a:off x="5464620" y="3125013"/>
            <a:ext cx="5688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84D45-8CDA-D0E7-9C57-316FDB32119A}"/>
              </a:ext>
            </a:extLst>
          </p:cNvPr>
          <p:cNvCxnSpPr/>
          <p:nvPr/>
        </p:nvCxnSpPr>
        <p:spPr>
          <a:xfrm>
            <a:off x="988312" y="3391713"/>
            <a:ext cx="2412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750121-824A-6615-CA04-D9D0A5E4F015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EAD9B100-4B03-4A80-FA9D-9AA3DA7AE8FF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A6B04019-34F0-5840-935D-8ACAE3EAF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9D5BB8-18A3-059E-BA52-C71953E18AA6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3" name="Picture 12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A18D2A31-F93C-023D-BFB7-7A78243DE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598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53B7-63BF-C060-01A0-DED19211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92">
            <a:extLst>
              <a:ext uri="{FF2B5EF4-FFF2-40B4-BE49-F238E27FC236}">
                <a16:creationId xmlns:a16="http://schemas.microsoft.com/office/drawing/2014/main" id="{8A77F6D4-9933-863E-9F33-33F0FD2A6B83}"/>
              </a:ext>
            </a:extLst>
          </p:cNvPr>
          <p:cNvPicPr/>
          <p:nvPr/>
        </p:nvPicPr>
        <p:blipFill>
          <a:blip r:embed="rId2"/>
          <a:srcRect l="57595"/>
          <a:stretch/>
        </p:blipFill>
        <p:spPr>
          <a:xfrm>
            <a:off x="8406892" y="2023824"/>
            <a:ext cx="3210028" cy="3038504"/>
          </a:xfrm>
          <a:prstGeom prst="rect">
            <a:avLst/>
          </a:prstGeom>
        </p:spPr>
      </p:pic>
      <p:pic>
        <p:nvPicPr>
          <p:cNvPr id="13" name="Image2 Copy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9E3B08C-EF55-3350-2059-159F834E9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01116" y="1993344"/>
            <a:ext cx="7141204" cy="317894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4E3CE-BBDA-6E8D-C8B5-898A8F63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C0DA9-4963-7860-16A7-BEA2054CAC82}"/>
              </a:ext>
            </a:extLst>
          </p:cNvPr>
          <p:cNvSpPr txBox="1"/>
          <p:nvPr/>
        </p:nvSpPr>
        <p:spPr>
          <a:xfrm>
            <a:off x="590320" y="1252132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Study case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EBA3A-F1F3-9A3F-2032-9D7B2B290C2B}"/>
              </a:ext>
            </a:extLst>
          </p:cNvPr>
          <p:cNvSpPr txBox="1"/>
          <p:nvPr/>
        </p:nvSpPr>
        <p:spPr>
          <a:xfrm>
            <a:off x="590320" y="2350788"/>
            <a:ext cx="39107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We will test it in </a:t>
            </a:r>
            <a:r>
              <a:rPr lang="en-US" sz="1700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peninsular Spain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Arid, Mediterranean climate in which hydrological models often struggle.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Very strong reservoir regulation.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17DF1-4285-D434-9429-379EB9792A51}"/>
              </a:ext>
            </a:extLst>
          </p:cNvPr>
          <p:cNvSpPr txBox="1"/>
          <p:nvPr/>
        </p:nvSpPr>
        <p:spPr>
          <a:xfrm>
            <a:off x="5128290" y="2106393"/>
            <a:ext cx="2917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1600" dirty="0" err="1">
                <a:solidFill>
                  <a:srgbClr val="009684"/>
                </a:solidFill>
                <a:latin typeface="Calibri light"/>
              </a:rPr>
              <a:t>KGE</a:t>
            </a:r>
            <a:r>
              <a:rPr lang="es-ES" sz="1600" baseline="-25000" dirty="0" err="1">
                <a:solidFill>
                  <a:srgbClr val="009684"/>
                </a:solidFill>
                <a:latin typeface="Calibri light"/>
              </a:rPr>
              <a:t>median</a:t>
            </a:r>
            <a:r>
              <a:rPr lang="es-ES" sz="1600" dirty="0">
                <a:solidFill>
                  <a:srgbClr val="009684"/>
                </a:solidFill>
                <a:latin typeface="Calibri light"/>
              </a:rPr>
              <a:t>: 0.383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BF758-6DF2-0565-D674-09AA71A66A5F}"/>
              </a:ext>
            </a:extLst>
          </p:cNvPr>
          <p:cNvSpPr txBox="1"/>
          <p:nvPr/>
        </p:nvSpPr>
        <p:spPr>
          <a:xfrm>
            <a:off x="9305468" y="1707227"/>
            <a:ext cx="1636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1600" b="1" dirty="0">
                <a:solidFill>
                  <a:srgbClr val="009684"/>
                </a:solidFill>
                <a:latin typeface="Calibri light"/>
              </a:rPr>
              <a:t>CAMELS-ES v1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8460AC-3623-B3C6-C028-7F527610C49C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27" name="Rectangle: Rounded Corners 26">
            <a:hlinkClick r:id="rId4" action="ppaction://hlinksldjump"/>
            <a:extLst>
              <a:ext uri="{FF2B5EF4-FFF2-40B4-BE49-F238E27FC236}">
                <a16:creationId xmlns:a16="http://schemas.microsoft.com/office/drawing/2014/main" id="{3C39F411-E08B-1489-1B5A-ED2FFF03C2F2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28" name="Rectangle: Rounded Corners 27">
            <a:hlinkClick r:id="rId5" action="ppaction://hlinksldjump"/>
            <a:extLst>
              <a:ext uri="{FF2B5EF4-FFF2-40B4-BE49-F238E27FC236}">
                <a16:creationId xmlns:a16="http://schemas.microsoft.com/office/drawing/2014/main" id="{BC99D6BA-8AF5-C0AE-AC16-7CD5812472F4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55D36F34-B23D-EF9F-310A-A39BD02FF3B2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33" name="Rectangle: Rounded Corners 32">
            <a:hlinkClick r:id="rId7" action="ppaction://hlinksldjump"/>
            <a:extLst>
              <a:ext uri="{FF2B5EF4-FFF2-40B4-BE49-F238E27FC236}">
                <a16:creationId xmlns:a16="http://schemas.microsoft.com/office/drawing/2014/main" id="{44C593CD-2154-5F7B-DC46-D8453DC9D40D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8676A2-23C5-0F3B-B204-98D940661349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06CEFAA4-237B-948B-0EDF-505F426B7D75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4CAB48A3-9ABE-63AE-E541-5B2725D43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CAD383-414D-3C6B-61E3-DB0202F35319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A1EF278A-96CA-B4A1-2A0A-E16D9E2DE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8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5E49-EFFE-98CA-45F3-AA1E50D4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hlinkClick r:id="rId3"/>
            <a:extLst>
              <a:ext uri="{FF2B5EF4-FFF2-40B4-BE49-F238E27FC236}">
                <a16:creationId xmlns:a16="http://schemas.microsoft.com/office/drawing/2014/main" id="{F47B8071-0009-48BD-AA5C-DAD215130892}"/>
              </a:ext>
            </a:extLst>
          </p:cNvPr>
          <p:cNvSpPr>
            <a:spLocks noChangeAspect="1"/>
          </p:cNvSpPr>
          <p:nvPr/>
        </p:nvSpPr>
        <p:spPr>
          <a:xfrm>
            <a:off x="6359436" y="3900333"/>
            <a:ext cx="1080000" cy="1080000"/>
          </a:xfrm>
          <a:prstGeom prst="ellipse">
            <a:avLst/>
          </a:prstGeom>
          <a:solidFill>
            <a:srgbClr val="2CDBBD">
              <a:alpha val="50196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graph</a:t>
            </a:r>
          </a:p>
          <a:p>
            <a:pPr algn="ctr"/>
            <a:endParaRPr lang="en-US" sz="1600" dirty="0"/>
          </a:p>
        </p:txBody>
      </p:sp>
      <p:sp>
        <p:nvSpPr>
          <p:cNvPr id="24" name="Oval 23">
            <a:hlinkClick r:id="rId3"/>
            <a:extLst>
              <a:ext uri="{FF2B5EF4-FFF2-40B4-BE49-F238E27FC236}">
                <a16:creationId xmlns:a16="http://schemas.microsoft.com/office/drawing/2014/main" id="{826F8F92-7B8B-D607-AA07-3CC1B4F3CDBE}"/>
              </a:ext>
            </a:extLst>
          </p:cNvPr>
          <p:cNvSpPr>
            <a:spLocks noChangeAspect="1"/>
          </p:cNvSpPr>
          <p:nvPr/>
        </p:nvSpPr>
        <p:spPr>
          <a:xfrm>
            <a:off x="5562878" y="4320850"/>
            <a:ext cx="1080000" cy="10800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1450" dirty="0"/>
          </a:p>
          <a:p>
            <a:pPr algn="ctr"/>
            <a:r>
              <a:rPr lang="en-US" sz="1450" dirty="0"/>
              <a:t>reservoirs</a:t>
            </a:r>
          </a:p>
          <a:p>
            <a:pPr algn="ctr"/>
            <a:endParaRPr lang="en-US" sz="1450" dirty="0"/>
          </a:p>
        </p:txBody>
      </p:sp>
      <p:sp>
        <p:nvSpPr>
          <p:cNvPr id="27" name="Oval 26">
            <a:hlinkClick r:id="rId3"/>
            <a:extLst>
              <a:ext uri="{FF2B5EF4-FFF2-40B4-BE49-F238E27FC236}">
                <a16:creationId xmlns:a16="http://schemas.microsoft.com/office/drawing/2014/main" id="{35683974-B7D1-7722-EFFD-F4072561388E}"/>
              </a:ext>
            </a:extLst>
          </p:cNvPr>
          <p:cNvSpPr>
            <a:spLocks noChangeAspect="1"/>
          </p:cNvSpPr>
          <p:nvPr/>
        </p:nvSpPr>
        <p:spPr>
          <a:xfrm>
            <a:off x="5562878" y="3575059"/>
            <a:ext cx="1080000" cy="10800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lumped</a:t>
            </a:r>
          </a:p>
          <a:p>
            <a:pPr algn="ctr"/>
            <a:r>
              <a:rPr lang="en-US" sz="1600" dirty="0"/>
              <a:t>natural</a:t>
            </a:r>
          </a:p>
        </p:txBody>
      </p:sp>
      <p:sp>
        <p:nvSpPr>
          <p:cNvPr id="23" name="Oval 22">
            <a:hlinkClick r:id="rId3"/>
            <a:extLst>
              <a:ext uri="{FF2B5EF4-FFF2-40B4-BE49-F238E27FC236}">
                <a16:creationId xmlns:a16="http://schemas.microsoft.com/office/drawing/2014/main" id="{0E142715-5BD7-6E56-0543-A35FFE57B299}"/>
              </a:ext>
            </a:extLst>
          </p:cNvPr>
          <p:cNvSpPr>
            <a:spLocks noChangeAspect="1"/>
          </p:cNvSpPr>
          <p:nvPr/>
        </p:nvSpPr>
        <p:spPr>
          <a:xfrm>
            <a:off x="2242600" y="4318950"/>
            <a:ext cx="1080000" cy="10800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" sz="1600" dirty="0"/>
          </a:p>
          <a:p>
            <a:pPr algn="ctr"/>
            <a:r>
              <a:rPr lang="es-ES" sz="1600" dirty="0"/>
              <a:t>BEAVERS</a:t>
            </a:r>
          </a:p>
          <a:p>
            <a:pPr algn="ctr"/>
            <a:r>
              <a:rPr lang="es-ES" sz="1600"/>
              <a:t>ES</a:t>
            </a:r>
            <a:endParaRPr lang="en-GB" sz="1600" dirty="0"/>
          </a:p>
        </p:txBody>
      </p:sp>
      <p:sp>
        <p:nvSpPr>
          <p:cNvPr id="18" name="Oval 17">
            <a:hlinkClick r:id="rId3"/>
            <a:extLst>
              <a:ext uri="{FF2B5EF4-FFF2-40B4-BE49-F238E27FC236}">
                <a16:creationId xmlns:a16="http://schemas.microsoft.com/office/drawing/2014/main" id="{1B38EB58-6945-4639-7007-9BB396CDBEF0}"/>
              </a:ext>
            </a:extLst>
          </p:cNvPr>
          <p:cNvSpPr>
            <a:spLocks noChangeAspect="1"/>
          </p:cNvSpPr>
          <p:nvPr/>
        </p:nvSpPr>
        <p:spPr>
          <a:xfrm>
            <a:off x="2242600" y="3573159"/>
            <a:ext cx="1080000" cy="10800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" sz="1600" dirty="0"/>
          </a:p>
          <a:p>
            <a:pPr algn="ctr"/>
            <a:r>
              <a:rPr lang="es-ES" sz="1600" dirty="0"/>
              <a:t>CAMELSES</a:t>
            </a:r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10B24-61D1-DE6C-5614-29F81EC8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CDEC9-16B0-1510-7377-90C413CF6E46}"/>
              </a:ext>
            </a:extLst>
          </p:cNvPr>
          <p:cNvSpPr txBox="1"/>
          <p:nvPr/>
        </p:nvSpPr>
        <p:spPr>
          <a:xfrm>
            <a:off x="590320" y="1252132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663FD1-DB2A-1CFA-85C1-0495661CD9EB}"/>
              </a:ext>
            </a:extLst>
          </p:cNvPr>
          <p:cNvGrpSpPr>
            <a:grpSpLocks noChangeAspect="1"/>
          </p:cNvGrpSpPr>
          <p:nvPr/>
        </p:nvGrpSpPr>
        <p:grpSpPr>
          <a:xfrm>
            <a:off x="2001144" y="2328380"/>
            <a:ext cx="1620000" cy="1620000"/>
            <a:chOff x="3161352" y="1577119"/>
            <a:chExt cx="2076757" cy="2076757"/>
          </a:xfrm>
        </p:grpSpPr>
        <p:sp>
          <p:nvSpPr>
            <p:cNvPr id="6" name="Oval 5">
              <a:hlinkClick r:id="rId3"/>
              <a:extLst>
                <a:ext uri="{FF2B5EF4-FFF2-40B4-BE49-F238E27FC236}">
                  <a16:creationId xmlns:a16="http://schemas.microsoft.com/office/drawing/2014/main" id="{972660AD-AE0D-7B6E-83E4-2FC31A19CC24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rgbClr val="00968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F41DC661-82FF-79B5-DFCC-190BD223F45D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build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datasets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8AB44F-838A-72F3-B227-D9922D2DFB3A}"/>
              </a:ext>
            </a:extLst>
          </p:cNvPr>
          <p:cNvGrpSpPr>
            <a:grpSpLocks noChangeAspect="1"/>
          </p:cNvGrpSpPr>
          <p:nvPr/>
        </p:nvGrpSpPr>
        <p:grpSpPr>
          <a:xfrm>
            <a:off x="5306320" y="2328380"/>
            <a:ext cx="1620000" cy="1620000"/>
            <a:chOff x="3161352" y="1577119"/>
            <a:chExt cx="2076757" cy="2076757"/>
          </a:xfrm>
        </p:grpSpPr>
        <p:sp>
          <p:nvSpPr>
            <p:cNvPr id="12" name="Oval 11">
              <a:hlinkClick r:id="rId3"/>
              <a:extLst>
                <a:ext uri="{FF2B5EF4-FFF2-40B4-BE49-F238E27FC236}">
                  <a16:creationId xmlns:a16="http://schemas.microsoft.com/office/drawing/2014/main" id="{0C20D223-158A-4FBB-3EEF-D3A368218E67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rgbClr val="00968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4">
              <a:extLst>
                <a:ext uri="{FF2B5EF4-FFF2-40B4-BE49-F238E27FC236}">
                  <a16:creationId xmlns:a16="http://schemas.microsoft.com/office/drawing/2014/main" id="{0BDABA8C-41B4-893F-0569-569EEF43F1A7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dirty="0"/>
                <a:t>benchmark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dirty="0"/>
                <a:t>model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4AF859-9C26-EAF6-6AFA-C71392606B3D}"/>
              </a:ext>
            </a:extLst>
          </p:cNvPr>
          <p:cNvGrpSpPr>
            <a:grpSpLocks noChangeAspect="1"/>
          </p:cNvGrpSpPr>
          <p:nvPr/>
        </p:nvGrpSpPr>
        <p:grpSpPr>
          <a:xfrm>
            <a:off x="8614158" y="2328380"/>
            <a:ext cx="1620000" cy="1620000"/>
            <a:chOff x="3161352" y="1577119"/>
            <a:chExt cx="2076757" cy="2076757"/>
          </a:xfrm>
        </p:grpSpPr>
        <p:sp>
          <p:nvSpPr>
            <p:cNvPr id="15" name="Oval 14">
              <a:hlinkClick r:id="rId3"/>
              <a:extLst>
                <a:ext uri="{FF2B5EF4-FFF2-40B4-BE49-F238E27FC236}">
                  <a16:creationId xmlns:a16="http://schemas.microsoft.com/office/drawing/2014/main" id="{7DF70423-9291-47AF-4F0C-32C91E097465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rgbClr val="00968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4">
              <a:extLst>
                <a:ext uri="{FF2B5EF4-FFF2-40B4-BE49-F238E27FC236}">
                  <a16:creationId xmlns:a16="http://schemas.microsoft.com/office/drawing/2014/main" id="{B099BF68-8AC8-759B-9549-8337E266560D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dirty="0"/>
                <a:t>WG tail-network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5428657-933B-4DE3-7BF3-C3CC2AF92F43}"/>
              </a:ext>
            </a:extLst>
          </p:cNvPr>
          <p:cNvSpPr/>
          <p:nvPr/>
        </p:nvSpPr>
        <p:spPr>
          <a:xfrm>
            <a:off x="4089991" y="3012561"/>
            <a:ext cx="703213" cy="276447"/>
          </a:xfrm>
          <a:prstGeom prst="rightArrow">
            <a:avLst>
              <a:gd name="adj1" fmla="val 50000"/>
              <a:gd name="adj2" fmla="val 121794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0C3D037-2D7E-76F3-54B6-787BA7FDAF07}"/>
              </a:ext>
            </a:extLst>
          </p:cNvPr>
          <p:cNvSpPr/>
          <p:nvPr/>
        </p:nvSpPr>
        <p:spPr>
          <a:xfrm>
            <a:off x="7493518" y="3026737"/>
            <a:ext cx="703213" cy="276447"/>
          </a:xfrm>
          <a:prstGeom prst="rightArrow">
            <a:avLst>
              <a:gd name="adj1" fmla="val 50000"/>
              <a:gd name="adj2" fmla="val 121794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47F8030-1F4B-9C5C-A17D-342B358E7EED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45" name="Rectangle: Rounded Corners 44">
            <a:hlinkClick r:id="rId4" action="ppaction://hlinksldjump"/>
            <a:extLst>
              <a:ext uri="{FF2B5EF4-FFF2-40B4-BE49-F238E27FC236}">
                <a16:creationId xmlns:a16="http://schemas.microsoft.com/office/drawing/2014/main" id="{367050C7-8D18-B6FD-7096-1209738EDA4A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46" name="Rectangle: Rounded Corners 45">
            <a:hlinkClick r:id="rId5" action="ppaction://hlinksldjump"/>
            <a:extLst>
              <a:ext uri="{FF2B5EF4-FFF2-40B4-BE49-F238E27FC236}">
                <a16:creationId xmlns:a16="http://schemas.microsoft.com/office/drawing/2014/main" id="{FE9124AA-8440-0F37-C3D2-083C771C08D3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47" name="Rectangle: Rounded Corners 46">
            <a:hlinkClick r:id="rId6" action="ppaction://hlinksldjump"/>
            <a:extLst>
              <a:ext uri="{FF2B5EF4-FFF2-40B4-BE49-F238E27FC236}">
                <a16:creationId xmlns:a16="http://schemas.microsoft.com/office/drawing/2014/main" id="{81C64A6A-B3ED-82D3-948C-8C0CD23EBDFB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48" name="Rectangle: Rounded Corners 47">
            <a:hlinkClick r:id="rId7" action="ppaction://hlinksldjump"/>
            <a:extLst>
              <a:ext uri="{FF2B5EF4-FFF2-40B4-BE49-F238E27FC236}">
                <a16:creationId xmlns:a16="http://schemas.microsoft.com/office/drawing/2014/main" id="{1F498BD2-0141-6F82-2BD1-5271E75B481B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1165CA-F20F-3A71-1688-62FCD6798617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81A2483C-6049-FA83-3429-5D4958299B0E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9" name="Picture 18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E5A2CC71-BF1B-4740-5480-F171C8D75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D661B1-90A4-5B7D-212C-35D69663175C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1" name="Picture 20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D696A3EC-A80A-366B-CAF7-E26C39572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309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51BD-3F8B-3EA3-F02F-592CE46D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20ACB-40CA-B217-129C-92055CA1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91D3A-2821-415C-BA2A-502D95D97E66}"/>
              </a:ext>
            </a:extLst>
          </p:cNvPr>
          <p:cNvSpPr txBox="1"/>
          <p:nvPr/>
        </p:nvSpPr>
        <p:spPr>
          <a:xfrm>
            <a:off x="590320" y="1385849"/>
            <a:ext cx="556432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CAMELS-ES v2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 dataset of </a:t>
            </a:r>
            <a:r>
              <a:rPr lang="en-US" sz="1700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river streamflow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in (semi)natural.</a:t>
            </a:r>
          </a:p>
          <a:p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BEAVERS-ES v1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 dataset of reservoir operations: </a:t>
            </a:r>
            <a:r>
              <a:rPr lang="en-US" sz="1700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storage, release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7626BC-FDC6-D5A4-A901-039191A0C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518" y="1543813"/>
            <a:ext cx="5526000" cy="3917287"/>
          </a:xfrm>
          <a:prstGeom prst="rect">
            <a:avLst/>
          </a:prstGeom>
        </p:spPr>
      </p:pic>
      <p:sp>
        <p:nvSpPr>
          <p:cNvPr id="13" name="CuadroTexto 53">
            <a:extLst>
              <a:ext uri="{FF2B5EF4-FFF2-40B4-BE49-F238E27FC236}">
                <a16:creationId xmlns:a16="http://schemas.microsoft.com/office/drawing/2014/main" id="{0ADC0F11-4294-6A46-3407-B4477A243D0E}"/>
              </a:ext>
            </a:extLst>
          </p:cNvPr>
          <p:cNvSpPr/>
          <p:nvPr/>
        </p:nvSpPr>
        <p:spPr>
          <a:xfrm>
            <a:off x="579194" y="2879355"/>
            <a:ext cx="5564324" cy="16605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Sources: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Hydrology: Ministry and River Basin Authorities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Meteorology: </a:t>
            </a: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Historical: ROCIO-IBEB, CERRA-Land, ERA5, EMO1</a:t>
            </a: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Forecast: ECMWF-IFS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/>
              </a:rPr>
              <a:t>Catchment characteristics: </a:t>
            </a:r>
            <a:r>
              <a:rPr lang="en-US" sz="1600" dirty="0" err="1">
                <a:latin typeface="Calibri light"/>
              </a:rPr>
              <a:t>HydroATLAS</a:t>
            </a:r>
            <a:r>
              <a:rPr lang="en-US" sz="1600" dirty="0">
                <a:latin typeface="Calibri light"/>
              </a:rPr>
              <a:t>, EFAS5</a:t>
            </a:r>
          </a:p>
        </p:txBody>
      </p:sp>
      <p:sp>
        <p:nvSpPr>
          <p:cNvPr id="14" name="CuadroTexto 53">
            <a:extLst>
              <a:ext uri="{FF2B5EF4-FFF2-40B4-BE49-F238E27FC236}">
                <a16:creationId xmlns:a16="http://schemas.microsoft.com/office/drawing/2014/main" id="{0634D652-018B-36EB-12D2-CFEAEE3F44BE}"/>
              </a:ext>
            </a:extLst>
          </p:cNvPr>
          <p:cNvSpPr/>
          <p:nvPr/>
        </p:nvSpPr>
        <p:spPr>
          <a:xfrm>
            <a:off x="579194" y="4645930"/>
            <a:ext cx="5564324" cy="1137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Characteristics: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Temporal resolution: daily	(to be increased to hourly)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 light"/>
              </a:rPr>
              <a:t>Period: 1980-2021		(from 2000s at hourly res.)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n-US" sz="1600" dirty="0">
                <a:latin typeface="Calibri light"/>
              </a:rPr>
              <a:t>Selection of good-quality, (semi) natural stations.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A573E-3BE5-C031-FDEF-81CBC6AFA765}"/>
              </a:ext>
            </a:extLst>
          </p:cNvPr>
          <p:cNvSpPr txBox="1"/>
          <p:nvPr/>
        </p:nvSpPr>
        <p:spPr>
          <a:xfrm>
            <a:off x="6747382" y="5448191"/>
            <a:ext cx="4922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Consolas" panose="020B0609020204030204" pitchFamily="49" charset="0"/>
                <a:cs typeface="Calibri Light" panose="020F0302020204030204" pitchFamily="34" charset="0"/>
              </a:rPr>
              <a:t>https://casadoj.github.io/of_camels_and_beavers/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7FCC0F-3B9A-652E-EB6D-AD48F65D9901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24" name="Rectangle: Rounded Corners 23">
            <a:hlinkClick r:id="rId4" action="ppaction://hlinksldjump"/>
            <a:extLst>
              <a:ext uri="{FF2B5EF4-FFF2-40B4-BE49-F238E27FC236}">
                <a16:creationId xmlns:a16="http://schemas.microsoft.com/office/drawing/2014/main" id="{CD411F86-BC22-9CE4-9D91-4F3FF36F0976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: Rounded Corners 26">
            <a:hlinkClick r:id="rId5" action="ppaction://hlinksldjump"/>
            <a:extLst>
              <a:ext uri="{FF2B5EF4-FFF2-40B4-BE49-F238E27FC236}">
                <a16:creationId xmlns:a16="http://schemas.microsoft.com/office/drawing/2014/main" id="{DD7BD85E-F4FF-7C31-5599-9B67E16FB810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28" name="Rectangle: Rounded Corners 27">
            <a:hlinkClick r:id="rId6" action="ppaction://hlinksldjump"/>
            <a:extLst>
              <a:ext uri="{FF2B5EF4-FFF2-40B4-BE49-F238E27FC236}">
                <a16:creationId xmlns:a16="http://schemas.microsoft.com/office/drawing/2014/main" id="{E42B9F12-3EA4-7D3D-6B83-3B5F4CDCA431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32" name="Rectangle: Rounded Corners 31">
            <a:hlinkClick r:id="rId7" action="ppaction://hlinksldjump"/>
            <a:extLst>
              <a:ext uri="{FF2B5EF4-FFF2-40B4-BE49-F238E27FC236}">
                <a16:creationId xmlns:a16="http://schemas.microsoft.com/office/drawing/2014/main" id="{9A74AD0B-2036-365A-60D0-4A4E157BDA38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4AC159-B72E-516F-3C61-5D9EC092BE62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39DA5A89-6331-1652-EBCA-82FFF0A2D726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Picture 7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CADC5C5E-D97B-FF80-640C-AD5488594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17C63F-4CC9-AC34-F20B-A24A7FB6F446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" name="Picture 11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9F465C7D-EF6E-D09D-F4D0-527357BEE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154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9EAC-2B9A-B606-14EB-B7849A3D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5F32C-6C97-CCAB-D905-11962F4B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6D97D-0D12-2C87-EC7A-E980EC5CB19B}"/>
              </a:ext>
            </a:extLst>
          </p:cNvPr>
          <p:cNvSpPr txBox="1"/>
          <p:nvPr/>
        </p:nvSpPr>
        <p:spPr>
          <a:xfrm>
            <a:off x="5654495" y="1624640"/>
            <a:ext cx="59284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Static attributes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dirty="0" err="1">
                <a:latin typeface="Palatino Linotype" panose="02040502050505030304" pitchFamily="18" charset="0"/>
              </a:rPr>
              <a:t>X</a:t>
            </a:r>
            <a:r>
              <a:rPr lang="es-ES" sz="1600" baseline="-25000" dirty="0" err="1">
                <a:latin typeface="Palatino Linotype" panose="02040502050505030304" pitchFamily="18" charset="0"/>
              </a:rPr>
              <a:t>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): geomorphology, land use, soil characteristics, 		climate indices…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06226-CE09-54CF-8E1B-B3A8A635AEF6}"/>
              </a:ext>
            </a:extLst>
          </p:cNvPr>
          <p:cNvSpPr txBox="1"/>
          <p:nvPr/>
        </p:nvSpPr>
        <p:spPr>
          <a:xfrm>
            <a:off x="5654495" y="2867293"/>
            <a:ext cx="555319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9684"/>
                </a:solidFill>
                <a:latin typeface="Calibri light"/>
              </a:rPr>
              <a:t>Limitations and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Lumped model: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Inputs are basic catchment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It doesn’t reproduce regulation (reservoirs, diversions…)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model requires as input the last year of meteorological forcings. How to plug in the WG?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8AD6AD4-B3F2-EA70-46DF-F9BC7EE633CC}"/>
              </a:ext>
            </a:extLst>
          </p:cNvPr>
          <p:cNvGrpSpPr/>
          <p:nvPr/>
        </p:nvGrpSpPr>
        <p:grpSpPr>
          <a:xfrm>
            <a:off x="838200" y="1684531"/>
            <a:ext cx="4587696" cy="3554997"/>
            <a:chOff x="5123566" y="1985071"/>
            <a:chExt cx="4587696" cy="3554997"/>
          </a:xfrm>
        </p:grpSpPr>
        <p:grpSp>
          <p:nvGrpSpPr>
            <p:cNvPr id="2" name="Grupo 271">
              <a:extLst>
                <a:ext uri="{FF2B5EF4-FFF2-40B4-BE49-F238E27FC236}">
                  <a16:creationId xmlns:a16="http://schemas.microsoft.com/office/drawing/2014/main" id="{360399A9-C974-6A94-9C13-ABD7C898AB25}"/>
                </a:ext>
              </a:extLst>
            </p:cNvPr>
            <p:cNvGrpSpPr/>
            <p:nvPr/>
          </p:nvGrpSpPr>
          <p:grpSpPr>
            <a:xfrm>
              <a:off x="5931177" y="3039838"/>
              <a:ext cx="1440000" cy="1236685"/>
              <a:chOff x="3929140" y="2907883"/>
              <a:chExt cx="1440000" cy="1236685"/>
            </a:xfrm>
          </p:grpSpPr>
          <p:sp>
            <p:nvSpPr>
              <p:cNvPr id="6" name="Rectángulo: esquinas redondeadas 272">
                <a:extLst>
                  <a:ext uri="{FF2B5EF4-FFF2-40B4-BE49-F238E27FC236}">
                    <a16:creationId xmlns:a16="http://schemas.microsoft.com/office/drawing/2014/main" id="{01910001-0E9A-576A-689D-0D6BD52BDDFF}"/>
                  </a:ext>
                </a:extLst>
              </p:cNvPr>
              <p:cNvSpPr/>
              <p:nvPr/>
            </p:nvSpPr>
            <p:spPr>
              <a:xfrm>
                <a:off x="3929140" y="2910282"/>
                <a:ext cx="1440000" cy="1234286"/>
              </a:xfrm>
              <a:prstGeom prst="roundRect">
                <a:avLst>
                  <a:gd name="adj" fmla="val 119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8" name="Conector recto de flecha 273">
                <a:extLst>
                  <a:ext uri="{FF2B5EF4-FFF2-40B4-BE49-F238E27FC236}">
                    <a16:creationId xmlns:a16="http://schemas.microsoft.com/office/drawing/2014/main" id="{B841F34D-5BAB-2BEA-08F4-E83FBCA81380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>
                <a:off x="3929140" y="3116434"/>
                <a:ext cx="374637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r 274">
                <a:extLst>
                  <a:ext uri="{FF2B5EF4-FFF2-40B4-BE49-F238E27FC236}">
                    <a16:creationId xmlns:a16="http://schemas.microsoft.com/office/drawing/2014/main" id="{F4B84ACF-AFCE-C1F6-6CFD-A9F174A9D2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9140" y="3568568"/>
                <a:ext cx="1037285" cy="367448"/>
              </a:xfrm>
              <a:prstGeom prst="bentConnector3">
                <a:avLst>
                  <a:gd name="adj1" fmla="val 9990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ipse 275">
                <a:extLst>
                  <a:ext uri="{FF2B5EF4-FFF2-40B4-BE49-F238E27FC236}">
                    <a16:creationId xmlns:a16="http://schemas.microsoft.com/office/drawing/2014/main" id="{D0727588-4351-9D0F-372B-7FAE83F753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3777" y="3075291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Elipse 276">
                <a:extLst>
                  <a:ext uri="{FF2B5EF4-FFF2-40B4-BE49-F238E27FC236}">
                    <a16:creationId xmlns:a16="http://schemas.microsoft.com/office/drawing/2014/main" id="{DC1936A2-B485-4711-36F5-A677214EA8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3929" y="3490225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Elipse 277">
                <a:extLst>
                  <a:ext uri="{FF2B5EF4-FFF2-40B4-BE49-F238E27FC236}">
                    <a16:creationId xmlns:a16="http://schemas.microsoft.com/office/drawing/2014/main" id="{2C26656E-4B34-46A0-20D8-DCF02EDB31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6931" y="3076568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Elipse 278">
                <a:extLst>
                  <a:ext uri="{FF2B5EF4-FFF2-40B4-BE49-F238E27FC236}">
                    <a16:creationId xmlns:a16="http://schemas.microsoft.com/office/drawing/2014/main" id="{5721E64C-49E9-5E63-62CE-5A372D9C5C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5283" y="3486282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Conector recto de flecha 279">
                <a:extLst>
                  <a:ext uri="{FF2B5EF4-FFF2-40B4-BE49-F238E27FC236}">
                    <a16:creationId xmlns:a16="http://schemas.microsoft.com/office/drawing/2014/main" id="{A4BB0662-BBA4-21DA-EB96-EBD243DEBCFE}"/>
                  </a:ext>
                </a:extLst>
              </p:cNvPr>
              <p:cNvCxnSpPr>
                <a:cxnSpLocks/>
                <a:stCxn id="14" idx="6"/>
                <a:endCxn id="16" idx="2"/>
              </p:cNvCxnSpPr>
              <p:nvPr/>
            </p:nvCxnSpPr>
            <p:spPr>
              <a:xfrm>
                <a:off x="4386063" y="3116434"/>
                <a:ext cx="330869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: angular 280">
                <a:extLst>
                  <a:ext uri="{FF2B5EF4-FFF2-40B4-BE49-F238E27FC236}">
                    <a16:creationId xmlns:a16="http://schemas.microsoft.com/office/drawing/2014/main" id="{A76598FC-8E62-3F24-8859-2FD3D5D352BC}"/>
                  </a:ext>
                </a:extLst>
              </p:cNvPr>
              <p:cNvCxnSpPr>
                <a:cxnSpLocks/>
                <a:endCxn id="15" idx="4"/>
              </p:cNvCxnSpPr>
              <p:nvPr/>
            </p:nvCxnSpPr>
            <p:spPr>
              <a:xfrm flipV="1">
                <a:off x="3929140" y="3572511"/>
                <a:ext cx="825931" cy="363505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: angular 281">
                <a:extLst>
                  <a:ext uri="{FF2B5EF4-FFF2-40B4-BE49-F238E27FC236}">
                    <a16:creationId xmlns:a16="http://schemas.microsoft.com/office/drawing/2014/main" id="{A4C1FA63-D6AC-212A-05C3-E50DD403AC98}"/>
                  </a:ext>
                </a:extLst>
              </p:cNvPr>
              <p:cNvCxnSpPr>
                <a:cxnSpLocks/>
                <a:stCxn id="28" idx="3"/>
                <a:endCxn id="14" idx="4"/>
              </p:cNvCxnSpPr>
              <p:nvPr/>
            </p:nvCxnSpPr>
            <p:spPr>
              <a:xfrm flipV="1">
                <a:off x="4249700" y="3157577"/>
                <a:ext cx="95220" cy="777350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82">
                <a:extLst>
                  <a:ext uri="{FF2B5EF4-FFF2-40B4-BE49-F238E27FC236}">
                    <a16:creationId xmlns:a16="http://schemas.microsoft.com/office/drawing/2014/main" id="{D8DA23C5-95CC-349C-31D7-F7BA0CAF48E0}"/>
                  </a:ext>
                </a:extLst>
              </p:cNvPr>
              <p:cNvCxnSpPr>
                <a:cxnSpLocks/>
                <a:stCxn id="15" idx="0"/>
                <a:endCxn id="16" idx="4"/>
              </p:cNvCxnSpPr>
              <p:nvPr/>
            </p:nvCxnSpPr>
            <p:spPr>
              <a:xfrm flipV="1">
                <a:off x="4755071" y="3158854"/>
                <a:ext cx="3003" cy="331371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83">
                <a:extLst>
                  <a:ext uri="{FF2B5EF4-FFF2-40B4-BE49-F238E27FC236}">
                    <a16:creationId xmlns:a16="http://schemas.microsoft.com/office/drawing/2014/main" id="{1E2B0C9E-35E0-F352-B880-9E228E25124C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V="1">
                <a:off x="4799217" y="3116434"/>
                <a:ext cx="569923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: angular 284">
                <a:extLst>
                  <a:ext uri="{FF2B5EF4-FFF2-40B4-BE49-F238E27FC236}">
                    <a16:creationId xmlns:a16="http://schemas.microsoft.com/office/drawing/2014/main" id="{1C124652-DFEA-99E5-3C5F-353354E7FE67}"/>
                  </a:ext>
                </a:extLst>
              </p:cNvPr>
              <p:cNvCxnSpPr>
                <a:cxnSpLocks/>
                <a:stCxn id="16" idx="6"/>
                <a:endCxn id="18" idx="0"/>
              </p:cNvCxnSpPr>
              <p:nvPr/>
            </p:nvCxnSpPr>
            <p:spPr>
              <a:xfrm>
                <a:off x="4799217" y="3117711"/>
                <a:ext cx="167208" cy="368571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: angular 285">
                <a:extLst>
                  <a:ext uri="{FF2B5EF4-FFF2-40B4-BE49-F238E27FC236}">
                    <a16:creationId xmlns:a16="http://schemas.microsoft.com/office/drawing/2014/main" id="{BA887FD9-F167-D0AC-F085-6F937705DF3F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8" y="3527425"/>
                <a:ext cx="361572" cy="413429"/>
              </a:xfrm>
              <a:prstGeom prst="bentConnector3">
                <a:avLst>
                  <a:gd name="adj1" fmla="val 44648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ángulo 286">
                <a:extLst>
                  <a:ext uri="{FF2B5EF4-FFF2-40B4-BE49-F238E27FC236}">
                    <a16:creationId xmlns:a16="http://schemas.microsoft.com/office/drawing/2014/main" id="{0082EBDA-012C-C091-F43E-6D6268D516DA}"/>
                  </a:ext>
                </a:extLst>
              </p:cNvPr>
              <p:cNvSpPr/>
              <p:nvPr/>
            </p:nvSpPr>
            <p:spPr>
              <a:xfrm>
                <a:off x="4217640" y="3850288"/>
                <a:ext cx="32060" cy="1692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 </a:t>
                </a:r>
                <a:endParaRPr lang="en-GB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ángulo 287">
                <a:extLst>
                  <a:ext uri="{FF2B5EF4-FFF2-40B4-BE49-F238E27FC236}">
                    <a16:creationId xmlns:a16="http://schemas.microsoft.com/office/drawing/2014/main" id="{27D8ED2A-7B1B-6F30-8418-0EF0D5728651}"/>
                  </a:ext>
                </a:extLst>
              </p:cNvPr>
              <p:cNvSpPr/>
              <p:nvPr/>
            </p:nvSpPr>
            <p:spPr>
              <a:xfrm>
                <a:off x="4626504" y="3654795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3" name="Rectángulo 288">
                <a:extLst>
                  <a:ext uri="{FF2B5EF4-FFF2-40B4-BE49-F238E27FC236}">
                    <a16:creationId xmlns:a16="http://schemas.microsoft.com/office/drawing/2014/main" id="{9B0721EA-BAFC-9336-F732-39DFA189159E}"/>
                  </a:ext>
                </a:extLst>
              </p:cNvPr>
              <p:cNvSpPr/>
              <p:nvPr/>
            </p:nvSpPr>
            <p:spPr>
              <a:xfrm>
                <a:off x="4927953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4" name="Rectángulo 289">
                <a:extLst>
                  <a:ext uri="{FF2B5EF4-FFF2-40B4-BE49-F238E27FC236}">
                    <a16:creationId xmlns:a16="http://schemas.microsoft.com/office/drawing/2014/main" id="{86BDC087-2A10-D964-A723-6EC03AF33B0F}"/>
                  </a:ext>
                </a:extLst>
              </p:cNvPr>
              <p:cNvSpPr/>
              <p:nvPr/>
            </p:nvSpPr>
            <p:spPr>
              <a:xfrm>
                <a:off x="4838186" y="3235882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cxnSp>
            <p:nvCxnSpPr>
              <p:cNvPr id="35" name="Conector: angular 290">
                <a:extLst>
                  <a:ext uri="{FF2B5EF4-FFF2-40B4-BE49-F238E27FC236}">
                    <a16:creationId xmlns:a16="http://schemas.microsoft.com/office/drawing/2014/main" id="{7885087B-1C69-1A44-1D46-9E7B6A189174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9" y="3527425"/>
                <a:ext cx="161331" cy="617143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: angular 291">
                <a:extLst>
                  <a:ext uri="{FF2B5EF4-FFF2-40B4-BE49-F238E27FC236}">
                    <a16:creationId xmlns:a16="http://schemas.microsoft.com/office/drawing/2014/main" id="{82DA55B7-84CC-9037-9F80-3FCFB636B759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 rot="16200000" flipH="1">
                <a:off x="3671065" y="3388351"/>
                <a:ext cx="1027043" cy="66108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: angular 292">
                <a:extLst>
                  <a:ext uri="{FF2B5EF4-FFF2-40B4-BE49-F238E27FC236}">
                    <a16:creationId xmlns:a16="http://schemas.microsoft.com/office/drawing/2014/main" id="{20C68374-4A65-186A-E998-26F6A4922088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3929140" y="3531368"/>
                <a:ext cx="784789" cy="404648"/>
              </a:xfrm>
              <a:prstGeom prst="bentConnector3">
                <a:avLst>
                  <a:gd name="adj1" fmla="val 7866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ángulo 293">
                <a:extLst>
                  <a:ext uri="{FF2B5EF4-FFF2-40B4-BE49-F238E27FC236}">
                    <a16:creationId xmlns:a16="http://schemas.microsoft.com/office/drawing/2014/main" id="{1BB10372-4667-FB03-494E-243F3652B526}"/>
                  </a:ext>
                </a:extLst>
              </p:cNvPr>
              <p:cNvSpPr/>
              <p:nvPr/>
            </p:nvSpPr>
            <p:spPr>
              <a:xfrm>
                <a:off x="4509094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9" name="Rectángulo 294">
                <a:extLst>
                  <a:ext uri="{FF2B5EF4-FFF2-40B4-BE49-F238E27FC236}">
                    <a16:creationId xmlns:a16="http://schemas.microsoft.com/office/drawing/2014/main" id="{45A8823D-A577-98D7-C05D-5C082A973A7B}"/>
                  </a:ext>
                </a:extLst>
              </p:cNvPr>
              <p:cNvSpPr/>
              <p:nvPr/>
            </p:nvSpPr>
            <p:spPr>
              <a:xfrm>
                <a:off x="4306449" y="3647101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</p:grpSp>
        <p:sp>
          <p:nvSpPr>
            <p:cNvPr id="40" name="Rectángulo: esquinas redondeadas 7">
              <a:extLst>
                <a:ext uri="{FF2B5EF4-FFF2-40B4-BE49-F238E27FC236}">
                  <a16:creationId xmlns:a16="http://schemas.microsoft.com/office/drawing/2014/main" id="{F93B3C63-7025-4B2F-0867-6CA55A0D9C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0111" y="5258050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1" name="Rectángulo: esquinas redondeadas 8">
              <a:extLst>
                <a:ext uri="{FF2B5EF4-FFF2-40B4-BE49-F238E27FC236}">
                  <a16:creationId xmlns:a16="http://schemas.microsoft.com/office/drawing/2014/main" id="{76DE982F-B7DD-B21A-7C7C-EEAA9E9E74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3566" y="5231798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2" name="Rectángulo: esquinas redondeadas 299">
              <a:extLst>
                <a:ext uri="{FF2B5EF4-FFF2-40B4-BE49-F238E27FC236}">
                  <a16:creationId xmlns:a16="http://schemas.microsoft.com/office/drawing/2014/main" id="{D0B1CCF3-7F7A-4D01-6A4C-B427EDCC0263}"/>
                </a:ext>
              </a:extLst>
            </p:cNvPr>
            <p:cNvSpPr/>
            <p:nvPr/>
          </p:nvSpPr>
          <p:spPr>
            <a:xfrm rot="5400000">
              <a:off x="5704421" y="4165215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3" name="Rectángulo: esquinas redondeadas 299">
              <a:extLst>
                <a:ext uri="{FF2B5EF4-FFF2-40B4-BE49-F238E27FC236}">
                  <a16:creationId xmlns:a16="http://schemas.microsoft.com/office/drawing/2014/main" id="{A386252D-CE2F-7605-A518-63C731A6567C}"/>
                </a:ext>
              </a:extLst>
            </p:cNvPr>
            <p:cNvSpPr/>
            <p:nvPr/>
          </p:nvSpPr>
          <p:spPr>
            <a:xfrm rot="5400000">
              <a:off x="7310966" y="4154814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ángulo: esquinas redondeadas 299">
              <a:extLst>
                <a:ext uri="{FF2B5EF4-FFF2-40B4-BE49-F238E27FC236}">
                  <a16:creationId xmlns:a16="http://schemas.microsoft.com/office/drawing/2014/main" id="{57E19C86-DFEE-CCC0-569C-C23F6DB82E4F}"/>
                </a:ext>
              </a:extLst>
            </p:cNvPr>
            <p:cNvSpPr/>
            <p:nvPr/>
          </p:nvSpPr>
          <p:spPr>
            <a:xfrm rot="5400000">
              <a:off x="6512032" y="1955499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Rectángulo: esquinas redondeadas 8">
              <a:extLst>
                <a:ext uri="{FF2B5EF4-FFF2-40B4-BE49-F238E27FC236}">
                  <a16:creationId xmlns:a16="http://schemas.microsoft.com/office/drawing/2014/main" id="{18800498-B995-AD71-A4C0-AA33274CB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1177" y="1985071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dirty="0" err="1">
                  <a:latin typeface="Palatino Linotype" panose="02040502050505030304" pitchFamily="18" charset="0"/>
                </a:rPr>
                <a:t>Y</a:t>
              </a:r>
              <a:r>
                <a:rPr lang="es-ES" baseline="-25000" dirty="0" err="1">
                  <a:latin typeface="Palatino Linotype" panose="02040502050505030304" pitchFamily="18" charset="0"/>
                </a:rPr>
                <a:t>t</a:t>
              </a:r>
              <a:endParaRPr lang="en-GB" baseline="-25000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52" name="Conector recto de flecha 297">
              <a:extLst>
                <a:ext uri="{FF2B5EF4-FFF2-40B4-BE49-F238E27FC236}">
                  <a16:creationId xmlns:a16="http://schemas.microsoft.com/office/drawing/2014/main" id="{02D1CAD9-F2B7-077E-661F-79EA0C60747F}"/>
                </a:ext>
              </a:extLst>
            </p:cNvPr>
            <p:cNvCxnSpPr>
              <a:cxnSpLocks/>
              <a:stCxn id="41" idx="0"/>
              <a:endCxn id="42" idx="3"/>
            </p:cNvCxnSpPr>
            <p:nvPr/>
          </p:nvCxnSpPr>
          <p:spPr>
            <a:xfrm flipV="1">
              <a:off x="5843566" y="5024360"/>
              <a:ext cx="1255" cy="207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297">
              <a:extLst>
                <a:ext uri="{FF2B5EF4-FFF2-40B4-BE49-F238E27FC236}">
                  <a16:creationId xmlns:a16="http://schemas.microsoft.com/office/drawing/2014/main" id="{208658D6-5FA9-2295-C887-4A28FBB85DBB}"/>
                </a:ext>
              </a:extLst>
            </p:cNvPr>
            <p:cNvCxnSpPr>
              <a:cxnSpLocks/>
              <a:stCxn id="40" idx="0"/>
              <a:endCxn id="43" idx="3"/>
            </p:cNvCxnSpPr>
            <p:nvPr/>
          </p:nvCxnSpPr>
          <p:spPr>
            <a:xfrm flipV="1">
              <a:off x="7450111" y="5013959"/>
              <a:ext cx="1255" cy="2440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87CCBCC6-6F8B-3FEA-E578-475B28B382FF}"/>
                </a:ext>
              </a:extLst>
            </p:cNvPr>
            <p:cNvCxnSpPr>
              <a:stCxn id="43" idx="1"/>
              <a:endCxn id="6" idx="2"/>
            </p:cNvCxnSpPr>
            <p:nvPr/>
          </p:nvCxnSpPr>
          <p:spPr>
            <a:xfrm rot="16200000" flipV="1">
              <a:off x="6822954" y="4104746"/>
              <a:ext cx="456636" cy="800189"/>
            </a:xfrm>
            <a:prstGeom prst="bentConnector5">
              <a:avLst>
                <a:gd name="adj1" fmla="val 50062"/>
                <a:gd name="adj2" fmla="val 158"/>
                <a:gd name="adj3" fmla="val 49938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97">
              <a:extLst>
                <a:ext uri="{FF2B5EF4-FFF2-40B4-BE49-F238E27FC236}">
                  <a16:creationId xmlns:a16="http://schemas.microsoft.com/office/drawing/2014/main" id="{9369A31E-0CCC-3B17-2BC5-1CD6FDF84090}"/>
                </a:ext>
              </a:extLst>
            </p:cNvPr>
            <p:cNvCxnSpPr>
              <a:cxnSpLocks/>
              <a:stCxn id="6" idx="0"/>
              <a:endCxn id="44" idx="3"/>
            </p:cNvCxnSpPr>
            <p:nvPr/>
          </p:nvCxnSpPr>
          <p:spPr>
            <a:xfrm flipV="1">
              <a:off x="6651177" y="2814644"/>
              <a:ext cx="1255" cy="2275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297">
              <a:extLst>
                <a:ext uri="{FF2B5EF4-FFF2-40B4-BE49-F238E27FC236}">
                  <a16:creationId xmlns:a16="http://schemas.microsoft.com/office/drawing/2014/main" id="{11CF63A7-81F7-97AE-4202-844EABB4E38B}"/>
                </a:ext>
              </a:extLst>
            </p:cNvPr>
            <p:cNvCxnSpPr>
              <a:cxnSpLocks/>
              <a:stCxn id="44" idx="1"/>
              <a:endCxn id="45" idx="2"/>
            </p:cNvCxnSpPr>
            <p:nvPr/>
          </p:nvCxnSpPr>
          <p:spPr>
            <a:xfrm flipH="1" flipV="1">
              <a:off x="6651177" y="2267089"/>
              <a:ext cx="1255" cy="266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334">
              <a:extLst>
                <a:ext uri="{FF2B5EF4-FFF2-40B4-BE49-F238E27FC236}">
                  <a16:creationId xmlns:a16="http://schemas.microsoft.com/office/drawing/2014/main" id="{AD60952A-5C51-0AA0-2E27-31DCA2A62431}"/>
                </a:ext>
              </a:extLst>
            </p:cNvPr>
            <p:cNvSpPr txBox="1"/>
            <p:nvPr/>
          </p:nvSpPr>
          <p:spPr>
            <a:xfrm>
              <a:off x="8221462" y="3530799"/>
              <a:ext cx="1489800" cy="2559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LSTM</a:t>
              </a:r>
            </a:p>
          </p:txBody>
        </p:sp>
        <p:sp>
          <p:nvSpPr>
            <p:cNvPr id="76" name="CuadroTexto 334">
              <a:extLst>
                <a:ext uri="{FF2B5EF4-FFF2-40B4-BE49-F238E27FC236}">
                  <a16:creationId xmlns:a16="http://schemas.microsoft.com/office/drawing/2014/main" id="{5D20F229-27F5-8793-2642-34EDB00CD235}"/>
                </a:ext>
              </a:extLst>
            </p:cNvPr>
            <p:cNvSpPr txBox="1"/>
            <p:nvPr/>
          </p:nvSpPr>
          <p:spPr>
            <a:xfrm>
              <a:off x="8221462" y="4751581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embeddings</a:t>
              </a:r>
            </a:p>
          </p:txBody>
        </p:sp>
        <p:sp>
          <p:nvSpPr>
            <p:cNvPr id="77" name="CuadroTexto 334">
              <a:extLst>
                <a:ext uri="{FF2B5EF4-FFF2-40B4-BE49-F238E27FC236}">
                  <a16:creationId xmlns:a16="http://schemas.microsoft.com/office/drawing/2014/main" id="{B969E217-8A03-CE80-F4DD-B0E227AD741D}"/>
                </a:ext>
              </a:extLst>
            </p:cNvPr>
            <p:cNvSpPr txBox="1"/>
            <p:nvPr/>
          </p:nvSpPr>
          <p:spPr>
            <a:xfrm>
              <a:off x="8221462" y="2551133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head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3F4ACF7E-F4A8-7D92-E837-6ABC8B25499D}"/>
                </a:ext>
              </a:extLst>
            </p:cNvPr>
            <p:cNvCxnSpPr>
              <a:stCxn id="42" idx="1"/>
              <a:endCxn id="6" idx="2"/>
            </p:cNvCxnSpPr>
            <p:nvPr/>
          </p:nvCxnSpPr>
          <p:spPr>
            <a:xfrm rot="5400000" flipH="1" flipV="1">
              <a:off x="6014481" y="4106864"/>
              <a:ext cx="467037" cy="806356"/>
            </a:xfrm>
            <a:prstGeom prst="bentConnector5">
              <a:avLst>
                <a:gd name="adj1" fmla="val 48947"/>
                <a:gd name="adj2" fmla="val 922"/>
                <a:gd name="adj3" fmla="val 51053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099B0D84-DAFD-BD06-3373-46BA5A9A87EC}"/>
              </a:ext>
            </a:extLst>
          </p:cNvPr>
          <p:cNvSpPr txBox="1"/>
          <p:nvPr/>
        </p:nvSpPr>
        <p:spPr>
          <a:xfrm>
            <a:off x="5646396" y="2123127"/>
            <a:ext cx="59284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Dynamic inputs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dirty="0" err="1">
                <a:latin typeface="Palatino Linotype" panose="02040502050505030304" pitchFamily="18" charset="0"/>
              </a:rPr>
              <a:t>X</a:t>
            </a:r>
            <a:r>
              <a:rPr lang="es-ES" sz="1600" baseline="-25000" dirty="0" err="1">
                <a:latin typeface="Palatino Linotype" panose="02040502050505030304" pitchFamily="18" charset="0"/>
              </a:rPr>
              <a:t>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): meteorology, temporal encoders, water 			demand…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1C72B6D-FA83-D5FA-8F14-2D54F1A78096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51" name="Rectangle: Rounded Corners 50">
            <a:hlinkClick r:id="rId2" action="ppaction://hlinksldjump"/>
            <a:extLst>
              <a:ext uri="{FF2B5EF4-FFF2-40B4-BE49-F238E27FC236}">
                <a16:creationId xmlns:a16="http://schemas.microsoft.com/office/drawing/2014/main" id="{CEDA971E-4C9A-C8AB-1AD4-9D77E2DF8443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53" name="Rectangle: Rounded Corners 52">
            <a:hlinkClick r:id="rId3" action="ppaction://hlinksldjump"/>
            <a:extLst>
              <a:ext uri="{FF2B5EF4-FFF2-40B4-BE49-F238E27FC236}">
                <a16:creationId xmlns:a16="http://schemas.microsoft.com/office/drawing/2014/main" id="{FCA81C3F-0928-5396-C1A3-C23B56766745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54" name="Rectangle: Rounded Corners 53">
            <a:hlinkClick r:id="rId4" action="ppaction://hlinksldjump"/>
            <a:extLst>
              <a:ext uri="{FF2B5EF4-FFF2-40B4-BE49-F238E27FC236}">
                <a16:creationId xmlns:a16="http://schemas.microsoft.com/office/drawing/2014/main" id="{8CF92357-ACD8-4726-F530-BA73AE121BE7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55" name="Rectangle: Rounded Corners 54">
            <a:hlinkClick r:id="rId5" action="ppaction://hlinksldjump"/>
            <a:extLst>
              <a:ext uri="{FF2B5EF4-FFF2-40B4-BE49-F238E27FC236}">
                <a16:creationId xmlns:a16="http://schemas.microsoft.com/office/drawing/2014/main" id="{949FA854-1F9B-C6B6-F73D-F84CD8E02C18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A895A-C35D-BE16-2C4A-102C82FAC219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08AC13FE-63F4-A362-20A0-07F8C673F170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733B1BC8-53CF-5462-D1B4-96B0B55C1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71E123-1592-E4E6-896C-5431234B9094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D493A149-D264-15FC-606B-DCEDEF43D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693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0EE0-018E-0BAD-DCF6-86A7226B5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089DBF0-F843-1291-4490-F57285D9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7"/>
          <a:stretch/>
        </p:blipFill>
        <p:spPr>
          <a:xfrm>
            <a:off x="5887164" y="1657894"/>
            <a:ext cx="5760000" cy="38254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F26B3B-49D0-BE4D-0E6E-A0874B5A7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628" y="1614085"/>
            <a:ext cx="5760000" cy="38638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6F242F-5E83-F4DB-55BB-A82E57724A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0"/>
          <a:stretch/>
        </p:blipFill>
        <p:spPr>
          <a:xfrm>
            <a:off x="5889940" y="1650275"/>
            <a:ext cx="5760000" cy="38254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CCAC0-89E8-A66C-6534-E2272B29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00FF8-6B17-78DE-95D6-5F4AE0C20D4D}"/>
              </a:ext>
            </a:extLst>
          </p:cNvPr>
          <p:cNvSpPr txBox="1"/>
          <p:nvPr/>
        </p:nvSpPr>
        <p:spPr>
          <a:xfrm>
            <a:off x="590320" y="1252132"/>
            <a:ext cx="5741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0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lumped to semi-distributed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22B55-DA5C-7C2E-C763-7519A1150F69}"/>
              </a:ext>
            </a:extLst>
          </p:cNvPr>
          <p:cNvSpPr txBox="1"/>
          <p:nvPr/>
        </p:nvSpPr>
        <p:spPr>
          <a:xfrm>
            <a:off x="585639" y="2327561"/>
            <a:ext cx="555319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National scale: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 LSTM models </a:t>
            </a:r>
            <a:r>
              <a:rPr lang="en-US" sz="17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(semi)natural </a:t>
            </a:r>
            <a:r>
              <a:rPr lang="en-US" sz="1700" b="1" dirty="0" err="1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subcatchment</a:t>
            </a:r>
            <a:r>
              <a:rPr lang="en-US" sz="17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hydrology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17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CAMELS-ES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 different LSTM models </a:t>
            </a:r>
            <a:r>
              <a:rPr lang="en-US" sz="1700" b="1" dirty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reservoir management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1700" b="1" dirty="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BEAVERS-ES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Regional scale: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 GNN reproduces the catchment topology.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A58671-517B-D6C4-E1C6-FCE5F1C99529}"/>
              </a:ext>
            </a:extLst>
          </p:cNvPr>
          <p:cNvCxnSpPr/>
          <p:nvPr/>
        </p:nvCxnSpPr>
        <p:spPr>
          <a:xfrm>
            <a:off x="7353837" y="38443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05826A-2068-1B38-09D2-8FD2CBF2FD99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36" name="Rectangle: Rounded Corners 35">
            <a:hlinkClick r:id="rId5" action="ppaction://hlinksldjump"/>
            <a:extLst>
              <a:ext uri="{FF2B5EF4-FFF2-40B4-BE49-F238E27FC236}">
                <a16:creationId xmlns:a16="http://schemas.microsoft.com/office/drawing/2014/main" id="{EB028420-0E62-3AEA-1327-DF2E9EC479C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37" name="Rectangle: Rounded Corners 36">
            <a:hlinkClick r:id="rId6" action="ppaction://hlinksldjump"/>
            <a:extLst>
              <a:ext uri="{FF2B5EF4-FFF2-40B4-BE49-F238E27FC236}">
                <a16:creationId xmlns:a16="http://schemas.microsoft.com/office/drawing/2014/main" id="{D7A48916-714A-66B0-ED81-1C3D1A8148BF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38" name="Rectangle: Rounded Corners 37">
            <a:hlinkClick r:id="rId7" action="ppaction://hlinksldjump"/>
            <a:extLst>
              <a:ext uri="{FF2B5EF4-FFF2-40B4-BE49-F238E27FC236}">
                <a16:creationId xmlns:a16="http://schemas.microsoft.com/office/drawing/2014/main" id="{5670BF62-E044-621D-9F10-C8A207DC1BBD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39" name="Rectangle: Rounded Corners 38">
            <a:hlinkClick r:id="rId8" action="ppaction://hlinksldjump"/>
            <a:extLst>
              <a:ext uri="{FF2B5EF4-FFF2-40B4-BE49-F238E27FC236}">
                <a16:creationId xmlns:a16="http://schemas.microsoft.com/office/drawing/2014/main" id="{4AA87255-6B00-908C-0DA1-DB155DE960E6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E67E6-6761-BEF0-0CF5-04840869AD3A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6" name="Left Bracket 5">
              <a:extLst>
                <a:ext uri="{FF2B5EF4-FFF2-40B4-BE49-F238E27FC236}">
                  <a16:creationId xmlns:a16="http://schemas.microsoft.com/office/drawing/2014/main" id="{1DEFD0EE-6EDB-D6C0-674C-6150FF34A093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AD23A80B-7596-694D-8F8C-FC6F68C02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E12955-8126-BA1B-60F7-4AD9D5DAB684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" name="Picture 11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A086EEEA-F146-E690-FC27-305885E28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438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A643-4867-ED3D-91C7-8D1A8EBF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BA8E5-CA1B-EC6F-0F0E-F8DEB8F5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2D286E-6260-2B81-C736-8A416E1C26A4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15" name="Rectangle: Rounded Corners 14">
            <a:hlinkClick r:id="rId2" action="ppaction://hlinksldjump"/>
            <a:extLst>
              <a:ext uri="{FF2B5EF4-FFF2-40B4-BE49-F238E27FC236}">
                <a16:creationId xmlns:a16="http://schemas.microsoft.com/office/drawing/2014/main" id="{971AED32-E863-1D8C-333C-31D3FE897BEA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16" name="Rectangle: Rounded Corners 15">
            <a:hlinkClick r:id="rId3" action="ppaction://hlinksldjump"/>
            <a:extLst>
              <a:ext uri="{FF2B5EF4-FFF2-40B4-BE49-F238E27FC236}">
                <a16:creationId xmlns:a16="http://schemas.microsoft.com/office/drawing/2014/main" id="{A3C19FC7-1851-590C-ED9E-AD5A7C29B1E2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8" name="Rectangle: Rounded Corners 17">
            <a:hlinkClick r:id="rId4" action="ppaction://hlinksldjump"/>
            <a:extLst>
              <a:ext uri="{FF2B5EF4-FFF2-40B4-BE49-F238E27FC236}">
                <a16:creationId xmlns:a16="http://schemas.microsoft.com/office/drawing/2014/main" id="{D9D2BACC-36AB-850D-41DC-47B4AA9866CA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</a:p>
        </p:txBody>
      </p:sp>
      <p:sp>
        <p:nvSpPr>
          <p:cNvPr id="19" name="Rectangle: Rounded Corners 18">
            <a:hlinkClick r:id="rId5" action="ppaction://hlinksldjump"/>
            <a:extLst>
              <a:ext uri="{FF2B5EF4-FFF2-40B4-BE49-F238E27FC236}">
                <a16:creationId xmlns:a16="http://schemas.microsoft.com/office/drawing/2014/main" id="{38D2291D-5F7A-81CB-FD7F-261CCB2F6028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770F5-5585-BA3F-5678-B15646018738}"/>
              </a:ext>
            </a:extLst>
          </p:cNvPr>
          <p:cNvSpPr txBox="1"/>
          <p:nvPr/>
        </p:nvSpPr>
        <p:spPr>
          <a:xfrm>
            <a:off x="590320" y="1252132"/>
            <a:ext cx="5741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0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simple aggregates to encoders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5BA66-3291-DC0F-993C-8C5D678C1228}"/>
              </a:ext>
            </a:extLst>
          </p:cNvPr>
          <p:cNvSpPr txBox="1"/>
          <p:nvPr/>
        </p:nvSpPr>
        <p:spPr>
          <a:xfrm>
            <a:off x="590320" y="2234579"/>
            <a:ext cx="613052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Static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 a (variational) autoencoder that compresses the maps of catchment characteristics.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61ACC4-F1CA-C1AC-2237-474ED076E16E}"/>
              </a:ext>
            </a:extLst>
          </p:cNvPr>
          <p:cNvSpPr txBox="1"/>
          <p:nvPr/>
        </p:nvSpPr>
        <p:spPr>
          <a:xfrm>
            <a:off x="590320" y="3529832"/>
            <a:ext cx="613052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Dynamic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 a (variational) autoencoder that compresses the maps of catchment characteristics.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Calibri Light" panose="020F0302020204030204" pitchFamily="34" charset="0"/>
                <a:cs typeface="Calibri Light" panose="020F0302020204030204" pitchFamily="34" charset="0"/>
              </a:rPr>
              <a:t>Use WG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as forcing: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Latent states vs meteorological forecasts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Archive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Catchment discretization?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315F18F-54D9-1E34-9413-3617BC8D330E}"/>
              </a:ext>
            </a:extLst>
          </p:cNvPr>
          <p:cNvGrpSpPr/>
          <p:nvPr/>
        </p:nvGrpSpPr>
        <p:grpSpPr>
          <a:xfrm>
            <a:off x="6991352" y="3111742"/>
            <a:ext cx="4617948" cy="1353139"/>
            <a:chOff x="7174052" y="1876519"/>
            <a:chExt cx="4617948" cy="135313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C5AEEBC-3259-A5FD-2CFC-7A4633E4B0D1}"/>
                </a:ext>
              </a:extLst>
            </p:cNvPr>
            <p:cNvGrpSpPr/>
            <p:nvPr/>
          </p:nvGrpSpPr>
          <p:grpSpPr>
            <a:xfrm>
              <a:off x="7174052" y="1876519"/>
              <a:ext cx="1300582" cy="1330007"/>
              <a:chOff x="7174052" y="1876519"/>
              <a:chExt cx="1300582" cy="1330007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98B1BBBC-7532-3214-4B86-6A1B311112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326807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07CDB167-72A7-CCEA-CFB3-12196B300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171069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EC0A4341-0DBE-F163-83F3-4EE2C01868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021579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4F475DF1-B01A-35B4-346C-F20538C68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5830" y="1876519"/>
                <a:ext cx="1298804" cy="879719"/>
              </a:xfrm>
              <a:prstGeom prst="rect">
                <a:avLst/>
              </a:prstGeom>
            </p:spPr>
          </p:pic>
        </p:grp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299346E8-BA31-D02D-C8A3-37A3E64F01C8}"/>
                </a:ext>
              </a:extLst>
            </p:cNvPr>
            <p:cNvSpPr/>
            <p:nvPr/>
          </p:nvSpPr>
          <p:spPr>
            <a:xfrm rot="5400000">
              <a:off x="8243290" y="2385065"/>
              <a:ext cx="1284529" cy="358394"/>
            </a:xfrm>
            <a:prstGeom prst="trapezoid">
              <a:avLst>
                <a:gd name="adj" fmla="val 10549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ángulo: esquinas redondeadas 7">
              <a:extLst>
                <a:ext uri="{FF2B5EF4-FFF2-40B4-BE49-F238E27FC236}">
                  <a16:creationId xmlns:a16="http://schemas.microsoft.com/office/drawing/2014/main" id="{7C305DA7-B0E4-2339-7EA6-B57999FEB5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41536" y="2317395"/>
              <a:ext cx="518160" cy="539999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42E5D9E-D1AA-7C42-7096-F26B09507DFE}"/>
                </a:ext>
              </a:extLst>
            </p:cNvPr>
            <p:cNvGrpSpPr/>
            <p:nvPr/>
          </p:nvGrpSpPr>
          <p:grpSpPr>
            <a:xfrm>
              <a:off x="10491418" y="1876519"/>
              <a:ext cx="1300582" cy="1330007"/>
              <a:chOff x="7174052" y="1876519"/>
              <a:chExt cx="1300582" cy="1330007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81113F35-10EF-82A4-A33B-B88B5CFEEE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326807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E3D634B0-B04D-F066-E886-160A2F5731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171069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2454F80-E582-4CBC-42EA-5E79013D3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4052" y="2021579"/>
                <a:ext cx="1298804" cy="879719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F0414D18-1AEB-E317-B7BF-A8CECBAC45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175830" y="1876519"/>
                <a:ext cx="1298804" cy="879719"/>
              </a:xfrm>
              <a:prstGeom prst="rect">
                <a:avLst/>
              </a:prstGeom>
            </p:spPr>
          </p:pic>
        </p:grpSp>
        <p:sp>
          <p:nvSpPr>
            <p:cNvPr id="53" name="Trapezium 52">
              <a:extLst>
                <a:ext uri="{FF2B5EF4-FFF2-40B4-BE49-F238E27FC236}">
                  <a16:creationId xmlns:a16="http://schemas.microsoft.com/office/drawing/2014/main" id="{07EB656E-8CD0-575B-F954-9DCD71FD5BA4}"/>
                </a:ext>
              </a:extLst>
            </p:cNvPr>
            <p:cNvSpPr/>
            <p:nvPr/>
          </p:nvSpPr>
          <p:spPr>
            <a:xfrm rot="16200000" flipH="1">
              <a:off x="9473412" y="2408197"/>
              <a:ext cx="1284529" cy="358394"/>
            </a:xfrm>
            <a:prstGeom prst="trapezoid">
              <a:avLst>
                <a:gd name="adj" fmla="val 10549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50AA1-BEB4-821D-4262-DC8FF0C94773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89DE57B4-2285-D868-7CE8-F920242BDD5E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Picture 5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BFDEEBC6-7131-FC7A-114C-2B6DAF0A5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C43C5D-1165-B7A1-D1A0-C444DDBA6B4B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" name="Picture 8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89B98FFA-E60C-AC64-9167-D2EA6B31F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225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8E8C-7611-A3E6-3E72-CE81905E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214B5-555C-F460-2C26-0DB29ADD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D349F8-5A17-6C08-0B8F-356167126309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14" name="Rectangle: Rounded Corners 13">
            <a:hlinkClick r:id="rId2" action="ppaction://hlinksldjump"/>
            <a:extLst>
              <a:ext uri="{FF2B5EF4-FFF2-40B4-BE49-F238E27FC236}">
                <a16:creationId xmlns:a16="http://schemas.microsoft.com/office/drawing/2014/main" id="{EF86DF23-8A8F-6A7A-4587-A98281B68A26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</a:p>
        </p:txBody>
      </p:sp>
      <p:sp>
        <p:nvSpPr>
          <p:cNvPr id="15" name="Rectangle: Rounded Corners 14">
            <a:hlinkClick r:id="rId3" action="ppaction://hlinksldjump"/>
            <a:extLst>
              <a:ext uri="{FF2B5EF4-FFF2-40B4-BE49-F238E27FC236}">
                <a16:creationId xmlns:a16="http://schemas.microsoft.com/office/drawing/2014/main" id="{9122D747-8320-E928-A5D9-15A35681D178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Rectangle: Rounded Corners 15">
            <a:hlinkClick r:id="rId4" action="ppaction://hlinksldjump"/>
            <a:extLst>
              <a:ext uri="{FF2B5EF4-FFF2-40B4-BE49-F238E27FC236}">
                <a16:creationId xmlns:a16="http://schemas.microsoft.com/office/drawing/2014/main" id="{0190910E-008B-7A66-1EA9-8007253969A4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Models</a:t>
            </a:r>
            <a:endParaRPr lang="en-US" sz="22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: Rounded Corners 17">
            <a:hlinkClick r:id="rId5" action="ppaction://hlinksldjump"/>
            <a:extLst>
              <a:ext uri="{FF2B5EF4-FFF2-40B4-BE49-F238E27FC236}">
                <a16:creationId xmlns:a16="http://schemas.microsoft.com/office/drawing/2014/main" id="{B6C35420-43F9-516D-57E0-C9307E3E1757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state</a:t>
            </a:r>
          </a:p>
        </p:txBody>
      </p:sp>
      <p:pic>
        <p:nvPicPr>
          <p:cNvPr id="19" name="Image3">
            <a:extLst>
              <a:ext uri="{FF2B5EF4-FFF2-40B4-BE49-F238E27FC236}">
                <a16:creationId xmlns:a16="http://schemas.microsoft.com/office/drawing/2014/main" id="{78A19A0B-F617-C1EE-16BE-92FCAE3A0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42320" y="3028946"/>
            <a:ext cx="7200000" cy="3220196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3D2B997-BDF2-9A6A-337D-EFC2E824DF56}"/>
              </a:ext>
            </a:extLst>
          </p:cNvPr>
          <p:cNvSpPr txBox="1"/>
          <p:nvPr/>
        </p:nvSpPr>
        <p:spPr>
          <a:xfrm>
            <a:off x="5001755" y="3086926"/>
            <a:ext cx="2917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1600" dirty="0" err="1">
                <a:solidFill>
                  <a:srgbClr val="009684"/>
                </a:solidFill>
                <a:latin typeface="Calibri light"/>
              </a:rPr>
              <a:t>KGE</a:t>
            </a:r>
            <a:r>
              <a:rPr lang="es-ES" sz="1600" baseline="-25000" dirty="0" err="1">
                <a:solidFill>
                  <a:srgbClr val="009684"/>
                </a:solidFill>
                <a:latin typeface="Calibri light"/>
              </a:rPr>
              <a:t>median</a:t>
            </a:r>
            <a:r>
              <a:rPr lang="es-ES" sz="1600" dirty="0">
                <a:solidFill>
                  <a:srgbClr val="009684"/>
                </a:solidFill>
                <a:latin typeface="Calibri light"/>
              </a:rPr>
              <a:t>: 0.693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33777-B0A0-8858-6178-519AB8AD1CCE}"/>
              </a:ext>
            </a:extLst>
          </p:cNvPr>
          <p:cNvSpPr txBox="1"/>
          <p:nvPr/>
        </p:nvSpPr>
        <p:spPr>
          <a:xfrm>
            <a:off x="590320" y="1389572"/>
            <a:ext cx="38520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CAMELS-ESv2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at daily resolution: </a:t>
            </a:r>
            <a:b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to be finished by mid July.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BEAVERS-ESv1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at daily resolution: to be finished by the end of August.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A6741B-4B0A-DD2E-869B-2879583DBEE5}"/>
              </a:ext>
            </a:extLst>
          </p:cNvPr>
          <p:cNvSpPr txBox="1"/>
          <p:nvPr/>
        </p:nvSpPr>
        <p:spPr>
          <a:xfrm>
            <a:off x="590320" y="2977958"/>
            <a:ext cx="38520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LSTM trained on CAMELS-ESv1 outperforms EFAS.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Initial tests on CAMELS-ESv2 outperform v1.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67A8E9-6FF7-2898-D7E9-4E087B028517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4C94AFA3-7381-0CA7-C2B8-F253FC212DF4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Picture 5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B9EEDDA0-B62A-D16B-E712-2817C2A8E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BF2D20-2F02-2A45-C94F-ABAC26DC3526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" name="Picture 8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A8BACE20-E0F2-5518-669C-760581760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5564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BB2C62-6DAC-9557-1E96-17823E4D4EB0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8B069-302D-DA6F-2258-0939D0547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6DBE4A-E71C-2953-E446-2546153C74E9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Thanks!</a:t>
            </a:r>
          </a:p>
        </p:txBody>
      </p:sp>
      <p:pic>
        <p:nvPicPr>
          <p:cNvPr id="17" name="Picture 16" descr="An aerial view of a land and water&#10;&#10;AI-generated content may be incorrect.">
            <a:extLst>
              <a:ext uri="{FF2B5EF4-FFF2-40B4-BE49-F238E27FC236}">
                <a16:creationId xmlns:a16="http://schemas.microsoft.com/office/drawing/2014/main" id="{B43159D7-F33B-F848-A99E-8A38B314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268E81-C1DC-CFA7-AD61-389B5595AA7C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5D37A-014B-9020-F1E6-819FC9D8069D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42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8534</TotalTime>
  <Words>695</Words>
  <Application>Microsoft Office PowerPoint</Application>
  <PresentationFormat>Widescreen</PresentationFormat>
  <Paragraphs>169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Calibri light</vt:lpstr>
      <vt:lpstr>Consolas</vt:lpstr>
      <vt:lpstr>Palatino Linotype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CASADO RODRIGUEZ Jesus (JRC-ISPRA)</dc:creator>
  <cp:lastModifiedBy>Jesus Casado</cp:lastModifiedBy>
  <cp:revision>189</cp:revision>
  <dcterms:created xsi:type="dcterms:W3CDTF">2023-11-06T14:14:49Z</dcterms:created>
  <dcterms:modified xsi:type="dcterms:W3CDTF">2026-06-05T07:40:44Z</dcterms:modified>
</cp:coreProperties>
</file>
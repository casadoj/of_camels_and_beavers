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312" r:id="rId3"/>
    <p:sldId id="313" r:id="rId4"/>
    <p:sldId id="314" r:id="rId5"/>
    <p:sldId id="315" r:id="rId6"/>
    <p:sldId id="316" r:id="rId7"/>
    <p:sldId id="317" r:id="rId8"/>
    <p:sldId id="318" r:id="rId9"/>
    <p:sldId id="27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695CFE1B-B890-4AE2-B144-3F68C1BDBB8D}">
          <p14:sldIdLst>
            <p14:sldId id="256"/>
          </p14:sldIdLst>
        </p14:section>
        <p14:section name="Models" id="{F3FF795E-E9B1-4203-9FE0-632027AE94F7}">
          <p14:sldIdLst>
            <p14:sldId id="312"/>
            <p14:sldId id="313"/>
            <p14:sldId id="314"/>
            <p14:sldId id="315"/>
            <p14:sldId id="316"/>
            <p14:sldId id="317"/>
            <p14:sldId id="318"/>
          </p14:sldIdLst>
        </p14:section>
        <p14:section name="Current state" id="{34755951-5B4C-47FD-BFE9-329C4221F348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84"/>
    <a:srgbClr val="2CDBBD"/>
    <a:srgbClr val="EAFBF8"/>
    <a:srgbClr val="004940"/>
    <a:srgbClr val="2CDBD6"/>
    <a:srgbClr val="2FDC8E"/>
    <a:srgbClr val="004C42"/>
    <a:srgbClr val="000000"/>
    <a:srgbClr val="C55A1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24" autoAdjust="0"/>
    <p:restoredTop sz="95861" autoAdjust="0"/>
  </p:normalViewPr>
  <p:slideViewPr>
    <p:cSldViewPr snapToGrid="0">
      <p:cViewPr varScale="1">
        <p:scale>
          <a:sx n="94" d="100"/>
          <a:sy n="94" d="100"/>
        </p:scale>
        <p:origin x="8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CBE4C-FBF5-4D9C-94FB-530A34F84EC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CEEE55-152B-4EC7-9F2E-35311E21D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911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B152B-F9FB-433B-A2E0-F380F2DC0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8A4366-06B3-435A-8FA1-C41B2AC12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68D18-3B85-4BCC-8937-39A98417C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D2C1-3381-4949-9C05-0BF7D778AA46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553FD-CF29-413E-B06D-D9BBFD5CB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97E7A-84E3-41C9-BD77-CA9494AE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2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7E45B-2361-474F-8938-1AC08E3DA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C400B-9FE4-470E-92CC-14426E47E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9ADDB-10CE-4C6E-A06D-EDB2BD0E9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E812-952E-49F6-8757-06DEF9216D46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9A9C8-3A0A-4EE1-8CF6-C989528F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D46A3-4E69-48F4-97D3-062165604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719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8207D-32E0-4CAD-A0DC-6EF160EF5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8FF7E-7DF8-4F4A-A112-0A3609117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496E9-36C2-4639-B47B-B65D0232B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038CF-84EE-4924-B040-12F370921513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6EF22-0EEA-4CB0-9860-9891718F6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036B7-101F-4C52-98BC-2DA0A0349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188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801CC-1FB6-4279-9E10-B5A085BB4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6B5A5-A27D-4E7F-841D-64EE33E48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60583-29C3-46E3-ABA2-D96AF7809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57241-3E26-4C04-B988-A25D141B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FACB-68C4-48DE-AF62-9FB1E966FBD2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A75E6-80F0-4819-AADA-1E33AF1DC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6A224-6383-4210-B228-C06E87125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7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5BB4-3F71-4035-9173-A1AC9397F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6F13A-64D2-462F-A89C-D94F54E2A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9F80B-6DB7-46DC-B9A6-82AB6F381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AE42A7-2CE5-4F42-84DC-BF0F64848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4302B9-A1DC-41F3-8567-8B4F6969E4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37C29A-7D5B-4420-8DAB-AFA7BE96F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46FA0-AD96-49DF-A023-8F5D8D7E14CF}" type="datetime1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F44BAB-A452-4F96-8FF9-EDAC0ADD8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695353-962B-4437-8FFB-211B2B572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66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8450D-356E-433B-B023-07BC67F3A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490B60-ECB4-4966-A7E2-677BD7E83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9136-5C3E-4F93-9CB1-30B2894F2CE8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1F8848-604A-4C67-B4B7-4ADE2136C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82E5A-98AC-4408-85D8-B96A2774C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59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A015CA-C613-493E-872B-C3213CBF2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229DC-051E-4570-8A0A-B9D5E742E900}" type="datetime1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3FED28-BA21-49CD-83BA-7ED2E6E69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125BA-3AE1-4A7D-AB3D-DB6CF0C5E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8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5EB76-BDE5-42DB-B0EE-DB84C3A24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09D90-EAC1-4A7F-8A36-2AC76B6BE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FEC9F-F560-4A9D-8978-95EF07E8E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7C641-FB01-4749-B475-16BB8EFBD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7E573-FBCC-4372-9502-B40681BD8A8F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A798D-8CA9-4808-9CC2-C9B657048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19353-D498-4664-A6CD-18F32221D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77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0B5DD-E1E3-41CA-9BCD-A262C8746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9B854B-4433-4F06-B539-49D0BFF24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7F073-3A6F-42B5-8C6B-08339EE2E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09685-180B-46D9-B88B-F7DF3CE09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FF89-EBC6-4D63-BA54-9BD8D0A7B612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90651-6A5B-4642-ADE6-D191D75DE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2C01E-9B3F-4560-A62D-6A03023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39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21A4-6B9C-43C6-83D6-96AF45E7F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4C6E0-1B89-44B8-9A7D-B8A64BF66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4A910-0DE6-4FC9-91EC-ECFDC7E33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A20DD-628D-42F3-9E4D-BC6B9D2E7677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329FC-AD8A-4204-9752-37491FCE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27165-959F-496D-A4A0-28692668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99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4F1E44-7990-433A-AE77-38ED240E2F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97B01-D664-43B1-B8D8-50E074E96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695B3-EC7C-4832-B2CA-F30DC67E3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3AAB-D7A6-4F7D-ABDA-8B8B1FB7679C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AEB8E-E5E4-47AE-AEDD-EFE4C373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FCD5F-3609-4051-A6FA-59E487FE5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81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7BBC3D-5CF7-4E16-857E-657A538F9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38EED-7341-4E94-8BC3-BB021E77F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58CF8-9A7A-43DC-94B5-A772AC57A8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3C7DD-409D-46C7-92B6-0BB1EFDAC08F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C058A-E453-4227-AEBE-198251910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194D9-448C-4C4D-87EB-D93ADB6551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07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2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slide" Target="slide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slide" Target="slide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slide" Target="slide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slide" Target="slide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slide" Target="slide2.xml"/><Relationship Id="rId4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29681B4-CA36-D7AD-C22D-9C08AACCA425}"/>
              </a:ext>
            </a:extLst>
          </p:cNvPr>
          <p:cNvSpPr/>
          <p:nvPr/>
        </p:nvSpPr>
        <p:spPr>
          <a:xfrm>
            <a:off x="0" y="0"/>
            <a:ext cx="4320000" cy="6858000"/>
          </a:xfrm>
          <a:prstGeom prst="rect">
            <a:avLst/>
          </a:prstGeom>
          <a:solidFill>
            <a:srgbClr val="0049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8D9B70-F3A9-45A9-AF9B-3CCF7EBEAD7B}"/>
              </a:ext>
            </a:extLst>
          </p:cNvPr>
          <p:cNvSpPr txBox="1"/>
          <p:nvPr/>
        </p:nvSpPr>
        <p:spPr>
          <a:xfrm>
            <a:off x="69850" y="5396981"/>
            <a:ext cx="2862028" cy="6155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2CDB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Jesús Casado Rodríguez</a:t>
            </a:r>
          </a:p>
          <a:p>
            <a:r>
              <a:rPr lang="es-ES" sz="16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j.casado@kajoservices.com</a:t>
            </a:r>
            <a:endParaRPr lang="en-US" sz="1600" dirty="0">
              <a:solidFill>
                <a:srgbClr val="EAFBF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DEC12D-8020-4FDD-8990-6DDBA79677A6}"/>
              </a:ext>
            </a:extLst>
          </p:cNvPr>
          <p:cNvSpPr txBox="1"/>
          <p:nvPr/>
        </p:nvSpPr>
        <p:spPr>
          <a:xfrm>
            <a:off x="136524" y="2126838"/>
            <a:ext cx="4181839" cy="496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638" indent="-274638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---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5AE89E-AA14-07E6-1FC0-DA9A71E8FFBF}"/>
              </a:ext>
            </a:extLst>
          </p:cNvPr>
          <p:cNvSpPr txBox="1"/>
          <p:nvPr/>
        </p:nvSpPr>
        <p:spPr>
          <a:xfrm>
            <a:off x="0" y="615254"/>
            <a:ext cx="4181839" cy="584775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r>
              <a:rPr lang="en-US" sz="3200" dirty="0">
                <a:solidFill>
                  <a:srgbClr val="2CDB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Takeover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CA7834-9600-8537-EEEC-28EA13B9B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04" y="6139381"/>
            <a:ext cx="907331" cy="478232"/>
          </a:xfrm>
          <a:prstGeom prst="rect">
            <a:avLst/>
          </a:prstGeom>
        </p:spPr>
      </p:pic>
      <p:pic>
        <p:nvPicPr>
          <p:cNvPr id="14" name="Picture 13" descr="NASA: imagen aérea tras la DANA 29-O en Valencia">
            <a:extLst>
              <a:ext uri="{FF2B5EF4-FFF2-40B4-BE49-F238E27FC236}">
                <a16:creationId xmlns:a16="http://schemas.microsoft.com/office/drawing/2014/main" id="{865EEC16-028F-2D1E-D039-8E9AFE0C50F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09684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104" t="2547"/>
          <a:stretch/>
        </p:blipFill>
        <p:spPr>
          <a:xfrm>
            <a:off x="4320000" y="0"/>
            <a:ext cx="7872001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2B87DEC-02EA-72C2-7A3C-21A9B425AD3E}"/>
              </a:ext>
            </a:extLst>
          </p:cNvPr>
          <p:cNvSpPr txBox="1"/>
          <p:nvPr/>
        </p:nvSpPr>
        <p:spPr>
          <a:xfrm>
            <a:off x="10709188" y="6552398"/>
            <a:ext cx="1482811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s-ES" sz="1400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NASA: Landsat 8</a:t>
            </a:r>
            <a:endParaRPr lang="en-US" sz="1400" dirty="0">
              <a:solidFill>
                <a:srgbClr val="00968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9" name="Picture 8" descr="A blue and green logo&#10;&#10;AI-generated content may be incorrect.">
            <a:extLst>
              <a:ext uri="{FF2B5EF4-FFF2-40B4-BE49-F238E27FC236}">
                <a16:creationId xmlns:a16="http://schemas.microsoft.com/office/drawing/2014/main" id="{1FB8F4EF-4978-77E3-FCED-136921638D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099" y="6139097"/>
            <a:ext cx="925882" cy="4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99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780DD-C271-1FBC-6F71-CBA618884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204D9-9281-F359-B13B-8B4055EF8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27EE25-7FDE-00C5-F489-10C3D25BE8A2}"/>
              </a:ext>
            </a:extLst>
          </p:cNvPr>
          <p:cNvSpPr txBox="1"/>
          <p:nvPr/>
        </p:nvSpPr>
        <p:spPr>
          <a:xfrm>
            <a:off x="5662594" y="1649562"/>
            <a:ext cx="5928407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Static attributes 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s-ES" sz="1600" dirty="0" err="1">
                <a:latin typeface="Palatino Linotype" panose="02040502050505030304" pitchFamily="18" charset="0"/>
              </a:rPr>
              <a:t>X</a:t>
            </a:r>
            <a:r>
              <a:rPr lang="es-ES" sz="1600" baseline="-25000" dirty="0" err="1">
                <a:latin typeface="Palatino Linotype" panose="02040502050505030304" pitchFamily="18" charset="0"/>
              </a:rPr>
              <a:t>s</a:t>
            </a:r>
            <a:r>
              <a:rPr lang="es-ES" sz="1600" dirty="0">
                <a:latin typeface="Palatino Linotype" panose="02040502050505030304" pitchFamily="18" charset="0"/>
              </a:rPr>
              <a:t>: 31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):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Geomorphology: 		EFAS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Land use/land cover: 	</a:t>
            </a:r>
            <a:r>
              <a:rPr lang="en-US" sz="17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HydroAtlas</a:t>
            </a:r>
            <a:endParaRPr lang="en-US" sz="17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Soil characteristics: 	</a:t>
            </a:r>
            <a:r>
              <a:rPr lang="en-US" sz="17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HydroAtlas</a:t>
            </a:r>
            <a:endParaRPr lang="en-US" sz="17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Climate indices: 		ROCIO-IBEB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92FE078C-739D-59A9-CD6D-8D9A9B5449B1}"/>
              </a:ext>
            </a:extLst>
          </p:cNvPr>
          <p:cNvGrpSpPr/>
          <p:nvPr/>
        </p:nvGrpSpPr>
        <p:grpSpPr>
          <a:xfrm>
            <a:off x="838200" y="1884150"/>
            <a:ext cx="4704898" cy="3554997"/>
            <a:chOff x="5123566" y="1985071"/>
            <a:chExt cx="4704898" cy="3554997"/>
          </a:xfrm>
        </p:grpSpPr>
        <p:grpSp>
          <p:nvGrpSpPr>
            <p:cNvPr id="2" name="Grupo 271">
              <a:extLst>
                <a:ext uri="{FF2B5EF4-FFF2-40B4-BE49-F238E27FC236}">
                  <a16:creationId xmlns:a16="http://schemas.microsoft.com/office/drawing/2014/main" id="{C0395D86-C1CA-8D60-35AB-9843163DCD1E}"/>
                </a:ext>
              </a:extLst>
            </p:cNvPr>
            <p:cNvGrpSpPr/>
            <p:nvPr/>
          </p:nvGrpSpPr>
          <p:grpSpPr>
            <a:xfrm>
              <a:off x="5931177" y="3039838"/>
              <a:ext cx="1440000" cy="1236685"/>
              <a:chOff x="3929140" y="2907883"/>
              <a:chExt cx="1440000" cy="1236685"/>
            </a:xfrm>
          </p:grpSpPr>
          <p:sp>
            <p:nvSpPr>
              <p:cNvPr id="6" name="Rectángulo: esquinas redondeadas 272">
                <a:extLst>
                  <a:ext uri="{FF2B5EF4-FFF2-40B4-BE49-F238E27FC236}">
                    <a16:creationId xmlns:a16="http://schemas.microsoft.com/office/drawing/2014/main" id="{9A76357D-BA43-DC16-6286-FEBCCDD21766}"/>
                  </a:ext>
                </a:extLst>
              </p:cNvPr>
              <p:cNvSpPr/>
              <p:nvPr/>
            </p:nvSpPr>
            <p:spPr>
              <a:xfrm>
                <a:off x="3929140" y="2910282"/>
                <a:ext cx="1440000" cy="1234286"/>
              </a:xfrm>
              <a:prstGeom prst="roundRect">
                <a:avLst>
                  <a:gd name="adj" fmla="val 11953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cxnSp>
            <p:nvCxnSpPr>
              <p:cNvPr id="8" name="Conector recto de flecha 273">
                <a:extLst>
                  <a:ext uri="{FF2B5EF4-FFF2-40B4-BE49-F238E27FC236}">
                    <a16:creationId xmlns:a16="http://schemas.microsoft.com/office/drawing/2014/main" id="{191E7423-904D-A284-876B-82FE085BA3F1}"/>
                  </a:ext>
                </a:extLst>
              </p:cNvPr>
              <p:cNvCxnSpPr>
                <a:cxnSpLocks/>
                <a:endCxn id="14" idx="2"/>
              </p:cNvCxnSpPr>
              <p:nvPr/>
            </p:nvCxnSpPr>
            <p:spPr>
              <a:xfrm>
                <a:off x="3929140" y="3116434"/>
                <a:ext cx="374637" cy="0"/>
              </a:xfrm>
              <a:prstGeom prst="straightConnector1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: angular 274">
                <a:extLst>
                  <a:ext uri="{FF2B5EF4-FFF2-40B4-BE49-F238E27FC236}">
                    <a16:creationId xmlns:a16="http://schemas.microsoft.com/office/drawing/2014/main" id="{99B022CE-41EC-57D9-6D1A-75A7A200E5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29140" y="3568568"/>
                <a:ext cx="1037285" cy="367448"/>
              </a:xfrm>
              <a:prstGeom prst="bentConnector3">
                <a:avLst>
                  <a:gd name="adj1" fmla="val 99907"/>
                </a:avLst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Elipse 275">
                <a:extLst>
                  <a:ext uri="{FF2B5EF4-FFF2-40B4-BE49-F238E27FC236}">
                    <a16:creationId xmlns:a16="http://schemas.microsoft.com/office/drawing/2014/main" id="{22FB8DD6-9B7C-1FC4-BB2B-9B75F3352C8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3777" y="3075291"/>
                <a:ext cx="82286" cy="82286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Elipse 276">
                <a:extLst>
                  <a:ext uri="{FF2B5EF4-FFF2-40B4-BE49-F238E27FC236}">
                    <a16:creationId xmlns:a16="http://schemas.microsoft.com/office/drawing/2014/main" id="{03834551-AAFB-01D7-CEF4-7B767B9D00E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13929" y="3490225"/>
                <a:ext cx="82286" cy="82286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Elipse 277">
                <a:extLst>
                  <a:ext uri="{FF2B5EF4-FFF2-40B4-BE49-F238E27FC236}">
                    <a16:creationId xmlns:a16="http://schemas.microsoft.com/office/drawing/2014/main" id="{07CF1B3A-0F64-6570-4AE3-EFE2A9F66A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16931" y="3076568"/>
                <a:ext cx="82286" cy="82286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Elipse 278">
                <a:extLst>
                  <a:ext uri="{FF2B5EF4-FFF2-40B4-BE49-F238E27FC236}">
                    <a16:creationId xmlns:a16="http://schemas.microsoft.com/office/drawing/2014/main" id="{A56DC9AA-9A13-AB19-8EBE-5FA34E26403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25283" y="3486282"/>
                <a:ext cx="82286" cy="82286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Conector recto de flecha 279">
                <a:extLst>
                  <a:ext uri="{FF2B5EF4-FFF2-40B4-BE49-F238E27FC236}">
                    <a16:creationId xmlns:a16="http://schemas.microsoft.com/office/drawing/2014/main" id="{AA93F9CA-1936-11BC-9A05-1A64F9D15509}"/>
                  </a:ext>
                </a:extLst>
              </p:cNvPr>
              <p:cNvCxnSpPr>
                <a:cxnSpLocks/>
                <a:stCxn id="14" idx="6"/>
                <a:endCxn id="16" idx="2"/>
              </p:cNvCxnSpPr>
              <p:nvPr/>
            </p:nvCxnSpPr>
            <p:spPr>
              <a:xfrm>
                <a:off x="4386063" y="3116434"/>
                <a:ext cx="330869" cy="1277"/>
              </a:xfrm>
              <a:prstGeom prst="straightConnector1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ector: angular 280">
                <a:extLst>
                  <a:ext uri="{FF2B5EF4-FFF2-40B4-BE49-F238E27FC236}">
                    <a16:creationId xmlns:a16="http://schemas.microsoft.com/office/drawing/2014/main" id="{4ECA328C-BBF4-A843-AADD-81E4A3565812}"/>
                  </a:ext>
                </a:extLst>
              </p:cNvPr>
              <p:cNvCxnSpPr>
                <a:cxnSpLocks/>
                <a:endCxn id="15" idx="4"/>
              </p:cNvCxnSpPr>
              <p:nvPr/>
            </p:nvCxnSpPr>
            <p:spPr>
              <a:xfrm flipV="1">
                <a:off x="3929140" y="3572511"/>
                <a:ext cx="825931" cy="363505"/>
              </a:xfrm>
              <a:prstGeom prst="bentConnector2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ector: angular 281">
                <a:extLst>
                  <a:ext uri="{FF2B5EF4-FFF2-40B4-BE49-F238E27FC236}">
                    <a16:creationId xmlns:a16="http://schemas.microsoft.com/office/drawing/2014/main" id="{15284494-5858-DC98-ECB7-A42C3A4EC3FC}"/>
                  </a:ext>
                </a:extLst>
              </p:cNvPr>
              <p:cNvCxnSpPr>
                <a:cxnSpLocks/>
                <a:stCxn id="28" idx="3"/>
                <a:endCxn id="14" idx="4"/>
              </p:cNvCxnSpPr>
              <p:nvPr/>
            </p:nvCxnSpPr>
            <p:spPr>
              <a:xfrm flipV="1">
                <a:off x="4249700" y="3157577"/>
                <a:ext cx="95220" cy="777350"/>
              </a:xfrm>
              <a:prstGeom prst="bentConnector2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ector recto de flecha 282">
                <a:extLst>
                  <a:ext uri="{FF2B5EF4-FFF2-40B4-BE49-F238E27FC236}">
                    <a16:creationId xmlns:a16="http://schemas.microsoft.com/office/drawing/2014/main" id="{20524261-1BD2-18D6-E188-95D0D59FC8EE}"/>
                  </a:ext>
                </a:extLst>
              </p:cNvPr>
              <p:cNvCxnSpPr>
                <a:cxnSpLocks/>
                <a:stCxn id="15" idx="0"/>
                <a:endCxn id="16" idx="4"/>
              </p:cNvCxnSpPr>
              <p:nvPr/>
            </p:nvCxnSpPr>
            <p:spPr>
              <a:xfrm flipV="1">
                <a:off x="4755071" y="3158854"/>
                <a:ext cx="3003" cy="331371"/>
              </a:xfrm>
              <a:prstGeom prst="straightConnector1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Conector recto de flecha 283">
                <a:extLst>
                  <a:ext uri="{FF2B5EF4-FFF2-40B4-BE49-F238E27FC236}">
                    <a16:creationId xmlns:a16="http://schemas.microsoft.com/office/drawing/2014/main" id="{8EC2ECF8-2FCC-999D-424D-61B9364B213B}"/>
                  </a:ext>
                </a:extLst>
              </p:cNvPr>
              <p:cNvCxnSpPr>
                <a:cxnSpLocks/>
                <a:stCxn id="16" idx="6"/>
              </p:cNvCxnSpPr>
              <p:nvPr/>
            </p:nvCxnSpPr>
            <p:spPr>
              <a:xfrm flipV="1">
                <a:off x="4799217" y="3116434"/>
                <a:ext cx="569923" cy="1277"/>
              </a:xfrm>
              <a:prstGeom prst="straightConnector1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ector: angular 284">
                <a:extLst>
                  <a:ext uri="{FF2B5EF4-FFF2-40B4-BE49-F238E27FC236}">
                    <a16:creationId xmlns:a16="http://schemas.microsoft.com/office/drawing/2014/main" id="{06AAB9E6-7563-5155-CD25-6DF056022F71}"/>
                  </a:ext>
                </a:extLst>
              </p:cNvPr>
              <p:cNvCxnSpPr>
                <a:cxnSpLocks/>
                <a:stCxn id="16" idx="6"/>
                <a:endCxn id="18" idx="0"/>
              </p:cNvCxnSpPr>
              <p:nvPr/>
            </p:nvCxnSpPr>
            <p:spPr>
              <a:xfrm>
                <a:off x="4799217" y="3117711"/>
                <a:ext cx="167208" cy="368571"/>
              </a:xfrm>
              <a:prstGeom prst="bentConnector2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: angular 285">
                <a:extLst>
                  <a:ext uri="{FF2B5EF4-FFF2-40B4-BE49-F238E27FC236}">
                    <a16:creationId xmlns:a16="http://schemas.microsoft.com/office/drawing/2014/main" id="{279E78FE-1DFB-9E79-1ED4-0CAE3C91CFDE}"/>
                  </a:ext>
                </a:extLst>
              </p:cNvPr>
              <p:cNvCxnSpPr>
                <a:cxnSpLocks/>
                <a:stCxn id="18" idx="6"/>
              </p:cNvCxnSpPr>
              <p:nvPr/>
            </p:nvCxnSpPr>
            <p:spPr>
              <a:xfrm>
                <a:off x="5007568" y="3527425"/>
                <a:ext cx="361572" cy="413429"/>
              </a:xfrm>
              <a:prstGeom prst="bentConnector3">
                <a:avLst>
                  <a:gd name="adj1" fmla="val 44648"/>
                </a:avLst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Rectángulo 286">
                <a:extLst>
                  <a:ext uri="{FF2B5EF4-FFF2-40B4-BE49-F238E27FC236}">
                    <a16:creationId xmlns:a16="http://schemas.microsoft.com/office/drawing/2014/main" id="{88E4056F-47FB-1DD5-7B6C-D624D9397FBE}"/>
                  </a:ext>
                </a:extLst>
              </p:cNvPr>
              <p:cNvSpPr/>
              <p:nvPr/>
            </p:nvSpPr>
            <p:spPr>
              <a:xfrm>
                <a:off x="4217640" y="3850288"/>
                <a:ext cx="32060" cy="16927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s-ES" sz="1100" dirty="0">
                    <a:solidFill>
                      <a:schemeClr val="tx1"/>
                    </a:solidFill>
                  </a:rPr>
                  <a:t> </a:t>
                </a:r>
                <a:endParaRPr lang="en-GB" sz="11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Rectángulo 287">
                <a:extLst>
                  <a:ext uri="{FF2B5EF4-FFF2-40B4-BE49-F238E27FC236}">
                    <a16:creationId xmlns:a16="http://schemas.microsoft.com/office/drawing/2014/main" id="{425AFD46-29A0-271A-3310-2B04B303130F}"/>
                  </a:ext>
                </a:extLst>
              </p:cNvPr>
              <p:cNvSpPr/>
              <p:nvPr/>
            </p:nvSpPr>
            <p:spPr>
              <a:xfrm>
                <a:off x="4626504" y="3654795"/>
                <a:ext cx="256480" cy="153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s-ES" sz="1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Palatino Linotype" panose="02040502050505030304" pitchFamily="18" charset="0"/>
                  </a:rPr>
                  <a:t>tanh</a:t>
                </a:r>
                <a:endParaRPr lang="en-GB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endParaRPr>
              </a:p>
            </p:txBody>
          </p:sp>
          <p:sp>
            <p:nvSpPr>
              <p:cNvPr id="33" name="Rectángulo 288">
                <a:extLst>
                  <a:ext uri="{FF2B5EF4-FFF2-40B4-BE49-F238E27FC236}">
                    <a16:creationId xmlns:a16="http://schemas.microsoft.com/office/drawing/2014/main" id="{C9B855F1-4C4D-92A5-0764-8F4E7A18AF07}"/>
                  </a:ext>
                </a:extLst>
              </p:cNvPr>
              <p:cNvSpPr/>
              <p:nvPr/>
            </p:nvSpPr>
            <p:spPr>
              <a:xfrm>
                <a:off x="4927953" y="3654795"/>
                <a:ext cx="76944" cy="153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l-GR" sz="1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Palatino Linotype" panose="02040502050505030304" pitchFamily="18" charset="0"/>
                  </a:rPr>
                  <a:t>σ</a:t>
                </a:r>
                <a:endParaRPr lang="en-GB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endParaRPr>
              </a:p>
            </p:txBody>
          </p:sp>
          <p:sp>
            <p:nvSpPr>
              <p:cNvPr id="34" name="Rectángulo 289">
                <a:extLst>
                  <a:ext uri="{FF2B5EF4-FFF2-40B4-BE49-F238E27FC236}">
                    <a16:creationId xmlns:a16="http://schemas.microsoft.com/office/drawing/2014/main" id="{C64BD1B8-2BB1-23B9-84A6-FC5C9A8A8743}"/>
                  </a:ext>
                </a:extLst>
              </p:cNvPr>
              <p:cNvSpPr/>
              <p:nvPr/>
            </p:nvSpPr>
            <p:spPr>
              <a:xfrm>
                <a:off x="4838186" y="3235882"/>
                <a:ext cx="256480" cy="153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s-ES" sz="1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Palatino Linotype" panose="02040502050505030304" pitchFamily="18" charset="0"/>
                  </a:rPr>
                  <a:t>tanh</a:t>
                </a:r>
                <a:endParaRPr lang="en-GB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endParaRPr>
              </a:p>
            </p:txBody>
          </p:sp>
          <p:cxnSp>
            <p:nvCxnSpPr>
              <p:cNvPr id="35" name="Conector: angular 290">
                <a:extLst>
                  <a:ext uri="{FF2B5EF4-FFF2-40B4-BE49-F238E27FC236}">
                    <a16:creationId xmlns:a16="http://schemas.microsoft.com/office/drawing/2014/main" id="{3EB115B1-AC4D-BF19-6ED2-D91E87F3EBAC}"/>
                  </a:ext>
                </a:extLst>
              </p:cNvPr>
              <p:cNvCxnSpPr>
                <a:cxnSpLocks/>
                <a:stCxn id="18" idx="6"/>
              </p:cNvCxnSpPr>
              <p:nvPr/>
            </p:nvCxnSpPr>
            <p:spPr>
              <a:xfrm>
                <a:off x="5007569" y="3527425"/>
                <a:ext cx="161331" cy="617143"/>
              </a:xfrm>
              <a:prstGeom prst="bentConnector2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: angular 291">
                <a:extLst>
                  <a:ext uri="{FF2B5EF4-FFF2-40B4-BE49-F238E27FC236}">
                    <a16:creationId xmlns:a16="http://schemas.microsoft.com/office/drawing/2014/main" id="{CD8E57AF-093A-5407-2C20-8239F7B2C29E}"/>
                  </a:ext>
                </a:extLst>
              </p:cNvPr>
              <p:cNvCxnSpPr>
                <a:cxnSpLocks/>
                <a:endCxn id="28" idx="1"/>
              </p:cNvCxnSpPr>
              <p:nvPr/>
            </p:nvCxnSpPr>
            <p:spPr>
              <a:xfrm rot="16200000" flipH="1">
                <a:off x="3671065" y="3388351"/>
                <a:ext cx="1027043" cy="66108"/>
              </a:xfrm>
              <a:prstGeom prst="bentConnector2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ector: angular 292">
                <a:extLst>
                  <a:ext uri="{FF2B5EF4-FFF2-40B4-BE49-F238E27FC236}">
                    <a16:creationId xmlns:a16="http://schemas.microsoft.com/office/drawing/2014/main" id="{539C7E36-1552-9511-9E77-B79F100BE3A0}"/>
                  </a:ext>
                </a:extLst>
              </p:cNvPr>
              <p:cNvCxnSpPr>
                <a:cxnSpLocks/>
                <a:endCxn id="15" idx="2"/>
              </p:cNvCxnSpPr>
              <p:nvPr/>
            </p:nvCxnSpPr>
            <p:spPr>
              <a:xfrm flipV="1">
                <a:off x="3929140" y="3531368"/>
                <a:ext cx="784789" cy="404648"/>
              </a:xfrm>
              <a:prstGeom prst="bentConnector3">
                <a:avLst>
                  <a:gd name="adj1" fmla="val 78667"/>
                </a:avLst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Rectángulo 293">
                <a:extLst>
                  <a:ext uri="{FF2B5EF4-FFF2-40B4-BE49-F238E27FC236}">
                    <a16:creationId xmlns:a16="http://schemas.microsoft.com/office/drawing/2014/main" id="{266A8502-22E4-EFE1-9619-4ED1F023BED2}"/>
                  </a:ext>
                </a:extLst>
              </p:cNvPr>
              <p:cNvSpPr/>
              <p:nvPr/>
            </p:nvSpPr>
            <p:spPr>
              <a:xfrm>
                <a:off x="4509094" y="3654795"/>
                <a:ext cx="76944" cy="153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l-GR" sz="1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Palatino Linotype" panose="02040502050505030304" pitchFamily="18" charset="0"/>
                  </a:rPr>
                  <a:t>σ</a:t>
                </a:r>
                <a:endParaRPr lang="en-GB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endParaRPr>
              </a:p>
            </p:txBody>
          </p:sp>
          <p:sp>
            <p:nvSpPr>
              <p:cNvPr id="39" name="Rectángulo 294">
                <a:extLst>
                  <a:ext uri="{FF2B5EF4-FFF2-40B4-BE49-F238E27FC236}">
                    <a16:creationId xmlns:a16="http://schemas.microsoft.com/office/drawing/2014/main" id="{F950ED41-3474-CE9D-532B-4C3267427526}"/>
                  </a:ext>
                </a:extLst>
              </p:cNvPr>
              <p:cNvSpPr/>
              <p:nvPr/>
            </p:nvSpPr>
            <p:spPr>
              <a:xfrm>
                <a:off x="4306449" y="3647101"/>
                <a:ext cx="76944" cy="153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l-GR" sz="1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Palatino Linotype" panose="02040502050505030304" pitchFamily="18" charset="0"/>
                  </a:rPr>
                  <a:t>σ</a:t>
                </a:r>
                <a:endParaRPr lang="en-GB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endParaRPr>
              </a:p>
            </p:txBody>
          </p:sp>
        </p:grpSp>
        <p:sp>
          <p:nvSpPr>
            <p:cNvPr id="40" name="Rectángulo: esquinas redondeadas 7">
              <a:extLst>
                <a:ext uri="{FF2B5EF4-FFF2-40B4-BE49-F238E27FC236}">
                  <a16:creationId xmlns:a16="http://schemas.microsoft.com/office/drawing/2014/main" id="{E318579F-50BA-BFF1-7FF4-2E5BC7BE15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30111" y="5258050"/>
              <a:ext cx="1440000" cy="282018"/>
            </a:xfrm>
            <a:prstGeom prst="roundRect">
              <a:avLst>
                <a:gd name="adj" fmla="val 35352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X</a:t>
              </a:r>
              <a:r>
                <a:rPr lang="es-ES" baseline="-250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d</a:t>
              </a:r>
              <a:endParaRPr lang="en-GB" baseline="-250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41" name="Rectángulo: esquinas redondeadas 8">
              <a:extLst>
                <a:ext uri="{FF2B5EF4-FFF2-40B4-BE49-F238E27FC236}">
                  <a16:creationId xmlns:a16="http://schemas.microsoft.com/office/drawing/2014/main" id="{4C94703D-1438-E6E0-1FED-2ECEA020DE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23566" y="5231798"/>
              <a:ext cx="1440000" cy="282018"/>
            </a:xfrm>
            <a:prstGeom prst="roundRect">
              <a:avLst>
                <a:gd name="adj" fmla="val 35352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X</a:t>
              </a:r>
              <a:r>
                <a:rPr lang="es-ES" baseline="-250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s</a:t>
              </a:r>
              <a:endParaRPr lang="en-GB" baseline="-250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42" name="Rectángulo: esquinas redondeadas 299">
              <a:extLst>
                <a:ext uri="{FF2B5EF4-FFF2-40B4-BE49-F238E27FC236}">
                  <a16:creationId xmlns:a16="http://schemas.microsoft.com/office/drawing/2014/main" id="{86DE5218-34B4-9263-7277-2F535DD2264B}"/>
                </a:ext>
              </a:extLst>
            </p:cNvPr>
            <p:cNvSpPr/>
            <p:nvPr/>
          </p:nvSpPr>
          <p:spPr>
            <a:xfrm rot="5400000">
              <a:off x="5704421" y="4165215"/>
              <a:ext cx="280800" cy="1437490"/>
            </a:xfrm>
            <a:prstGeom prst="roundRect">
              <a:avLst>
                <a:gd name="adj" fmla="val 11953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[31, 64, 32, 16]</a:t>
              </a:r>
              <a:endParaRPr lang="en-GB" sz="1400" dirty="0">
                <a:solidFill>
                  <a:schemeClr val="bg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43" name="Rectángulo: esquinas redondeadas 299">
              <a:extLst>
                <a:ext uri="{FF2B5EF4-FFF2-40B4-BE49-F238E27FC236}">
                  <a16:creationId xmlns:a16="http://schemas.microsoft.com/office/drawing/2014/main" id="{04B77FDC-1BE4-4BC3-456E-B09C56AB03A8}"/>
                </a:ext>
              </a:extLst>
            </p:cNvPr>
            <p:cNvSpPr/>
            <p:nvPr/>
          </p:nvSpPr>
          <p:spPr>
            <a:xfrm rot="5400000">
              <a:off x="7310966" y="4154814"/>
              <a:ext cx="280800" cy="1437490"/>
            </a:xfrm>
            <a:prstGeom prst="roundRect">
              <a:avLst>
                <a:gd name="adj" fmla="val 11953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[9, 9]</a:t>
              </a:r>
              <a:endParaRPr lang="en-GB" sz="1400" dirty="0">
                <a:solidFill>
                  <a:schemeClr val="bg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44" name="Rectángulo: esquinas redondeadas 299">
              <a:extLst>
                <a:ext uri="{FF2B5EF4-FFF2-40B4-BE49-F238E27FC236}">
                  <a16:creationId xmlns:a16="http://schemas.microsoft.com/office/drawing/2014/main" id="{B64565D2-96E8-9B77-356D-9E0BE27DC345}"/>
                </a:ext>
              </a:extLst>
            </p:cNvPr>
            <p:cNvSpPr/>
            <p:nvPr/>
          </p:nvSpPr>
          <p:spPr>
            <a:xfrm rot="5400000">
              <a:off x="6512032" y="1955499"/>
              <a:ext cx="280800" cy="1437490"/>
            </a:xfrm>
            <a:prstGeom prst="roundRect">
              <a:avLst>
                <a:gd name="adj" fmla="val 11953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[64, 1]</a:t>
              </a:r>
              <a:endParaRPr lang="en-GB" sz="1400" dirty="0">
                <a:solidFill>
                  <a:schemeClr val="bg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45" name="Rectángulo: esquinas redondeadas 8">
              <a:extLst>
                <a:ext uri="{FF2B5EF4-FFF2-40B4-BE49-F238E27FC236}">
                  <a16:creationId xmlns:a16="http://schemas.microsoft.com/office/drawing/2014/main" id="{7C81A2DC-099D-A66D-8B67-4C217BC4A2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31177" y="1985071"/>
              <a:ext cx="1440000" cy="282018"/>
            </a:xfrm>
            <a:prstGeom prst="roundRect">
              <a:avLst>
                <a:gd name="adj" fmla="val 35352"/>
              </a:avLst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s-ES" dirty="0" err="1">
                  <a:latin typeface="Palatino Linotype" panose="02040502050505030304" pitchFamily="18" charset="0"/>
                </a:rPr>
                <a:t>Y</a:t>
              </a:r>
              <a:r>
                <a:rPr lang="es-ES" baseline="-25000" dirty="0" err="1">
                  <a:latin typeface="Palatino Linotype" panose="02040502050505030304" pitchFamily="18" charset="0"/>
                </a:rPr>
                <a:t>t</a:t>
              </a:r>
              <a:endParaRPr lang="en-GB" baseline="-25000" dirty="0">
                <a:latin typeface="Palatino Linotype" panose="02040502050505030304" pitchFamily="18" charset="0"/>
              </a:endParaRPr>
            </a:p>
          </p:txBody>
        </p:sp>
        <p:cxnSp>
          <p:nvCxnSpPr>
            <p:cNvPr id="52" name="Conector recto de flecha 297">
              <a:extLst>
                <a:ext uri="{FF2B5EF4-FFF2-40B4-BE49-F238E27FC236}">
                  <a16:creationId xmlns:a16="http://schemas.microsoft.com/office/drawing/2014/main" id="{E0E4203F-F3A7-8BF9-7FD4-3820EA9CB1D9}"/>
                </a:ext>
              </a:extLst>
            </p:cNvPr>
            <p:cNvCxnSpPr>
              <a:cxnSpLocks/>
              <a:stCxn id="41" idx="0"/>
              <a:endCxn id="42" idx="3"/>
            </p:cNvCxnSpPr>
            <p:nvPr/>
          </p:nvCxnSpPr>
          <p:spPr>
            <a:xfrm flipV="1">
              <a:off x="5843566" y="5024360"/>
              <a:ext cx="1255" cy="20743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de flecha 297">
              <a:extLst>
                <a:ext uri="{FF2B5EF4-FFF2-40B4-BE49-F238E27FC236}">
                  <a16:creationId xmlns:a16="http://schemas.microsoft.com/office/drawing/2014/main" id="{E5AA2BF8-5706-84C8-8CA3-C35DDDA8D892}"/>
                </a:ext>
              </a:extLst>
            </p:cNvPr>
            <p:cNvCxnSpPr>
              <a:cxnSpLocks/>
              <a:stCxn id="40" idx="0"/>
              <a:endCxn id="43" idx="3"/>
            </p:cNvCxnSpPr>
            <p:nvPr/>
          </p:nvCxnSpPr>
          <p:spPr>
            <a:xfrm flipV="1">
              <a:off x="7450111" y="5013959"/>
              <a:ext cx="1255" cy="2440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: Elbow 63">
              <a:extLst>
                <a:ext uri="{FF2B5EF4-FFF2-40B4-BE49-F238E27FC236}">
                  <a16:creationId xmlns:a16="http://schemas.microsoft.com/office/drawing/2014/main" id="{4B085908-11D4-B50A-2739-9BDAF1995D76}"/>
                </a:ext>
              </a:extLst>
            </p:cNvPr>
            <p:cNvCxnSpPr>
              <a:cxnSpLocks/>
              <a:stCxn id="43" idx="1"/>
              <a:endCxn id="6" idx="2"/>
            </p:cNvCxnSpPr>
            <p:nvPr/>
          </p:nvCxnSpPr>
          <p:spPr>
            <a:xfrm rot="16200000" flipV="1">
              <a:off x="6822954" y="4104746"/>
              <a:ext cx="456636" cy="800189"/>
            </a:xfrm>
            <a:prstGeom prst="bentConnector5">
              <a:avLst>
                <a:gd name="adj1" fmla="val 50062"/>
                <a:gd name="adj2" fmla="val 158"/>
                <a:gd name="adj3" fmla="val 49938"/>
              </a:avLst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recto de flecha 297">
              <a:extLst>
                <a:ext uri="{FF2B5EF4-FFF2-40B4-BE49-F238E27FC236}">
                  <a16:creationId xmlns:a16="http://schemas.microsoft.com/office/drawing/2014/main" id="{6D2CD355-49FA-C82E-C161-77E1135B89C4}"/>
                </a:ext>
              </a:extLst>
            </p:cNvPr>
            <p:cNvCxnSpPr>
              <a:cxnSpLocks/>
              <a:stCxn id="6" idx="0"/>
              <a:endCxn id="44" idx="3"/>
            </p:cNvCxnSpPr>
            <p:nvPr/>
          </p:nvCxnSpPr>
          <p:spPr>
            <a:xfrm flipV="1">
              <a:off x="6651177" y="2814644"/>
              <a:ext cx="1255" cy="22759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cto de flecha 297">
              <a:extLst>
                <a:ext uri="{FF2B5EF4-FFF2-40B4-BE49-F238E27FC236}">
                  <a16:creationId xmlns:a16="http://schemas.microsoft.com/office/drawing/2014/main" id="{84062A04-BC0C-1C84-F2BF-D6D5B988EAAC}"/>
                </a:ext>
              </a:extLst>
            </p:cNvPr>
            <p:cNvCxnSpPr>
              <a:cxnSpLocks/>
              <a:stCxn id="44" idx="1"/>
              <a:endCxn id="45" idx="2"/>
            </p:cNvCxnSpPr>
            <p:nvPr/>
          </p:nvCxnSpPr>
          <p:spPr>
            <a:xfrm flipH="1" flipV="1">
              <a:off x="6651177" y="2267089"/>
              <a:ext cx="1255" cy="2667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CuadroTexto 334">
              <a:extLst>
                <a:ext uri="{FF2B5EF4-FFF2-40B4-BE49-F238E27FC236}">
                  <a16:creationId xmlns:a16="http://schemas.microsoft.com/office/drawing/2014/main" id="{6B0E99B8-E035-3FE8-34DE-7AD023A0E72A}"/>
                </a:ext>
              </a:extLst>
            </p:cNvPr>
            <p:cNvSpPr txBox="1"/>
            <p:nvPr/>
          </p:nvSpPr>
          <p:spPr>
            <a:xfrm>
              <a:off x="8221462" y="3530799"/>
              <a:ext cx="1489800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>
                  <a:latin typeface="Palatino Linotype" panose="02040502050505030304" pitchFamily="18" charset="0"/>
                </a:rPr>
                <a:t>LSTM</a:t>
              </a:r>
            </a:p>
            <a:p>
              <a:r>
                <a:rPr lang="en-US" sz="1400" dirty="0">
                  <a:latin typeface="Palatino Linotype" panose="02040502050505030304" pitchFamily="18" charset="0"/>
                </a:rPr>
                <a:t>[365, 25, 64]</a:t>
              </a:r>
            </a:p>
          </p:txBody>
        </p:sp>
        <p:sp>
          <p:nvSpPr>
            <p:cNvPr id="76" name="CuadroTexto 334">
              <a:extLst>
                <a:ext uri="{FF2B5EF4-FFF2-40B4-BE49-F238E27FC236}">
                  <a16:creationId xmlns:a16="http://schemas.microsoft.com/office/drawing/2014/main" id="{9B19D6A4-345E-D090-F4BA-7E21100CD9F6}"/>
                </a:ext>
              </a:extLst>
            </p:cNvPr>
            <p:cNvSpPr txBox="1"/>
            <p:nvPr/>
          </p:nvSpPr>
          <p:spPr>
            <a:xfrm>
              <a:off x="8221461" y="4751581"/>
              <a:ext cx="1607003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>
                  <a:latin typeface="Palatino Linotype" panose="02040502050505030304" pitchFamily="18" charset="0"/>
                </a:rPr>
                <a:t>embedding MLP</a:t>
              </a:r>
            </a:p>
          </p:txBody>
        </p:sp>
        <p:sp>
          <p:nvSpPr>
            <p:cNvPr id="77" name="CuadroTexto 334">
              <a:extLst>
                <a:ext uri="{FF2B5EF4-FFF2-40B4-BE49-F238E27FC236}">
                  <a16:creationId xmlns:a16="http://schemas.microsoft.com/office/drawing/2014/main" id="{BF5F2A95-A0F3-9513-925B-F07B36B34C3B}"/>
                </a:ext>
              </a:extLst>
            </p:cNvPr>
            <p:cNvSpPr txBox="1"/>
            <p:nvPr/>
          </p:nvSpPr>
          <p:spPr>
            <a:xfrm>
              <a:off x="8221462" y="2551133"/>
              <a:ext cx="14898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>
                  <a:latin typeface="Palatino Linotype" panose="02040502050505030304" pitchFamily="18" charset="0"/>
                </a:rPr>
                <a:t>head MLP</a:t>
              </a:r>
            </a:p>
          </p:txBody>
        </p:sp>
        <p:cxnSp>
          <p:nvCxnSpPr>
            <p:cNvPr id="81" name="Connector: Elbow 80">
              <a:extLst>
                <a:ext uri="{FF2B5EF4-FFF2-40B4-BE49-F238E27FC236}">
                  <a16:creationId xmlns:a16="http://schemas.microsoft.com/office/drawing/2014/main" id="{4CAAC6DD-1685-E445-26B4-769362E701C6}"/>
                </a:ext>
              </a:extLst>
            </p:cNvPr>
            <p:cNvCxnSpPr>
              <a:cxnSpLocks/>
              <a:stCxn id="42" idx="1"/>
              <a:endCxn id="6" idx="2"/>
            </p:cNvCxnSpPr>
            <p:nvPr/>
          </p:nvCxnSpPr>
          <p:spPr>
            <a:xfrm rot="5400000" flipH="1" flipV="1">
              <a:off x="6014481" y="4106864"/>
              <a:ext cx="467037" cy="806356"/>
            </a:xfrm>
            <a:prstGeom prst="bentConnector5">
              <a:avLst>
                <a:gd name="adj1" fmla="val 48947"/>
                <a:gd name="adj2" fmla="val 922"/>
                <a:gd name="adj3" fmla="val 51053"/>
              </a:avLst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12BC1E22-85FE-BD36-E54B-BD6C7FEE2CF8}"/>
              </a:ext>
            </a:extLst>
          </p:cNvPr>
          <p:cNvSpPr txBox="1"/>
          <p:nvPr/>
        </p:nvSpPr>
        <p:spPr>
          <a:xfrm>
            <a:off x="5662594" y="3048888"/>
            <a:ext cx="5928407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Dynamic inputs 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s-ES" sz="1600" dirty="0" err="1">
                <a:latin typeface="Palatino Linotype" panose="02040502050505030304" pitchFamily="18" charset="0"/>
              </a:rPr>
              <a:t>X</a:t>
            </a:r>
            <a:r>
              <a:rPr lang="es-ES" sz="1600" baseline="-25000" dirty="0" err="1">
                <a:latin typeface="Palatino Linotype" panose="02040502050505030304" pitchFamily="18" charset="0"/>
              </a:rPr>
              <a:t>s</a:t>
            </a:r>
            <a:r>
              <a:rPr lang="es-ES" sz="1600" dirty="0">
                <a:latin typeface="Palatino Linotype" panose="02040502050505030304" pitchFamily="18" charset="0"/>
              </a:rPr>
              <a:t>: 9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):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Meteorology:		 ROCIO-IBEB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Temporal encoders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497857D7-6A21-590E-A7AA-1521792029AF}"/>
              </a:ext>
            </a:extLst>
          </p:cNvPr>
          <p:cNvSpPr/>
          <p:nvPr/>
        </p:nvSpPr>
        <p:spPr>
          <a:xfrm>
            <a:off x="590320" y="352130"/>
            <a:ext cx="11052000" cy="546497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00968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Rectangle: Rounded Corners 50">
            <a:hlinkClick r:id="rId2" action="ppaction://hlinksldjump"/>
            <a:extLst>
              <a:ext uri="{FF2B5EF4-FFF2-40B4-BE49-F238E27FC236}">
                <a16:creationId xmlns:a16="http://schemas.microsoft.com/office/drawing/2014/main" id="{4C538BB1-D752-E989-AB53-AE77CF925AC8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Fine tuning</a:t>
            </a:r>
          </a:p>
        </p:txBody>
      </p:sp>
      <p:sp>
        <p:nvSpPr>
          <p:cNvPr id="53" name="Rectangle: Rounded Corners 52">
            <a:hlinkClick r:id="rId3" action="ppaction://hlinksldjump"/>
            <a:extLst>
              <a:ext uri="{FF2B5EF4-FFF2-40B4-BE49-F238E27FC236}">
                <a16:creationId xmlns:a16="http://schemas.microsoft.com/office/drawing/2014/main" id="{60DC6429-7198-B32D-9779-CBF4D3FD049D}"/>
              </a:ext>
            </a:extLst>
          </p:cNvPr>
          <p:cNvSpPr/>
          <p:nvPr/>
        </p:nvSpPr>
        <p:spPr>
          <a:xfrm>
            <a:off x="646599" y="387853"/>
            <a:ext cx="2700000" cy="450000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Base model</a:t>
            </a:r>
          </a:p>
        </p:txBody>
      </p:sp>
      <p:sp>
        <p:nvSpPr>
          <p:cNvPr id="54" name="Rectangle: Rounded Corners 53">
            <a:hlinkClick r:id="rId3" action="ppaction://hlinksldjump"/>
            <a:extLst>
              <a:ext uri="{FF2B5EF4-FFF2-40B4-BE49-F238E27FC236}">
                <a16:creationId xmlns:a16="http://schemas.microsoft.com/office/drawing/2014/main" id="{816B3B8B-55E5-921A-D85A-1FBEC111133F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Transfer learning</a:t>
            </a:r>
          </a:p>
        </p:txBody>
      </p:sp>
      <p:sp>
        <p:nvSpPr>
          <p:cNvPr id="55" name="Rectangle: Rounded Corners 54">
            <a:hlinkClick r:id="rId4" action="ppaction://hlinksldjump"/>
            <a:extLst>
              <a:ext uri="{FF2B5EF4-FFF2-40B4-BE49-F238E27FC236}">
                <a16:creationId xmlns:a16="http://schemas.microsoft.com/office/drawing/2014/main" id="{7FEF7074-1811-4AB2-8F8D-767464115473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Forecasting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95789F-635C-5EDC-AEB1-63607AD7086A}"/>
              </a:ext>
            </a:extLst>
          </p:cNvPr>
          <p:cNvGrpSpPr/>
          <p:nvPr/>
        </p:nvGrpSpPr>
        <p:grpSpPr>
          <a:xfrm>
            <a:off x="617518" y="6297383"/>
            <a:ext cx="11052000" cy="418967"/>
            <a:chOff x="617518" y="6297383"/>
            <a:chExt cx="11052000" cy="418967"/>
          </a:xfrm>
        </p:grpSpPr>
        <p:sp>
          <p:nvSpPr>
            <p:cNvPr id="12" name="Left Bracket 11">
              <a:extLst>
                <a:ext uri="{FF2B5EF4-FFF2-40B4-BE49-F238E27FC236}">
                  <a16:creationId xmlns:a16="http://schemas.microsoft.com/office/drawing/2014/main" id="{0B606899-79D8-E741-C151-225D3DE91AC4}"/>
                </a:ext>
              </a:extLst>
            </p:cNvPr>
            <p:cNvSpPr/>
            <p:nvPr/>
          </p:nvSpPr>
          <p:spPr>
            <a:xfrm rot="5400000">
              <a:off x="6053518" y="861383"/>
              <a:ext cx="180000" cy="11052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7" name="Picture 16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EC371049-207F-11C8-BD10-49D1E54CF9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51CB840-CA96-6F5C-DC7C-86198CE9C08E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26" name="Picture 25" descr="A blue and green logo&#10;&#10;AI-generated content may be incorrect.">
              <a:extLst>
                <a:ext uri="{FF2B5EF4-FFF2-40B4-BE49-F238E27FC236}">
                  <a16:creationId xmlns:a16="http://schemas.microsoft.com/office/drawing/2014/main" id="{2BAC08D5-255E-E130-A706-A12E99715D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4162" y="6356350"/>
              <a:ext cx="696152" cy="360000"/>
            </a:xfrm>
            <a:prstGeom prst="rect">
              <a:avLst/>
            </a:prstGeom>
          </p:spPr>
        </p:pic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0D760218-3118-314E-D82B-3A6CE7B5A972}"/>
              </a:ext>
            </a:extLst>
          </p:cNvPr>
          <p:cNvSpPr txBox="1"/>
          <p:nvPr/>
        </p:nvSpPr>
        <p:spPr>
          <a:xfrm>
            <a:off x="5662594" y="3930177"/>
            <a:ext cx="592840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Target variables 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(</a:t>
            </a:r>
            <a:r>
              <a:rPr lang="es-ES" sz="1600" dirty="0" err="1">
                <a:latin typeface="Palatino Linotype" panose="02040502050505030304" pitchFamily="18" charset="0"/>
              </a:rPr>
              <a:t>Y</a:t>
            </a:r>
            <a:r>
              <a:rPr lang="es-ES" sz="1600" baseline="-25000" dirty="0" err="1">
                <a:latin typeface="Palatino Linotype" panose="02040502050505030304" pitchFamily="18" charset="0"/>
              </a:rPr>
              <a:t>t</a:t>
            </a:r>
            <a:r>
              <a:rPr lang="es-ES" sz="1600" dirty="0">
                <a:latin typeface="Palatino Linotype" panose="02040502050505030304" pitchFamily="18" charset="0"/>
              </a:rPr>
              <a:t>: 1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):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Specific discharge: 	CEDEX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57437E-D80F-8D20-73FB-89B60CBB07EE}"/>
              </a:ext>
            </a:extLst>
          </p:cNvPr>
          <p:cNvSpPr txBox="1"/>
          <p:nvPr/>
        </p:nvSpPr>
        <p:spPr>
          <a:xfrm>
            <a:off x="590320" y="1108120"/>
            <a:ext cx="609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9684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CudaLSTM</a:t>
            </a:r>
            <a:endParaRPr lang="en-US" sz="1800" dirty="0">
              <a:solidFill>
                <a:srgbClr val="009684"/>
              </a:solidFill>
              <a:latin typeface="Consolas" panose="020B0609020204030204" pitchFamily="49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EC19B8-8EAD-1477-11FE-1DADE5CA9595}"/>
              </a:ext>
            </a:extLst>
          </p:cNvPr>
          <p:cNvSpPr txBox="1"/>
          <p:nvPr/>
        </p:nvSpPr>
        <p:spPr>
          <a:xfrm>
            <a:off x="5662594" y="4545174"/>
            <a:ext cx="5928407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7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Stations</a:t>
            </a:r>
            <a:r>
              <a:rPr lang="es-ES" sz="17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1600" dirty="0">
                <a:latin typeface="Palatino Linotype" panose="02040502050505030304" pitchFamily="18" charset="0"/>
              </a:rPr>
              <a:t>(651)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Training: 		391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Validation: 		130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Test:			130</a:t>
            </a:r>
          </a:p>
        </p:txBody>
      </p:sp>
    </p:spTree>
    <p:extLst>
      <p:ext uri="{BB962C8B-B14F-4D97-AF65-F5344CB8AC3E}">
        <p14:creationId xmlns:p14="http://schemas.microsoft.com/office/powerpoint/2010/main" val="3296483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9F72E-3D2B-67CD-34ED-F6D0A8A86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C02B9-4E2D-CBCB-3A81-C89315486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F38E9-D8C3-DE48-41FD-49F855EA4169}"/>
              </a:ext>
            </a:extLst>
          </p:cNvPr>
          <p:cNvSpPr txBox="1"/>
          <p:nvPr/>
        </p:nvSpPr>
        <p:spPr>
          <a:xfrm>
            <a:off x="5502848" y="1504995"/>
            <a:ext cx="5928407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Fine-tuning means that a model is pre-trained with a large amount of data (or a different purpose), but then that same model is re-trained on a smaller, more specific dataset. The model weights are not allowed to change dramatically, so it keeps the knowledge gained during pre-training.</a:t>
            </a:r>
          </a:p>
          <a:p>
            <a:endParaRPr lang="en-US" sz="17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The model is </a:t>
            </a:r>
            <a:r>
              <a:rPr lang="en-US" sz="1700" b="1" dirty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pre-trained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 on the complete </a:t>
            </a:r>
            <a:r>
              <a:rPr lang="en-US" sz="1700" b="1" dirty="0">
                <a:solidFill>
                  <a:schemeClr val="accent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CAMELS-ES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 dataset, learning general patterns in the Hydrology of the country. Later, the model is </a:t>
            </a:r>
            <a:r>
              <a:rPr lang="en-US" sz="1700" b="1" dirty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fine-tuned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 to a </a:t>
            </a:r>
            <a:r>
              <a:rPr lang="en-US" sz="1700" b="1" dirty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specific basin 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of interest, so it learns specific features in that area.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4CAB9AB-E226-1890-B7DB-3E1F7E9BDF40}"/>
              </a:ext>
            </a:extLst>
          </p:cNvPr>
          <p:cNvGrpSpPr/>
          <p:nvPr/>
        </p:nvGrpSpPr>
        <p:grpSpPr>
          <a:xfrm>
            <a:off x="838200" y="1884150"/>
            <a:ext cx="4648066" cy="3554997"/>
            <a:chOff x="5123566" y="1985071"/>
            <a:chExt cx="4648066" cy="3554997"/>
          </a:xfrm>
        </p:grpSpPr>
        <p:grpSp>
          <p:nvGrpSpPr>
            <p:cNvPr id="2" name="Grupo 271">
              <a:extLst>
                <a:ext uri="{FF2B5EF4-FFF2-40B4-BE49-F238E27FC236}">
                  <a16:creationId xmlns:a16="http://schemas.microsoft.com/office/drawing/2014/main" id="{EEC5C048-80F8-137A-51EC-D033CE74121F}"/>
                </a:ext>
              </a:extLst>
            </p:cNvPr>
            <p:cNvGrpSpPr/>
            <p:nvPr/>
          </p:nvGrpSpPr>
          <p:grpSpPr>
            <a:xfrm>
              <a:off x="5931177" y="3039838"/>
              <a:ext cx="1440000" cy="1236685"/>
              <a:chOff x="3929140" y="2907883"/>
              <a:chExt cx="1440000" cy="1236685"/>
            </a:xfrm>
          </p:grpSpPr>
          <p:sp>
            <p:nvSpPr>
              <p:cNvPr id="6" name="Rectángulo: esquinas redondeadas 272">
                <a:extLst>
                  <a:ext uri="{FF2B5EF4-FFF2-40B4-BE49-F238E27FC236}">
                    <a16:creationId xmlns:a16="http://schemas.microsoft.com/office/drawing/2014/main" id="{AF88B9C4-9079-7A35-5906-96F153B0374C}"/>
                  </a:ext>
                </a:extLst>
              </p:cNvPr>
              <p:cNvSpPr/>
              <p:nvPr/>
            </p:nvSpPr>
            <p:spPr>
              <a:xfrm>
                <a:off x="3929140" y="2910282"/>
                <a:ext cx="1440000" cy="1234286"/>
              </a:xfrm>
              <a:prstGeom prst="roundRect">
                <a:avLst>
                  <a:gd name="adj" fmla="val 11953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cxnSp>
            <p:nvCxnSpPr>
              <p:cNvPr id="8" name="Conector recto de flecha 273">
                <a:extLst>
                  <a:ext uri="{FF2B5EF4-FFF2-40B4-BE49-F238E27FC236}">
                    <a16:creationId xmlns:a16="http://schemas.microsoft.com/office/drawing/2014/main" id="{7B0F4375-F2E0-68B5-7DC0-1C91E7AFF996}"/>
                  </a:ext>
                </a:extLst>
              </p:cNvPr>
              <p:cNvCxnSpPr>
                <a:cxnSpLocks/>
                <a:endCxn id="14" idx="2"/>
              </p:cNvCxnSpPr>
              <p:nvPr/>
            </p:nvCxnSpPr>
            <p:spPr>
              <a:xfrm>
                <a:off x="3929140" y="3116434"/>
                <a:ext cx="374637" cy="0"/>
              </a:xfrm>
              <a:prstGeom prst="straightConnector1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: angular 274">
                <a:extLst>
                  <a:ext uri="{FF2B5EF4-FFF2-40B4-BE49-F238E27FC236}">
                    <a16:creationId xmlns:a16="http://schemas.microsoft.com/office/drawing/2014/main" id="{F25862AA-85C7-849C-FD17-3DD122BADB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29140" y="3568568"/>
                <a:ext cx="1037285" cy="367448"/>
              </a:xfrm>
              <a:prstGeom prst="bentConnector3">
                <a:avLst>
                  <a:gd name="adj1" fmla="val 99907"/>
                </a:avLst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Elipse 275">
                <a:extLst>
                  <a:ext uri="{FF2B5EF4-FFF2-40B4-BE49-F238E27FC236}">
                    <a16:creationId xmlns:a16="http://schemas.microsoft.com/office/drawing/2014/main" id="{7C86D89E-FC2B-4A32-6BE4-7C0BE0FF291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3777" y="3075291"/>
                <a:ext cx="82286" cy="82286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Elipse 276">
                <a:extLst>
                  <a:ext uri="{FF2B5EF4-FFF2-40B4-BE49-F238E27FC236}">
                    <a16:creationId xmlns:a16="http://schemas.microsoft.com/office/drawing/2014/main" id="{CF9608F3-8F77-064B-8BB8-0AF8EADA57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13929" y="3490225"/>
                <a:ext cx="82286" cy="82286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Elipse 277">
                <a:extLst>
                  <a:ext uri="{FF2B5EF4-FFF2-40B4-BE49-F238E27FC236}">
                    <a16:creationId xmlns:a16="http://schemas.microsoft.com/office/drawing/2014/main" id="{122D0CC9-AA40-A9E0-2C72-20FD866D923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16931" y="3076568"/>
                <a:ext cx="82286" cy="82286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Elipse 278">
                <a:extLst>
                  <a:ext uri="{FF2B5EF4-FFF2-40B4-BE49-F238E27FC236}">
                    <a16:creationId xmlns:a16="http://schemas.microsoft.com/office/drawing/2014/main" id="{6B17A4FC-69FE-AB53-EC19-263B1AC40A6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25283" y="3486282"/>
                <a:ext cx="82286" cy="82286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Conector recto de flecha 279">
                <a:extLst>
                  <a:ext uri="{FF2B5EF4-FFF2-40B4-BE49-F238E27FC236}">
                    <a16:creationId xmlns:a16="http://schemas.microsoft.com/office/drawing/2014/main" id="{DBD480CA-7F45-4F61-4D5C-C2F50EB5AC5F}"/>
                  </a:ext>
                </a:extLst>
              </p:cNvPr>
              <p:cNvCxnSpPr>
                <a:cxnSpLocks/>
                <a:stCxn id="14" idx="6"/>
                <a:endCxn id="16" idx="2"/>
              </p:cNvCxnSpPr>
              <p:nvPr/>
            </p:nvCxnSpPr>
            <p:spPr>
              <a:xfrm>
                <a:off x="4386063" y="3116434"/>
                <a:ext cx="330869" cy="1277"/>
              </a:xfrm>
              <a:prstGeom prst="straightConnector1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ector: angular 280">
                <a:extLst>
                  <a:ext uri="{FF2B5EF4-FFF2-40B4-BE49-F238E27FC236}">
                    <a16:creationId xmlns:a16="http://schemas.microsoft.com/office/drawing/2014/main" id="{92DD7729-B7AD-5A3D-AC4E-D8E5B1F99A85}"/>
                  </a:ext>
                </a:extLst>
              </p:cNvPr>
              <p:cNvCxnSpPr>
                <a:cxnSpLocks/>
                <a:endCxn id="15" idx="4"/>
              </p:cNvCxnSpPr>
              <p:nvPr/>
            </p:nvCxnSpPr>
            <p:spPr>
              <a:xfrm flipV="1">
                <a:off x="3929140" y="3572511"/>
                <a:ext cx="825931" cy="363505"/>
              </a:xfrm>
              <a:prstGeom prst="bentConnector2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ector: angular 281">
                <a:extLst>
                  <a:ext uri="{FF2B5EF4-FFF2-40B4-BE49-F238E27FC236}">
                    <a16:creationId xmlns:a16="http://schemas.microsoft.com/office/drawing/2014/main" id="{D1604FB2-E75E-9474-05DF-CD88C5DEFACE}"/>
                  </a:ext>
                </a:extLst>
              </p:cNvPr>
              <p:cNvCxnSpPr>
                <a:cxnSpLocks/>
                <a:stCxn id="28" idx="3"/>
                <a:endCxn id="14" idx="4"/>
              </p:cNvCxnSpPr>
              <p:nvPr/>
            </p:nvCxnSpPr>
            <p:spPr>
              <a:xfrm flipV="1">
                <a:off x="4249700" y="3157577"/>
                <a:ext cx="95220" cy="777350"/>
              </a:xfrm>
              <a:prstGeom prst="bentConnector2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ector recto de flecha 282">
                <a:extLst>
                  <a:ext uri="{FF2B5EF4-FFF2-40B4-BE49-F238E27FC236}">
                    <a16:creationId xmlns:a16="http://schemas.microsoft.com/office/drawing/2014/main" id="{36076EA6-0D63-5119-E0A0-4EDBEF01BB0F}"/>
                  </a:ext>
                </a:extLst>
              </p:cNvPr>
              <p:cNvCxnSpPr>
                <a:cxnSpLocks/>
                <a:stCxn id="15" idx="0"/>
                <a:endCxn id="16" idx="4"/>
              </p:cNvCxnSpPr>
              <p:nvPr/>
            </p:nvCxnSpPr>
            <p:spPr>
              <a:xfrm flipV="1">
                <a:off x="4755071" y="3158854"/>
                <a:ext cx="3003" cy="331371"/>
              </a:xfrm>
              <a:prstGeom prst="straightConnector1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Conector recto de flecha 283">
                <a:extLst>
                  <a:ext uri="{FF2B5EF4-FFF2-40B4-BE49-F238E27FC236}">
                    <a16:creationId xmlns:a16="http://schemas.microsoft.com/office/drawing/2014/main" id="{DB0AF6A2-A6C9-1A34-4CBB-9EF1C483A46E}"/>
                  </a:ext>
                </a:extLst>
              </p:cNvPr>
              <p:cNvCxnSpPr>
                <a:cxnSpLocks/>
                <a:stCxn id="16" idx="6"/>
              </p:cNvCxnSpPr>
              <p:nvPr/>
            </p:nvCxnSpPr>
            <p:spPr>
              <a:xfrm flipV="1">
                <a:off x="4799217" y="3116434"/>
                <a:ext cx="569923" cy="1277"/>
              </a:xfrm>
              <a:prstGeom prst="straightConnector1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ector: angular 284">
                <a:extLst>
                  <a:ext uri="{FF2B5EF4-FFF2-40B4-BE49-F238E27FC236}">
                    <a16:creationId xmlns:a16="http://schemas.microsoft.com/office/drawing/2014/main" id="{44F6C6DE-9443-833B-32F2-CEF0D0DCAE25}"/>
                  </a:ext>
                </a:extLst>
              </p:cNvPr>
              <p:cNvCxnSpPr>
                <a:cxnSpLocks/>
                <a:stCxn id="16" idx="6"/>
                <a:endCxn id="18" idx="0"/>
              </p:cNvCxnSpPr>
              <p:nvPr/>
            </p:nvCxnSpPr>
            <p:spPr>
              <a:xfrm>
                <a:off x="4799217" y="3117711"/>
                <a:ext cx="167208" cy="368571"/>
              </a:xfrm>
              <a:prstGeom prst="bentConnector2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: angular 285">
                <a:extLst>
                  <a:ext uri="{FF2B5EF4-FFF2-40B4-BE49-F238E27FC236}">
                    <a16:creationId xmlns:a16="http://schemas.microsoft.com/office/drawing/2014/main" id="{3F0261A0-FB27-3075-FBE2-0DD628E00FED}"/>
                  </a:ext>
                </a:extLst>
              </p:cNvPr>
              <p:cNvCxnSpPr>
                <a:cxnSpLocks/>
                <a:stCxn id="18" idx="6"/>
              </p:cNvCxnSpPr>
              <p:nvPr/>
            </p:nvCxnSpPr>
            <p:spPr>
              <a:xfrm>
                <a:off x="5007568" y="3527425"/>
                <a:ext cx="361572" cy="413429"/>
              </a:xfrm>
              <a:prstGeom prst="bentConnector3">
                <a:avLst>
                  <a:gd name="adj1" fmla="val 44648"/>
                </a:avLst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Rectángulo 286">
                <a:extLst>
                  <a:ext uri="{FF2B5EF4-FFF2-40B4-BE49-F238E27FC236}">
                    <a16:creationId xmlns:a16="http://schemas.microsoft.com/office/drawing/2014/main" id="{E9E30904-BA67-D859-C284-039A3DED5DAD}"/>
                  </a:ext>
                </a:extLst>
              </p:cNvPr>
              <p:cNvSpPr/>
              <p:nvPr/>
            </p:nvSpPr>
            <p:spPr>
              <a:xfrm>
                <a:off x="4217640" y="3850288"/>
                <a:ext cx="32060" cy="16927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s-ES" sz="1100" dirty="0">
                    <a:solidFill>
                      <a:schemeClr val="tx1"/>
                    </a:solidFill>
                  </a:rPr>
                  <a:t> </a:t>
                </a:r>
                <a:endParaRPr lang="en-GB" sz="11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Rectángulo 287">
                <a:extLst>
                  <a:ext uri="{FF2B5EF4-FFF2-40B4-BE49-F238E27FC236}">
                    <a16:creationId xmlns:a16="http://schemas.microsoft.com/office/drawing/2014/main" id="{25684760-21E9-74D5-0F1C-3F28A956FBCE}"/>
                  </a:ext>
                </a:extLst>
              </p:cNvPr>
              <p:cNvSpPr/>
              <p:nvPr/>
            </p:nvSpPr>
            <p:spPr>
              <a:xfrm>
                <a:off x="4626504" y="3654795"/>
                <a:ext cx="256480" cy="153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s-ES" sz="1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Palatino Linotype" panose="02040502050505030304" pitchFamily="18" charset="0"/>
                  </a:rPr>
                  <a:t>tanh</a:t>
                </a:r>
                <a:endParaRPr lang="en-GB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endParaRPr>
              </a:p>
            </p:txBody>
          </p:sp>
          <p:sp>
            <p:nvSpPr>
              <p:cNvPr id="33" name="Rectángulo 288">
                <a:extLst>
                  <a:ext uri="{FF2B5EF4-FFF2-40B4-BE49-F238E27FC236}">
                    <a16:creationId xmlns:a16="http://schemas.microsoft.com/office/drawing/2014/main" id="{55119DE6-3AB5-836B-39B5-E89EE0BC1D4D}"/>
                  </a:ext>
                </a:extLst>
              </p:cNvPr>
              <p:cNvSpPr/>
              <p:nvPr/>
            </p:nvSpPr>
            <p:spPr>
              <a:xfrm>
                <a:off x="4927953" y="3654795"/>
                <a:ext cx="76944" cy="153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l-GR" sz="1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Palatino Linotype" panose="02040502050505030304" pitchFamily="18" charset="0"/>
                  </a:rPr>
                  <a:t>σ</a:t>
                </a:r>
                <a:endParaRPr lang="en-GB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endParaRPr>
              </a:p>
            </p:txBody>
          </p:sp>
          <p:sp>
            <p:nvSpPr>
              <p:cNvPr id="34" name="Rectángulo 289">
                <a:extLst>
                  <a:ext uri="{FF2B5EF4-FFF2-40B4-BE49-F238E27FC236}">
                    <a16:creationId xmlns:a16="http://schemas.microsoft.com/office/drawing/2014/main" id="{77629F17-D54A-A870-31D7-67038AC7CD54}"/>
                  </a:ext>
                </a:extLst>
              </p:cNvPr>
              <p:cNvSpPr/>
              <p:nvPr/>
            </p:nvSpPr>
            <p:spPr>
              <a:xfrm>
                <a:off x="4838186" y="3235882"/>
                <a:ext cx="256480" cy="153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s-ES" sz="1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Palatino Linotype" panose="02040502050505030304" pitchFamily="18" charset="0"/>
                  </a:rPr>
                  <a:t>tanh</a:t>
                </a:r>
                <a:endParaRPr lang="en-GB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endParaRPr>
              </a:p>
            </p:txBody>
          </p:sp>
          <p:cxnSp>
            <p:nvCxnSpPr>
              <p:cNvPr id="35" name="Conector: angular 290">
                <a:extLst>
                  <a:ext uri="{FF2B5EF4-FFF2-40B4-BE49-F238E27FC236}">
                    <a16:creationId xmlns:a16="http://schemas.microsoft.com/office/drawing/2014/main" id="{730D5AAD-9932-4135-3F94-983EC3898FB7}"/>
                  </a:ext>
                </a:extLst>
              </p:cNvPr>
              <p:cNvCxnSpPr>
                <a:cxnSpLocks/>
                <a:stCxn id="18" idx="6"/>
              </p:cNvCxnSpPr>
              <p:nvPr/>
            </p:nvCxnSpPr>
            <p:spPr>
              <a:xfrm>
                <a:off x="5007569" y="3527425"/>
                <a:ext cx="161331" cy="617143"/>
              </a:xfrm>
              <a:prstGeom prst="bentConnector2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: angular 291">
                <a:extLst>
                  <a:ext uri="{FF2B5EF4-FFF2-40B4-BE49-F238E27FC236}">
                    <a16:creationId xmlns:a16="http://schemas.microsoft.com/office/drawing/2014/main" id="{E5730129-1848-71B1-6FCD-A5240FC2321E}"/>
                  </a:ext>
                </a:extLst>
              </p:cNvPr>
              <p:cNvCxnSpPr>
                <a:cxnSpLocks/>
                <a:endCxn id="28" idx="1"/>
              </p:cNvCxnSpPr>
              <p:nvPr/>
            </p:nvCxnSpPr>
            <p:spPr>
              <a:xfrm rot="16200000" flipH="1">
                <a:off x="3671065" y="3388351"/>
                <a:ext cx="1027043" cy="66108"/>
              </a:xfrm>
              <a:prstGeom prst="bentConnector2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ector: angular 292">
                <a:extLst>
                  <a:ext uri="{FF2B5EF4-FFF2-40B4-BE49-F238E27FC236}">
                    <a16:creationId xmlns:a16="http://schemas.microsoft.com/office/drawing/2014/main" id="{09EBD26C-10CD-D74F-5D36-46FDE13C82A0}"/>
                  </a:ext>
                </a:extLst>
              </p:cNvPr>
              <p:cNvCxnSpPr>
                <a:cxnSpLocks/>
                <a:endCxn id="15" idx="2"/>
              </p:cNvCxnSpPr>
              <p:nvPr/>
            </p:nvCxnSpPr>
            <p:spPr>
              <a:xfrm flipV="1">
                <a:off x="3929140" y="3531368"/>
                <a:ext cx="784789" cy="404648"/>
              </a:xfrm>
              <a:prstGeom prst="bentConnector3">
                <a:avLst>
                  <a:gd name="adj1" fmla="val 78667"/>
                </a:avLst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Rectángulo 293">
                <a:extLst>
                  <a:ext uri="{FF2B5EF4-FFF2-40B4-BE49-F238E27FC236}">
                    <a16:creationId xmlns:a16="http://schemas.microsoft.com/office/drawing/2014/main" id="{BE65AC9A-5723-2A50-341B-91F1322D2A0B}"/>
                  </a:ext>
                </a:extLst>
              </p:cNvPr>
              <p:cNvSpPr/>
              <p:nvPr/>
            </p:nvSpPr>
            <p:spPr>
              <a:xfrm>
                <a:off x="4509094" y="3654795"/>
                <a:ext cx="76944" cy="153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l-GR" sz="1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Palatino Linotype" panose="02040502050505030304" pitchFamily="18" charset="0"/>
                  </a:rPr>
                  <a:t>σ</a:t>
                </a:r>
                <a:endParaRPr lang="en-GB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endParaRPr>
              </a:p>
            </p:txBody>
          </p:sp>
          <p:sp>
            <p:nvSpPr>
              <p:cNvPr id="39" name="Rectángulo 294">
                <a:extLst>
                  <a:ext uri="{FF2B5EF4-FFF2-40B4-BE49-F238E27FC236}">
                    <a16:creationId xmlns:a16="http://schemas.microsoft.com/office/drawing/2014/main" id="{AEF559AA-C130-6D82-174D-4021D52BE4DB}"/>
                  </a:ext>
                </a:extLst>
              </p:cNvPr>
              <p:cNvSpPr/>
              <p:nvPr/>
            </p:nvSpPr>
            <p:spPr>
              <a:xfrm>
                <a:off x="4306449" y="3647101"/>
                <a:ext cx="76944" cy="153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l-GR" sz="1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Palatino Linotype" panose="02040502050505030304" pitchFamily="18" charset="0"/>
                  </a:rPr>
                  <a:t>σ</a:t>
                </a:r>
                <a:endParaRPr lang="en-GB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endParaRPr>
              </a:p>
            </p:txBody>
          </p:sp>
        </p:grpSp>
        <p:sp>
          <p:nvSpPr>
            <p:cNvPr id="40" name="Rectángulo: esquinas redondeadas 7">
              <a:extLst>
                <a:ext uri="{FF2B5EF4-FFF2-40B4-BE49-F238E27FC236}">
                  <a16:creationId xmlns:a16="http://schemas.microsoft.com/office/drawing/2014/main" id="{49F0A9A5-3201-E80C-3B85-ADF5B476B4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30111" y="5258050"/>
              <a:ext cx="1440000" cy="282018"/>
            </a:xfrm>
            <a:prstGeom prst="roundRect">
              <a:avLst>
                <a:gd name="adj" fmla="val 35352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X</a:t>
              </a:r>
              <a:r>
                <a:rPr lang="es-ES" baseline="-250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d</a:t>
              </a:r>
              <a:endParaRPr lang="en-GB" baseline="-250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41" name="Rectángulo: esquinas redondeadas 8">
              <a:extLst>
                <a:ext uri="{FF2B5EF4-FFF2-40B4-BE49-F238E27FC236}">
                  <a16:creationId xmlns:a16="http://schemas.microsoft.com/office/drawing/2014/main" id="{B36133AB-89E9-AF5B-BA6F-F543D3A394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23566" y="5231798"/>
              <a:ext cx="1440000" cy="282018"/>
            </a:xfrm>
            <a:prstGeom prst="roundRect">
              <a:avLst>
                <a:gd name="adj" fmla="val 35352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X</a:t>
              </a:r>
              <a:r>
                <a:rPr lang="es-ES" baseline="-250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s</a:t>
              </a:r>
              <a:endParaRPr lang="en-GB" baseline="-250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42" name="Rectángulo: esquinas redondeadas 299">
              <a:extLst>
                <a:ext uri="{FF2B5EF4-FFF2-40B4-BE49-F238E27FC236}">
                  <a16:creationId xmlns:a16="http://schemas.microsoft.com/office/drawing/2014/main" id="{116524DD-44AD-7BE5-95BE-2E9DA768B9B1}"/>
                </a:ext>
              </a:extLst>
            </p:cNvPr>
            <p:cNvSpPr/>
            <p:nvPr/>
          </p:nvSpPr>
          <p:spPr>
            <a:xfrm rot="5400000">
              <a:off x="5704421" y="4165215"/>
              <a:ext cx="280800" cy="1437490"/>
            </a:xfrm>
            <a:prstGeom prst="roundRect">
              <a:avLst>
                <a:gd name="adj" fmla="val 11953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[31, 64, 32, 16]</a:t>
              </a:r>
              <a:endParaRPr lang="en-GB" sz="1400" dirty="0">
                <a:solidFill>
                  <a:schemeClr val="bg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43" name="Rectángulo: esquinas redondeadas 299">
              <a:extLst>
                <a:ext uri="{FF2B5EF4-FFF2-40B4-BE49-F238E27FC236}">
                  <a16:creationId xmlns:a16="http://schemas.microsoft.com/office/drawing/2014/main" id="{8233FD62-3E92-05FB-D046-781C3098276A}"/>
                </a:ext>
              </a:extLst>
            </p:cNvPr>
            <p:cNvSpPr/>
            <p:nvPr/>
          </p:nvSpPr>
          <p:spPr>
            <a:xfrm rot="5400000">
              <a:off x="7310966" y="4154814"/>
              <a:ext cx="280800" cy="1437490"/>
            </a:xfrm>
            <a:prstGeom prst="roundRect">
              <a:avLst>
                <a:gd name="adj" fmla="val 11953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[9, 9]</a:t>
              </a:r>
              <a:endParaRPr lang="en-GB" sz="1400" dirty="0">
                <a:solidFill>
                  <a:schemeClr val="bg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44" name="Rectángulo: esquinas redondeadas 299">
              <a:extLst>
                <a:ext uri="{FF2B5EF4-FFF2-40B4-BE49-F238E27FC236}">
                  <a16:creationId xmlns:a16="http://schemas.microsoft.com/office/drawing/2014/main" id="{13C074E3-09AF-B773-4191-578448BDBC0D}"/>
                </a:ext>
              </a:extLst>
            </p:cNvPr>
            <p:cNvSpPr/>
            <p:nvPr/>
          </p:nvSpPr>
          <p:spPr>
            <a:xfrm rot="5400000">
              <a:off x="6512032" y="1955499"/>
              <a:ext cx="280800" cy="1437490"/>
            </a:xfrm>
            <a:prstGeom prst="roundRect">
              <a:avLst>
                <a:gd name="adj" fmla="val 11953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[64, 1]</a:t>
              </a:r>
              <a:endParaRPr lang="en-GB" sz="1400" dirty="0">
                <a:solidFill>
                  <a:schemeClr val="bg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45" name="Rectángulo: esquinas redondeadas 8">
              <a:extLst>
                <a:ext uri="{FF2B5EF4-FFF2-40B4-BE49-F238E27FC236}">
                  <a16:creationId xmlns:a16="http://schemas.microsoft.com/office/drawing/2014/main" id="{2154B704-A79A-E183-F1E8-DE7AD3090C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31177" y="1985071"/>
              <a:ext cx="1440000" cy="282018"/>
            </a:xfrm>
            <a:prstGeom prst="roundRect">
              <a:avLst>
                <a:gd name="adj" fmla="val 35352"/>
              </a:avLst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s-ES" dirty="0" err="1">
                  <a:latin typeface="Palatino Linotype" panose="02040502050505030304" pitchFamily="18" charset="0"/>
                </a:rPr>
                <a:t>Z</a:t>
              </a:r>
              <a:r>
                <a:rPr lang="es-ES" baseline="-25000" dirty="0" err="1">
                  <a:latin typeface="Palatino Linotype" panose="02040502050505030304" pitchFamily="18" charset="0"/>
                </a:rPr>
                <a:t>t</a:t>
              </a:r>
              <a:endParaRPr lang="en-GB" baseline="-25000" dirty="0">
                <a:latin typeface="Palatino Linotype" panose="02040502050505030304" pitchFamily="18" charset="0"/>
              </a:endParaRPr>
            </a:p>
          </p:txBody>
        </p:sp>
        <p:cxnSp>
          <p:nvCxnSpPr>
            <p:cNvPr id="52" name="Conector recto de flecha 297">
              <a:extLst>
                <a:ext uri="{FF2B5EF4-FFF2-40B4-BE49-F238E27FC236}">
                  <a16:creationId xmlns:a16="http://schemas.microsoft.com/office/drawing/2014/main" id="{00A2B8F9-4C5F-93E5-5CC1-5643AA26ACCB}"/>
                </a:ext>
              </a:extLst>
            </p:cNvPr>
            <p:cNvCxnSpPr>
              <a:cxnSpLocks/>
              <a:stCxn id="41" idx="0"/>
              <a:endCxn id="42" idx="3"/>
            </p:cNvCxnSpPr>
            <p:nvPr/>
          </p:nvCxnSpPr>
          <p:spPr>
            <a:xfrm flipV="1">
              <a:off x="5843566" y="5024360"/>
              <a:ext cx="1255" cy="20743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de flecha 297">
              <a:extLst>
                <a:ext uri="{FF2B5EF4-FFF2-40B4-BE49-F238E27FC236}">
                  <a16:creationId xmlns:a16="http://schemas.microsoft.com/office/drawing/2014/main" id="{B2799D0F-9963-8AD0-E3AA-1A5C55E98108}"/>
                </a:ext>
              </a:extLst>
            </p:cNvPr>
            <p:cNvCxnSpPr>
              <a:cxnSpLocks/>
              <a:stCxn id="40" idx="0"/>
              <a:endCxn id="43" idx="3"/>
            </p:cNvCxnSpPr>
            <p:nvPr/>
          </p:nvCxnSpPr>
          <p:spPr>
            <a:xfrm flipV="1">
              <a:off x="7450111" y="5013959"/>
              <a:ext cx="1255" cy="2440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: Elbow 63">
              <a:extLst>
                <a:ext uri="{FF2B5EF4-FFF2-40B4-BE49-F238E27FC236}">
                  <a16:creationId xmlns:a16="http://schemas.microsoft.com/office/drawing/2014/main" id="{6B4CBD55-A53A-AD24-B4AD-97E419E5EDBF}"/>
                </a:ext>
              </a:extLst>
            </p:cNvPr>
            <p:cNvCxnSpPr>
              <a:cxnSpLocks/>
              <a:stCxn id="43" idx="1"/>
              <a:endCxn id="6" idx="2"/>
            </p:cNvCxnSpPr>
            <p:nvPr/>
          </p:nvCxnSpPr>
          <p:spPr>
            <a:xfrm rot="16200000" flipV="1">
              <a:off x="6822954" y="4104746"/>
              <a:ext cx="456636" cy="800189"/>
            </a:xfrm>
            <a:prstGeom prst="bentConnector5">
              <a:avLst>
                <a:gd name="adj1" fmla="val 50062"/>
                <a:gd name="adj2" fmla="val 158"/>
                <a:gd name="adj3" fmla="val 49938"/>
              </a:avLst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recto de flecha 297">
              <a:extLst>
                <a:ext uri="{FF2B5EF4-FFF2-40B4-BE49-F238E27FC236}">
                  <a16:creationId xmlns:a16="http://schemas.microsoft.com/office/drawing/2014/main" id="{3D41F174-A46F-5993-FB93-C3C3D78F0571}"/>
                </a:ext>
              </a:extLst>
            </p:cNvPr>
            <p:cNvCxnSpPr>
              <a:cxnSpLocks/>
              <a:stCxn id="6" idx="0"/>
              <a:endCxn id="44" idx="3"/>
            </p:cNvCxnSpPr>
            <p:nvPr/>
          </p:nvCxnSpPr>
          <p:spPr>
            <a:xfrm flipV="1">
              <a:off x="6651177" y="2814644"/>
              <a:ext cx="1255" cy="22759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cto de flecha 297">
              <a:extLst>
                <a:ext uri="{FF2B5EF4-FFF2-40B4-BE49-F238E27FC236}">
                  <a16:creationId xmlns:a16="http://schemas.microsoft.com/office/drawing/2014/main" id="{70146169-217E-3709-6761-F58F5DDA743C}"/>
                </a:ext>
              </a:extLst>
            </p:cNvPr>
            <p:cNvCxnSpPr>
              <a:cxnSpLocks/>
              <a:stCxn id="44" idx="1"/>
              <a:endCxn id="45" idx="2"/>
            </p:cNvCxnSpPr>
            <p:nvPr/>
          </p:nvCxnSpPr>
          <p:spPr>
            <a:xfrm flipH="1" flipV="1">
              <a:off x="6651177" y="2267089"/>
              <a:ext cx="1255" cy="2667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CuadroTexto 334">
              <a:extLst>
                <a:ext uri="{FF2B5EF4-FFF2-40B4-BE49-F238E27FC236}">
                  <a16:creationId xmlns:a16="http://schemas.microsoft.com/office/drawing/2014/main" id="{9E3344B6-1DB6-F123-D2F1-830CEEBD771C}"/>
                </a:ext>
              </a:extLst>
            </p:cNvPr>
            <p:cNvSpPr txBox="1"/>
            <p:nvPr/>
          </p:nvSpPr>
          <p:spPr>
            <a:xfrm>
              <a:off x="8221462" y="3530799"/>
              <a:ext cx="1489800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>
                  <a:latin typeface="Palatino Linotype" panose="02040502050505030304" pitchFamily="18" charset="0"/>
                </a:rPr>
                <a:t>LSTM</a:t>
              </a:r>
            </a:p>
            <a:p>
              <a:r>
                <a:rPr lang="en-US" sz="1400" dirty="0">
                  <a:latin typeface="Palatino Linotype" panose="02040502050505030304" pitchFamily="18" charset="0"/>
                </a:rPr>
                <a:t>[365, 25, 64]</a:t>
              </a:r>
            </a:p>
          </p:txBody>
        </p:sp>
        <p:sp>
          <p:nvSpPr>
            <p:cNvPr id="76" name="CuadroTexto 334">
              <a:extLst>
                <a:ext uri="{FF2B5EF4-FFF2-40B4-BE49-F238E27FC236}">
                  <a16:creationId xmlns:a16="http://schemas.microsoft.com/office/drawing/2014/main" id="{42E75D9D-2379-C4ED-8B51-037078DA4F23}"/>
                </a:ext>
              </a:extLst>
            </p:cNvPr>
            <p:cNvSpPr txBox="1"/>
            <p:nvPr/>
          </p:nvSpPr>
          <p:spPr>
            <a:xfrm>
              <a:off x="8221461" y="4751581"/>
              <a:ext cx="1550171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>
                  <a:latin typeface="Palatino Linotype" panose="02040502050505030304" pitchFamily="18" charset="0"/>
                </a:rPr>
                <a:t>embedding MLP</a:t>
              </a:r>
            </a:p>
          </p:txBody>
        </p:sp>
        <p:sp>
          <p:nvSpPr>
            <p:cNvPr id="77" name="CuadroTexto 334">
              <a:extLst>
                <a:ext uri="{FF2B5EF4-FFF2-40B4-BE49-F238E27FC236}">
                  <a16:creationId xmlns:a16="http://schemas.microsoft.com/office/drawing/2014/main" id="{BFE635E4-6F5A-B11F-89AC-37EAFE4C30DD}"/>
                </a:ext>
              </a:extLst>
            </p:cNvPr>
            <p:cNvSpPr txBox="1"/>
            <p:nvPr/>
          </p:nvSpPr>
          <p:spPr>
            <a:xfrm>
              <a:off x="8221462" y="2551133"/>
              <a:ext cx="14898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>
                  <a:latin typeface="Palatino Linotype" panose="02040502050505030304" pitchFamily="18" charset="0"/>
                </a:rPr>
                <a:t>head MLP</a:t>
              </a:r>
            </a:p>
          </p:txBody>
        </p:sp>
        <p:cxnSp>
          <p:nvCxnSpPr>
            <p:cNvPr id="81" name="Connector: Elbow 80">
              <a:extLst>
                <a:ext uri="{FF2B5EF4-FFF2-40B4-BE49-F238E27FC236}">
                  <a16:creationId xmlns:a16="http://schemas.microsoft.com/office/drawing/2014/main" id="{9EF51062-77A3-DB87-CE11-2B00639E4819}"/>
                </a:ext>
              </a:extLst>
            </p:cNvPr>
            <p:cNvCxnSpPr>
              <a:cxnSpLocks/>
              <a:stCxn id="42" idx="1"/>
              <a:endCxn id="6" idx="2"/>
            </p:cNvCxnSpPr>
            <p:nvPr/>
          </p:nvCxnSpPr>
          <p:spPr>
            <a:xfrm rot="5400000" flipH="1" flipV="1">
              <a:off x="6014481" y="4106864"/>
              <a:ext cx="467037" cy="806356"/>
            </a:xfrm>
            <a:prstGeom prst="bentConnector5">
              <a:avLst>
                <a:gd name="adj1" fmla="val 48947"/>
                <a:gd name="adj2" fmla="val 922"/>
                <a:gd name="adj3" fmla="val 51053"/>
              </a:avLst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F24BF00-6C06-05BF-ECF5-FC86A4C9EADF}"/>
              </a:ext>
            </a:extLst>
          </p:cNvPr>
          <p:cNvGrpSpPr/>
          <p:nvPr/>
        </p:nvGrpSpPr>
        <p:grpSpPr>
          <a:xfrm>
            <a:off x="617518" y="6297383"/>
            <a:ext cx="11052000" cy="418967"/>
            <a:chOff x="617518" y="6297383"/>
            <a:chExt cx="11052000" cy="418967"/>
          </a:xfrm>
        </p:grpSpPr>
        <p:sp>
          <p:nvSpPr>
            <p:cNvPr id="12" name="Left Bracket 11">
              <a:extLst>
                <a:ext uri="{FF2B5EF4-FFF2-40B4-BE49-F238E27FC236}">
                  <a16:creationId xmlns:a16="http://schemas.microsoft.com/office/drawing/2014/main" id="{6198DB67-5FE3-C49E-DB39-D278BD8C510C}"/>
                </a:ext>
              </a:extLst>
            </p:cNvPr>
            <p:cNvSpPr/>
            <p:nvPr/>
          </p:nvSpPr>
          <p:spPr>
            <a:xfrm rot="5400000">
              <a:off x="6053518" y="861383"/>
              <a:ext cx="180000" cy="11052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7" name="Picture 16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57BEE06F-EF5A-DFB3-C043-479FDBCB5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3AB05A7-7511-3B22-8DF2-898CD04F239E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26" name="Picture 25" descr="A blue and green logo&#10;&#10;AI-generated content may be incorrect.">
              <a:extLst>
                <a:ext uri="{FF2B5EF4-FFF2-40B4-BE49-F238E27FC236}">
                  <a16:creationId xmlns:a16="http://schemas.microsoft.com/office/drawing/2014/main" id="{EEB9DAC1-13A0-85E5-7FDA-4A414E2CC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4162" y="6356350"/>
              <a:ext cx="696152" cy="36000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7D99A1F-8D4A-902B-E3A8-7736DD45FA27}"/>
              </a:ext>
            </a:extLst>
          </p:cNvPr>
          <p:cNvSpPr txBox="1"/>
          <p:nvPr/>
        </p:nvSpPr>
        <p:spPr>
          <a:xfrm>
            <a:off x="590320" y="1108120"/>
            <a:ext cx="609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9684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CudaLSTM</a:t>
            </a:r>
            <a:endParaRPr lang="en-US" sz="1800" dirty="0">
              <a:solidFill>
                <a:srgbClr val="009684"/>
              </a:solidFill>
              <a:latin typeface="Consolas" panose="020B0609020204030204" pitchFamily="49" charset="0"/>
              <a:cs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0C8E4D7-5EFE-2D21-48A6-33437ABDE001}"/>
              </a:ext>
            </a:extLst>
          </p:cNvPr>
          <p:cNvSpPr/>
          <p:nvPr/>
        </p:nvSpPr>
        <p:spPr>
          <a:xfrm>
            <a:off x="590320" y="352130"/>
            <a:ext cx="11052000" cy="546497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00968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: Rounded Corners 9">
            <a:hlinkClick r:id="rId4" action="ppaction://hlinksldjump"/>
            <a:extLst>
              <a:ext uri="{FF2B5EF4-FFF2-40B4-BE49-F238E27FC236}">
                <a16:creationId xmlns:a16="http://schemas.microsoft.com/office/drawing/2014/main" id="{5B91CC41-B750-8322-FE28-8BF934CB72F1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Fine tuning</a:t>
            </a:r>
          </a:p>
        </p:txBody>
      </p:sp>
      <p:sp>
        <p:nvSpPr>
          <p:cNvPr id="11" name="Rectangle: Rounded Corners 10">
            <a:hlinkClick r:id="rId5" action="ppaction://hlinksldjump"/>
            <a:extLst>
              <a:ext uri="{FF2B5EF4-FFF2-40B4-BE49-F238E27FC236}">
                <a16:creationId xmlns:a16="http://schemas.microsoft.com/office/drawing/2014/main" id="{1EF37F14-5075-5553-375B-ECCE52C2499F}"/>
              </a:ext>
            </a:extLst>
          </p:cNvPr>
          <p:cNvSpPr/>
          <p:nvPr/>
        </p:nvSpPr>
        <p:spPr>
          <a:xfrm>
            <a:off x="646599" y="387853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Base model</a:t>
            </a:r>
          </a:p>
        </p:txBody>
      </p:sp>
      <p:sp>
        <p:nvSpPr>
          <p:cNvPr id="29" name="Rectangle: Rounded Corners 28">
            <a:hlinkClick r:id="rId5" action="ppaction://hlinksldjump"/>
            <a:extLst>
              <a:ext uri="{FF2B5EF4-FFF2-40B4-BE49-F238E27FC236}">
                <a16:creationId xmlns:a16="http://schemas.microsoft.com/office/drawing/2014/main" id="{D781807C-2577-1F06-D9B1-58742BF95F99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Transfer learning</a:t>
            </a:r>
          </a:p>
        </p:txBody>
      </p:sp>
      <p:sp>
        <p:nvSpPr>
          <p:cNvPr id="30" name="Rectangle: Rounded Corners 29">
            <a:hlinkClick r:id="rId6" action="ppaction://hlinksldjump"/>
            <a:extLst>
              <a:ext uri="{FF2B5EF4-FFF2-40B4-BE49-F238E27FC236}">
                <a16:creationId xmlns:a16="http://schemas.microsoft.com/office/drawing/2014/main" id="{C329F180-B849-7C1E-528E-878461B6A789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Forecasting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4C5B75-4EDC-3995-A322-5633531DD544}"/>
              </a:ext>
            </a:extLst>
          </p:cNvPr>
          <p:cNvSpPr txBox="1"/>
          <p:nvPr/>
        </p:nvSpPr>
        <p:spPr>
          <a:xfrm>
            <a:off x="5849132" y="4242716"/>
            <a:ext cx="5928407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700" b="1" dirty="0" err="1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Stations</a:t>
            </a:r>
            <a:r>
              <a:rPr lang="es-ES" sz="17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1600" dirty="0">
                <a:latin typeface="Palatino Linotype" panose="02040502050505030304" pitchFamily="18" charset="0"/>
              </a:rPr>
              <a:t>(</a:t>
            </a:r>
            <a:r>
              <a:rPr lang="es-ES" sz="1600" dirty="0">
                <a:solidFill>
                  <a:srgbClr val="FFC000"/>
                </a:solidFill>
                <a:latin typeface="Palatino Linotype" panose="02040502050505030304" pitchFamily="18" charset="0"/>
              </a:rPr>
              <a:t>80</a:t>
            </a:r>
            <a:r>
              <a:rPr lang="es-ES" sz="1600" dirty="0">
                <a:latin typeface="Palatino Linotype" panose="02040502050505030304" pitchFamily="18" charset="0"/>
              </a:rPr>
              <a:t>)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Training: 		</a:t>
            </a:r>
            <a:r>
              <a:rPr lang="en-US" sz="1700" dirty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Validation: 		</a:t>
            </a:r>
            <a:r>
              <a:rPr lang="en-US" sz="1700" dirty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Test:			</a:t>
            </a:r>
            <a:r>
              <a:rPr lang="en-US" sz="1700" dirty="0">
                <a:solidFill>
                  <a:srgbClr val="FFC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781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C40A9-60C9-9668-9B4B-272A4B45E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C8926-20EC-6744-4CB7-3A4935413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3B70E6-4F54-AC7E-8EC5-138794E685F9}"/>
              </a:ext>
            </a:extLst>
          </p:cNvPr>
          <p:cNvSpPr txBox="1"/>
          <p:nvPr/>
        </p:nvSpPr>
        <p:spPr>
          <a:xfrm>
            <a:off x="5547925" y="1504995"/>
            <a:ext cx="5928407" cy="367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Transfer learning uses a model pre-trained on some task, and applies it on a new task, either exactly as it is, fine-tuning or replacing some blocks of the model.</a:t>
            </a:r>
          </a:p>
          <a:p>
            <a:endParaRPr lang="en-US" sz="1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Use the CAMELS-ES pre-trained model to generate reservoir inflow. It only requires changing the dataset, but the model is exactly the same.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Fine-tuning the head to reproduce reservoir filling. The embeddings and LSTM are frozen, so they keep their knowledge about catchment hydrology.2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Attach a second LSTM and a new head that reproduces reservoir operations.</a:t>
            </a:r>
          </a:p>
          <a:p>
            <a:endParaRPr lang="en-US" sz="17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sz="17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36E3C227-508B-FEB4-3B4D-12372F6EDA65}"/>
              </a:ext>
            </a:extLst>
          </p:cNvPr>
          <p:cNvGrpSpPr/>
          <p:nvPr/>
        </p:nvGrpSpPr>
        <p:grpSpPr>
          <a:xfrm>
            <a:off x="838200" y="1884150"/>
            <a:ext cx="4693434" cy="3554997"/>
            <a:chOff x="5123566" y="1985071"/>
            <a:chExt cx="4693434" cy="3554997"/>
          </a:xfrm>
        </p:grpSpPr>
        <p:grpSp>
          <p:nvGrpSpPr>
            <p:cNvPr id="2" name="Grupo 271">
              <a:extLst>
                <a:ext uri="{FF2B5EF4-FFF2-40B4-BE49-F238E27FC236}">
                  <a16:creationId xmlns:a16="http://schemas.microsoft.com/office/drawing/2014/main" id="{D819C039-FB81-8599-D5F2-1CF11958EE0A}"/>
                </a:ext>
              </a:extLst>
            </p:cNvPr>
            <p:cNvGrpSpPr/>
            <p:nvPr/>
          </p:nvGrpSpPr>
          <p:grpSpPr>
            <a:xfrm>
              <a:off x="5931177" y="3039838"/>
              <a:ext cx="1440000" cy="1236685"/>
              <a:chOff x="3929140" y="2907883"/>
              <a:chExt cx="1440000" cy="1236685"/>
            </a:xfrm>
          </p:grpSpPr>
          <p:sp>
            <p:nvSpPr>
              <p:cNvPr id="6" name="Rectángulo: esquinas redondeadas 272">
                <a:extLst>
                  <a:ext uri="{FF2B5EF4-FFF2-40B4-BE49-F238E27FC236}">
                    <a16:creationId xmlns:a16="http://schemas.microsoft.com/office/drawing/2014/main" id="{6782F031-C3EB-39A2-1ED0-0163ECAD61CC}"/>
                  </a:ext>
                </a:extLst>
              </p:cNvPr>
              <p:cNvSpPr/>
              <p:nvPr/>
            </p:nvSpPr>
            <p:spPr>
              <a:xfrm>
                <a:off x="3929140" y="2910282"/>
                <a:ext cx="1440000" cy="1234286"/>
              </a:xfrm>
              <a:prstGeom prst="roundRect">
                <a:avLst>
                  <a:gd name="adj" fmla="val 11953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cxnSp>
            <p:nvCxnSpPr>
              <p:cNvPr id="8" name="Conector recto de flecha 273">
                <a:extLst>
                  <a:ext uri="{FF2B5EF4-FFF2-40B4-BE49-F238E27FC236}">
                    <a16:creationId xmlns:a16="http://schemas.microsoft.com/office/drawing/2014/main" id="{30C1CAAC-A9BA-9B45-319A-5A1B77571042}"/>
                  </a:ext>
                </a:extLst>
              </p:cNvPr>
              <p:cNvCxnSpPr>
                <a:cxnSpLocks/>
                <a:endCxn id="14" idx="2"/>
              </p:cNvCxnSpPr>
              <p:nvPr/>
            </p:nvCxnSpPr>
            <p:spPr>
              <a:xfrm>
                <a:off x="3929140" y="3116434"/>
                <a:ext cx="374637" cy="0"/>
              </a:xfrm>
              <a:prstGeom prst="straightConnector1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: angular 274">
                <a:extLst>
                  <a:ext uri="{FF2B5EF4-FFF2-40B4-BE49-F238E27FC236}">
                    <a16:creationId xmlns:a16="http://schemas.microsoft.com/office/drawing/2014/main" id="{EFED004F-4AB2-ABA3-0877-5801677B2C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29140" y="3568568"/>
                <a:ext cx="1037285" cy="367448"/>
              </a:xfrm>
              <a:prstGeom prst="bentConnector3">
                <a:avLst>
                  <a:gd name="adj1" fmla="val 99907"/>
                </a:avLst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Elipse 275">
                <a:extLst>
                  <a:ext uri="{FF2B5EF4-FFF2-40B4-BE49-F238E27FC236}">
                    <a16:creationId xmlns:a16="http://schemas.microsoft.com/office/drawing/2014/main" id="{A40EED3C-5E51-7C24-A0F8-160C677E87E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3777" y="3075291"/>
                <a:ext cx="82286" cy="82286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Elipse 276">
                <a:extLst>
                  <a:ext uri="{FF2B5EF4-FFF2-40B4-BE49-F238E27FC236}">
                    <a16:creationId xmlns:a16="http://schemas.microsoft.com/office/drawing/2014/main" id="{96BE4BE9-A9CB-5782-E943-526C151EDB4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13929" y="3490225"/>
                <a:ext cx="82286" cy="82286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Elipse 277">
                <a:extLst>
                  <a:ext uri="{FF2B5EF4-FFF2-40B4-BE49-F238E27FC236}">
                    <a16:creationId xmlns:a16="http://schemas.microsoft.com/office/drawing/2014/main" id="{1C66EF09-D5EA-7940-D441-13D6DD710CE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16931" y="3076568"/>
                <a:ext cx="82286" cy="82286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Elipse 278">
                <a:extLst>
                  <a:ext uri="{FF2B5EF4-FFF2-40B4-BE49-F238E27FC236}">
                    <a16:creationId xmlns:a16="http://schemas.microsoft.com/office/drawing/2014/main" id="{F07F1890-43E6-F6DA-49AE-115390E5E9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25283" y="3486282"/>
                <a:ext cx="82286" cy="82286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Conector recto de flecha 279">
                <a:extLst>
                  <a:ext uri="{FF2B5EF4-FFF2-40B4-BE49-F238E27FC236}">
                    <a16:creationId xmlns:a16="http://schemas.microsoft.com/office/drawing/2014/main" id="{5946E216-0774-1635-B963-69DC5C94331B}"/>
                  </a:ext>
                </a:extLst>
              </p:cNvPr>
              <p:cNvCxnSpPr>
                <a:cxnSpLocks/>
                <a:stCxn id="14" idx="6"/>
                <a:endCxn id="16" idx="2"/>
              </p:cNvCxnSpPr>
              <p:nvPr/>
            </p:nvCxnSpPr>
            <p:spPr>
              <a:xfrm>
                <a:off x="4386063" y="3116434"/>
                <a:ext cx="330869" cy="1277"/>
              </a:xfrm>
              <a:prstGeom prst="straightConnector1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ector: angular 280">
                <a:extLst>
                  <a:ext uri="{FF2B5EF4-FFF2-40B4-BE49-F238E27FC236}">
                    <a16:creationId xmlns:a16="http://schemas.microsoft.com/office/drawing/2014/main" id="{056015F9-3123-5741-CA47-F6C286161AB8}"/>
                  </a:ext>
                </a:extLst>
              </p:cNvPr>
              <p:cNvCxnSpPr>
                <a:cxnSpLocks/>
                <a:endCxn id="15" idx="4"/>
              </p:cNvCxnSpPr>
              <p:nvPr/>
            </p:nvCxnSpPr>
            <p:spPr>
              <a:xfrm flipV="1">
                <a:off x="3929140" y="3572511"/>
                <a:ext cx="825931" cy="363505"/>
              </a:xfrm>
              <a:prstGeom prst="bentConnector2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ector: angular 281">
                <a:extLst>
                  <a:ext uri="{FF2B5EF4-FFF2-40B4-BE49-F238E27FC236}">
                    <a16:creationId xmlns:a16="http://schemas.microsoft.com/office/drawing/2014/main" id="{1B4DE5CB-86C9-E354-5BFA-F19E053E754A}"/>
                  </a:ext>
                </a:extLst>
              </p:cNvPr>
              <p:cNvCxnSpPr>
                <a:cxnSpLocks/>
                <a:stCxn id="28" idx="3"/>
                <a:endCxn id="14" idx="4"/>
              </p:cNvCxnSpPr>
              <p:nvPr/>
            </p:nvCxnSpPr>
            <p:spPr>
              <a:xfrm flipV="1">
                <a:off x="4249700" y="3157577"/>
                <a:ext cx="95220" cy="777350"/>
              </a:xfrm>
              <a:prstGeom prst="bentConnector2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ector recto de flecha 282">
                <a:extLst>
                  <a:ext uri="{FF2B5EF4-FFF2-40B4-BE49-F238E27FC236}">
                    <a16:creationId xmlns:a16="http://schemas.microsoft.com/office/drawing/2014/main" id="{985202A9-593A-5D5F-CEC5-55E2060321E3}"/>
                  </a:ext>
                </a:extLst>
              </p:cNvPr>
              <p:cNvCxnSpPr>
                <a:cxnSpLocks/>
                <a:stCxn id="15" idx="0"/>
                <a:endCxn id="16" idx="4"/>
              </p:cNvCxnSpPr>
              <p:nvPr/>
            </p:nvCxnSpPr>
            <p:spPr>
              <a:xfrm flipV="1">
                <a:off x="4755071" y="3158854"/>
                <a:ext cx="3003" cy="331371"/>
              </a:xfrm>
              <a:prstGeom prst="straightConnector1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Conector recto de flecha 283">
                <a:extLst>
                  <a:ext uri="{FF2B5EF4-FFF2-40B4-BE49-F238E27FC236}">
                    <a16:creationId xmlns:a16="http://schemas.microsoft.com/office/drawing/2014/main" id="{3380333B-F9F5-3213-706D-3AFB7ACA0341}"/>
                  </a:ext>
                </a:extLst>
              </p:cNvPr>
              <p:cNvCxnSpPr>
                <a:cxnSpLocks/>
                <a:stCxn id="16" idx="6"/>
              </p:cNvCxnSpPr>
              <p:nvPr/>
            </p:nvCxnSpPr>
            <p:spPr>
              <a:xfrm flipV="1">
                <a:off x="4799217" y="3116434"/>
                <a:ext cx="569923" cy="1277"/>
              </a:xfrm>
              <a:prstGeom prst="straightConnector1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ector: angular 284">
                <a:extLst>
                  <a:ext uri="{FF2B5EF4-FFF2-40B4-BE49-F238E27FC236}">
                    <a16:creationId xmlns:a16="http://schemas.microsoft.com/office/drawing/2014/main" id="{9AFD810F-FA08-7D7A-D6EE-5B01921E29B9}"/>
                  </a:ext>
                </a:extLst>
              </p:cNvPr>
              <p:cNvCxnSpPr>
                <a:cxnSpLocks/>
                <a:stCxn id="16" idx="6"/>
                <a:endCxn id="18" idx="0"/>
              </p:cNvCxnSpPr>
              <p:nvPr/>
            </p:nvCxnSpPr>
            <p:spPr>
              <a:xfrm>
                <a:off x="4799217" y="3117711"/>
                <a:ext cx="167208" cy="368571"/>
              </a:xfrm>
              <a:prstGeom prst="bentConnector2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: angular 285">
                <a:extLst>
                  <a:ext uri="{FF2B5EF4-FFF2-40B4-BE49-F238E27FC236}">
                    <a16:creationId xmlns:a16="http://schemas.microsoft.com/office/drawing/2014/main" id="{9286DE82-7ABC-DFE8-CD43-58C7D63D203C}"/>
                  </a:ext>
                </a:extLst>
              </p:cNvPr>
              <p:cNvCxnSpPr>
                <a:cxnSpLocks/>
                <a:stCxn id="18" idx="6"/>
              </p:cNvCxnSpPr>
              <p:nvPr/>
            </p:nvCxnSpPr>
            <p:spPr>
              <a:xfrm>
                <a:off x="5007568" y="3527425"/>
                <a:ext cx="361572" cy="413429"/>
              </a:xfrm>
              <a:prstGeom prst="bentConnector3">
                <a:avLst>
                  <a:gd name="adj1" fmla="val 44648"/>
                </a:avLst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Rectángulo 286">
                <a:extLst>
                  <a:ext uri="{FF2B5EF4-FFF2-40B4-BE49-F238E27FC236}">
                    <a16:creationId xmlns:a16="http://schemas.microsoft.com/office/drawing/2014/main" id="{0A76320B-3C08-A07E-A3A9-E7F3DABB4E0B}"/>
                  </a:ext>
                </a:extLst>
              </p:cNvPr>
              <p:cNvSpPr/>
              <p:nvPr/>
            </p:nvSpPr>
            <p:spPr>
              <a:xfrm>
                <a:off x="4217640" y="3850288"/>
                <a:ext cx="32060" cy="16927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s-ES" sz="1100" dirty="0">
                    <a:solidFill>
                      <a:schemeClr val="tx1"/>
                    </a:solidFill>
                  </a:rPr>
                  <a:t> </a:t>
                </a:r>
                <a:endParaRPr lang="en-GB" sz="11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Rectángulo 287">
                <a:extLst>
                  <a:ext uri="{FF2B5EF4-FFF2-40B4-BE49-F238E27FC236}">
                    <a16:creationId xmlns:a16="http://schemas.microsoft.com/office/drawing/2014/main" id="{EC61A1F1-9D54-AB7E-FDB7-85CCE54E909F}"/>
                  </a:ext>
                </a:extLst>
              </p:cNvPr>
              <p:cNvSpPr/>
              <p:nvPr/>
            </p:nvSpPr>
            <p:spPr>
              <a:xfrm>
                <a:off x="4626504" y="3654795"/>
                <a:ext cx="256480" cy="153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s-ES" sz="1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Palatino Linotype" panose="02040502050505030304" pitchFamily="18" charset="0"/>
                  </a:rPr>
                  <a:t>tanh</a:t>
                </a:r>
                <a:endParaRPr lang="en-GB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endParaRPr>
              </a:p>
            </p:txBody>
          </p:sp>
          <p:sp>
            <p:nvSpPr>
              <p:cNvPr id="33" name="Rectángulo 288">
                <a:extLst>
                  <a:ext uri="{FF2B5EF4-FFF2-40B4-BE49-F238E27FC236}">
                    <a16:creationId xmlns:a16="http://schemas.microsoft.com/office/drawing/2014/main" id="{2247A3A6-698B-02E0-B633-FA0835232F05}"/>
                  </a:ext>
                </a:extLst>
              </p:cNvPr>
              <p:cNvSpPr/>
              <p:nvPr/>
            </p:nvSpPr>
            <p:spPr>
              <a:xfrm>
                <a:off x="4927953" y="3654795"/>
                <a:ext cx="76944" cy="153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l-GR" sz="1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Palatino Linotype" panose="02040502050505030304" pitchFamily="18" charset="0"/>
                  </a:rPr>
                  <a:t>σ</a:t>
                </a:r>
                <a:endParaRPr lang="en-GB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endParaRPr>
              </a:p>
            </p:txBody>
          </p:sp>
          <p:sp>
            <p:nvSpPr>
              <p:cNvPr id="34" name="Rectángulo 289">
                <a:extLst>
                  <a:ext uri="{FF2B5EF4-FFF2-40B4-BE49-F238E27FC236}">
                    <a16:creationId xmlns:a16="http://schemas.microsoft.com/office/drawing/2014/main" id="{25BAC1F5-AE98-799B-2EB4-68A46AC7D82F}"/>
                  </a:ext>
                </a:extLst>
              </p:cNvPr>
              <p:cNvSpPr/>
              <p:nvPr/>
            </p:nvSpPr>
            <p:spPr>
              <a:xfrm>
                <a:off x="4838186" y="3235882"/>
                <a:ext cx="256480" cy="153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s-ES" sz="1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Palatino Linotype" panose="02040502050505030304" pitchFamily="18" charset="0"/>
                  </a:rPr>
                  <a:t>tanh</a:t>
                </a:r>
                <a:endParaRPr lang="en-GB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endParaRPr>
              </a:p>
            </p:txBody>
          </p:sp>
          <p:cxnSp>
            <p:nvCxnSpPr>
              <p:cNvPr id="35" name="Conector: angular 290">
                <a:extLst>
                  <a:ext uri="{FF2B5EF4-FFF2-40B4-BE49-F238E27FC236}">
                    <a16:creationId xmlns:a16="http://schemas.microsoft.com/office/drawing/2014/main" id="{B345B0B4-E929-2BC8-31B8-5C9E99FBEF85}"/>
                  </a:ext>
                </a:extLst>
              </p:cNvPr>
              <p:cNvCxnSpPr>
                <a:cxnSpLocks/>
                <a:stCxn id="18" idx="6"/>
              </p:cNvCxnSpPr>
              <p:nvPr/>
            </p:nvCxnSpPr>
            <p:spPr>
              <a:xfrm>
                <a:off x="5007569" y="3527425"/>
                <a:ext cx="161331" cy="617143"/>
              </a:xfrm>
              <a:prstGeom prst="bentConnector2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: angular 291">
                <a:extLst>
                  <a:ext uri="{FF2B5EF4-FFF2-40B4-BE49-F238E27FC236}">
                    <a16:creationId xmlns:a16="http://schemas.microsoft.com/office/drawing/2014/main" id="{5916FFE8-5EFF-8A8B-85A9-4D488AF624AE}"/>
                  </a:ext>
                </a:extLst>
              </p:cNvPr>
              <p:cNvCxnSpPr>
                <a:cxnSpLocks/>
                <a:endCxn id="28" idx="1"/>
              </p:cNvCxnSpPr>
              <p:nvPr/>
            </p:nvCxnSpPr>
            <p:spPr>
              <a:xfrm rot="16200000" flipH="1">
                <a:off x="3671065" y="3388351"/>
                <a:ext cx="1027043" cy="66108"/>
              </a:xfrm>
              <a:prstGeom prst="bentConnector2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ector: angular 292">
                <a:extLst>
                  <a:ext uri="{FF2B5EF4-FFF2-40B4-BE49-F238E27FC236}">
                    <a16:creationId xmlns:a16="http://schemas.microsoft.com/office/drawing/2014/main" id="{5E5A9E43-63C3-6D72-35AD-D4E5B266D2B7}"/>
                  </a:ext>
                </a:extLst>
              </p:cNvPr>
              <p:cNvCxnSpPr>
                <a:cxnSpLocks/>
                <a:endCxn id="15" idx="2"/>
              </p:cNvCxnSpPr>
              <p:nvPr/>
            </p:nvCxnSpPr>
            <p:spPr>
              <a:xfrm flipV="1">
                <a:off x="3929140" y="3531368"/>
                <a:ext cx="784789" cy="404648"/>
              </a:xfrm>
              <a:prstGeom prst="bentConnector3">
                <a:avLst>
                  <a:gd name="adj1" fmla="val 78667"/>
                </a:avLst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Rectángulo 293">
                <a:extLst>
                  <a:ext uri="{FF2B5EF4-FFF2-40B4-BE49-F238E27FC236}">
                    <a16:creationId xmlns:a16="http://schemas.microsoft.com/office/drawing/2014/main" id="{5F8904B8-B298-E476-4C6F-6992D5C496FD}"/>
                  </a:ext>
                </a:extLst>
              </p:cNvPr>
              <p:cNvSpPr/>
              <p:nvPr/>
            </p:nvSpPr>
            <p:spPr>
              <a:xfrm>
                <a:off x="4509094" y="3654795"/>
                <a:ext cx="76944" cy="153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l-GR" sz="1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Palatino Linotype" panose="02040502050505030304" pitchFamily="18" charset="0"/>
                  </a:rPr>
                  <a:t>σ</a:t>
                </a:r>
                <a:endParaRPr lang="en-GB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endParaRPr>
              </a:p>
            </p:txBody>
          </p:sp>
          <p:sp>
            <p:nvSpPr>
              <p:cNvPr id="39" name="Rectángulo 294">
                <a:extLst>
                  <a:ext uri="{FF2B5EF4-FFF2-40B4-BE49-F238E27FC236}">
                    <a16:creationId xmlns:a16="http://schemas.microsoft.com/office/drawing/2014/main" id="{7A6C9AA7-8158-F67E-5AFD-9C43FC160BB1}"/>
                  </a:ext>
                </a:extLst>
              </p:cNvPr>
              <p:cNvSpPr/>
              <p:nvPr/>
            </p:nvSpPr>
            <p:spPr>
              <a:xfrm>
                <a:off x="4306449" y="3647101"/>
                <a:ext cx="76944" cy="153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l-GR" sz="1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Palatino Linotype" panose="02040502050505030304" pitchFamily="18" charset="0"/>
                  </a:rPr>
                  <a:t>σ</a:t>
                </a:r>
                <a:endParaRPr lang="en-GB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endParaRPr>
              </a:p>
            </p:txBody>
          </p:sp>
        </p:grpSp>
        <p:sp>
          <p:nvSpPr>
            <p:cNvPr id="40" name="Rectángulo: esquinas redondeadas 7">
              <a:extLst>
                <a:ext uri="{FF2B5EF4-FFF2-40B4-BE49-F238E27FC236}">
                  <a16:creationId xmlns:a16="http://schemas.microsoft.com/office/drawing/2014/main" id="{63642470-401D-420E-9E58-EB93629F71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30111" y="5258050"/>
              <a:ext cx="1440000" cy="282018"/>
            </a:xfrm>
            <a:prstGeom prst="roundRect">
              <a:avLst>
                <a:gd name="adj" fmla="val 35352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X</a:t>
              </a:r>
              <a:r>
                <a:rPr lang="es-ES" baseline="-250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d</a:t>
              </a:r>
              <a:endParaRPr lang="en-GB" baseline="-250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41" name="Rectángulo: esquinas redondeadas 8">
              <a:extLst>
                <a:ext uri="{FF2B5EF4-FFF2-40B4-BE49-F238E27FC236}">
                  <a16:creationId xmlns:a16="http://schemas.microsoft.com/office/drawing/2014/main" id="{3C7319E2-0707-8B93-933D-D540ED6266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23566" y="5231798"/>
              <a:ext cx="1440000" cy="282018"/>
            </a:xfrm>
            <a:prstGeom prst="roundRect">
              <a:avLst>
                <a:gd name="adj" fmla="val 35352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X</a:t>
              </a:r>
              <a:r>
                <a:rPr lang="es-ES" baseline="-250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s</a:t>
              </a:r>
              <a:endParaRPr lang="en-GB" baseline="-250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42" name="Rectángulo: esquinas redondeadas 299">
              <a:extLst>
                <a:ext uri="{FF2B5EF4-FFF2-40B4-BE49-F238E27FC236}">
                  <a16:creationId xmlns:a16="http://schemas.microsoft.com/office/drawing/2014/main" id="{5B26F465-9EC3-274D-CA55-D6F11DB43016}"/>
                </a:ext>
              </a:extLst>
            </p:cNvPr>
            <p:cNvSpPr/>
            <p:nvPr/>
          </p:nvSpPr>
          <p:spPr>
            <a:xfrm rot="5400000">
              <a:off x="5704421" y="4165215"/>
              <a:ext cx="280800" cy="1437490"/>
            </a:xfrm>
            <a:prstGeom prst="roundRect">
              <a:avLst>
                <a:gd name="adj" fmla="val 11953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[31, 64, 32, 16]</a:t>
              </a:r>
              <a:endParaRPr lang="en-GB" sz="1400" dirty="0">
                <a:solidFill>
                  <a:schemeClr val="bg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43" name="Rectángulo: esquinas redondeadas 299">
              <a:extLst>
                <a:ext uri="{FF2B5EF4-FFF2-40B4-BE49-F238E27FC236}">
                  <a16:creationId xmlns:a16="http://schemas.microsoft.com/office/drawing/2014/main" id="{CD3F7819-1736-EE0C-22F2-3B2C303F4412}"/>
                </a:ext>
              </a:extLst>
            </p:cNvPr>
            <p:cNvSpPr/>
            <p:nvPr/>
          </p:nvSpPr>
          <p:spPr>
            <a:xfrm rot="5400000">
              <a:off x="7310966" y="4154814"/>
              <a:ext cx="280800" cy="1437490"/>
            </a:xfrm>
            <a:prstGeom prst="roundRect">
              <a:avLst>
                <a:gd name="adj" fmla="val 11953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[9, 9]</a:t>
              </a:r>
              <a:endParaRPr lang="en-GB" sz="1400" dirty="0">
                <a:solidFill>
                  <a:schemeClr val="bg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44" name="Rectángulo: esquinas redondeadas 299">
              <a:extLst>
                <a:ext uri="{FF2B5EF4-FFF2-40B4-BE49-F238E27FC236}">
                  <a16:creationId xmlns:a16="http://schemas.microsoft.com/office/drawing/2014/main" id="{198BC058-572A-28F2-D234-2192C12366B5}"/>
                </a:ext>
              </a:extLst>
            </p:cNvPr>
            <p:cNvSpPr/>
            <p:nvPr/>
          </p:nvSpPr>
          <p:spPr>
            <a:xfrm rot="5400000">
              <a:off x="6512032" y="1955499"/>
              <a:ext cx="280800" cy="1437490"/>
            </a:xfrm>
            <a:prstGeom prst="roundRect">
              <a:avLst>
                <a:gd name="adj" fmla="val 11953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[64, 1]</a:t>
              </a:r>
              <a:endParaRPr lang="en-GB" sz="1400" dirty="0">
                <a:solidFill>
                  <a:schemeClr val="bg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45" name="Rectángulo: esquinas redondeadas 8">
              <a:extLst>
                <a:ext uri="{FF2B5EF4-FFF2-40B4-BE49-F238E27FC236}">
                  <a16:creationId xmlns:a16="http://schemas.microsoft.com/office/drawing/2014/main" id="{431F20CC-DE9B-BB25-8265-2598157C14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31177" y="1985071"/>
              <a:ext cx="1440000" cy="282018"/>
            </a:xfrm>
            <a:prstGeom prst="roundRect">
              <a:avLst>
                <a:gd name="adj" fmla="val 35352"/>
              </a:avLst>
            </a:prstGeom>
            <a:solidFill>
              <a:schemeClr val="accent2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s-ES" dirty="0" err="1">
                  <a:latin typeface="Palatino Linotype" panose="02040502050505030304" pitchFamily="18" charset="0"/>
                </a:rPr>
                <a:t>Z</a:t>
              </a:r>
              <a:r>
                <a:rPr lang="es-ES" baseline="-25000" dirty="0" err="1">
                  <a:latin typeface="Palatino Linotype" panose="02040502050505030304" pitchFamily="18" charset="0"/>
                </a:rPr>
                <a:t>t</a:t>
              </a:r>
              <a:endParaRPr lang="en-GB" baseline="-25000" dirty="0">
                <a:latin typeface="Palatino Linotype" panose="02040502050505030304" pitchFamily="18" charset="0"/>
              </a:endParaRPr>
            </a:p>
          </p:txBody>
        </p:sp>
        <p:cxnSp>
          <p:nvCxnSpPr>
            <p:cNvPr id="52" name="Conector recto de flecha 297">
              <a:extLst>
                <a:ext uri="{FF2B5EF4-FFF2-40B4-BE49-F238E27FC236}">
                  <a16:creationId xmlns:a16="http://schemas.microsoft.com/office/drawing/2014/main" id="{0BF3EC22-782B-F879-CA82-7B763B6B7DF8}"/>
                </a:ext>
              </a:extLst>
            </p:cNvPr>
            <p:cNvCxnSpPr>
              <a:cxnSpLocks/>
              <a:stCxn id="41" idx="0"/>
              <a:endCxn id="42" idx="3"/>
            </p:cNvCxnSpPr>
            <p:nvPr/>
          </p:nvCxnSpPr>
          <p:spPr>
            <a:xfrm flipV="1">
              <a:off x="5843566" y="5024360"/>
              <a:ext cx="1255" cy="20743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de flecha 297">
              <a:extLst>
                <a:ext uri="{FF2B5EF4-FFF2-40B4-BE49-F238E27FC236}">
                  <a16:creationId xmlns:a16="http://schemas.microsoft.com/office/drawing/2014/main" id="{803821E8-B0F4-A55C-BC0C-12638E362735}"/>
                </a:ext>
              </a:extLst>
            </p:cNvPr>
            <p:cNvCxnSpPr>
              <a:cxnSpLocks/>
              <a:stCxn id="40" idx="0"/>
              <a:endCxn id="43" idx="3"/>
            </p:cNvCxnSpPr>
            <p:nvPr/>
          </p:nvCxnSpPr>
          <p:spPr>
            <a:xfrm flipV="1">
              <a:off x="7450111" y="5013959"/>
              <a:ext cx="1255" cy="2440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: Elbow 63">
              <a:extLst>
                <a:ext uri="{FF2B5EF4-FFF2-40B4-BE49-F238E27FC236}">
                  <a16:creationId xmlns:a16="http://schemas.microsoft.com/office/drawing/2014/main" id="{C83B2C78-C0DC-9BBF-6FDA-63ECDBF22AA8}"/>
                </a:ext>
              </a:extLst>
            </p:cNvPr>
            <p:cNvCxnSpPr>
              <a:cxnSpLocks/>
              <a:stCxn id="43" idx="1"/>
              <a:endCxn id="6" idx="2"/>
            </p:cNvCxnSpPr>
            <p:nvPr/>
          </p:nvCxnSpPr>
          <p:spPr>
            <a:xfrm rot="16200000" flipV="1">
              <a:off x="6822954" y="4104746"/>
              <a:ext cx="456636" cy="800189"/>
            </a:xfrm>
            <a:prstGeom prst="bentConnector5">
              <a:avLst>
                <a:gd name="adj1" fmla="val 50062"/>
                <a:gd name="adj2" fmla="val 158"/>
                <a:gd name="adj3" fmla="val 49938"/>
              </a:avLst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ector recto de flecha 297">
              <a:extLst>
                <a:ext uri="{FF2B5EF4-FFF2-40B4-BE49-F238E27FC236}">
                  <a16:creationId xmlns:a16="http://schemas.microsoft.com/office/drawing/2014/main" id="{88B66E38-6D79-03B7-FF96-163EA394B9E8}"/>
                </a:ext>
              </a:extLst>
            </p:cNvPr>
            <p:cNvCxnSpPr>
              <a:cxnSpLocks/>
              <a:stCxn id="6" idx="0"/>
              <a:endCxn id="44" idx="3"/>
            </p:cNvCxnSpPr>
            <p:nvPr/>
          </p:nvCxnSpPr>
          <p:spPr>
            <a:xfrm flipV="1">
              <a:off x="6651177" y="2814644"/>
              <a:ext cx="1255" cy="22759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cto de flecha 297">
              <a:extLst>
                <a:ext uri="{FF2B5EF4-FFF2-40B4-BE49-F238E27FC236}">
                  <a16:creationId xmlns:a16="http://schemas.microsoft.com/office/drawing/2014/main" id="{C5F66F50-FAFD-D201-9460-7B1022C900F9}"/>
                </a:ext>
              </a:extLst>
            </p:cNvPr>
            <p:cNvCxnSpPr>
              <a:cxnSpLocks/>
              <a:stCxn id="44" idx="1"/>
              <a:endCxn id="45" idx="2"/>
            </p:cNvCxnSpPr>
            <p:nvPr/>
          </p:nvCxnSpPr>
          <p:spPr>
            <a:xfrm flipH="1" flipV="1">
              <a:off x="6651177" y="2267089"/>
              <a:ext cx="1255" cy="2667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CuadroTexto 334">
              <a:extLst>
                <a:ext uri="{FF2B5EF4-FFF2-40B4-BE49-F238E27FC236}">
                  <a16:creationId xmlns:a16="http://schemas.microsoft.com/office/drawing/2014/main" id="{5ACC94B8-258A-943E-36CA-FA6B2865CE6C}"/>
                </a:ext>
              </a:extLst>
            </p:cNvPr>
            <p:cNvSpPr txBox="1"/>
            <p:nvPr/>
          </p:nvSpPr>
          <p:spPr>
            <a:xfrm>
              <a:off x="8221462" y="3530799"/>
              <a:ext cx="1489800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>
                  <a:latin typeface="Palatino Linotype" panose="02040502050505030304" pitchFamily="18" charset="0"/>
                </a:rPr>
                <a:t>LSTM</a:t>
              </a:r>
            </a:p>
            <a:p>
              <a:r>
                <a:rPr lang="en-US" sz="1400" dirty="0">
                  <a:latin typeface="Palatino Linotype" panose="02040502050505030304" pitchFamily="18" charset="0"/>
                </a:rPr>
                <a:t>[365, 25, 64]</a:t>
              </a:r>
            </a:p>
          </p:txBody>
        </p:sp>
        <p:sp>
          <p:nvSpPr>
            <p:cNvPr id="76" name="CuadroTexto 334">
              <a:extLst>
                <a:ext uri="{FF2B5EF4-FFF2-40B4-BE49-F238E27FC236}">
                  <a16:creationId xmlns:a16="http://schemas.microsoft.com/office/drawing/2014/main" id="{CA071E8D-8524-3EC5-7725-CDB6ACA83D50}"/>
                </a:ext>
              </a:extLst>
            </p:cNvPr>
            <p:cNvSpPr txBox="1"/>
            <p:nvPr/>
          </p:nvSpPr>
          <p:spPr>
            <a:xfrm>
              <a:off x="8221461" y="4751581"/>
              <a:ext cx="1595539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>
                  <a:latin typeface="Palatino Linotype" panose="02040502050505030304" pitchFamily="18" charset="0"/>
                </a:rPr>
                <a:t>embedding MLP</a:t>
              </a:r>
            </a:p>
          </p:txBody>
        </p:sp>
        <p:sp>
          <p:nvSpPr>
            <p:cNvPr id="77" name="CuadroTexto 334">
              <a:extLst>
                <a:ext uri="{FF2B5EF4-FFF2-40B4-BE49-F238E27FC236}">
                  <a16:creationId xmlns:a16="http://schemas.microsoft.com/office/drawing/2014/main" id="{75C16BE9-4E3A-0956-A85F-2CCEF527CA5D}"/>
                </a:ext>
              </a:extLst>
            </p:cNvPr>
            <p:cNvSpPr txBox="1"/>
            <p:nvPr/>
          </p:nvSpPr>
          <p:spPr>
            <a:xfrm>
              <a:off x="8221462" y="2551133"/>
              <a:ext cx="14898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>
                  <a:solidFill>
                    <a:schemeClr val="accent2"/>
                  </a:solidFill>
                  <a:latin typeface="Palatino Linotype" panose="02040502050505030304" pitchFamily="18" charset="0"/>
                </a:rPr>
                <a:t>head MLP</a:t>
              </a:r>
            </a:p>
          </p:txBody>
        </p:sp>
        <p:cxnSp>
          <p:nvCxnSpPr>
            <p:cNvPr id="81" name="Connector: Elbow 80">
              <a:extLst>
                <a:ext uri="{FF2B5EF4-FFF2-40B4-BE49-F238E27FC236}">
                  <a16:creationId xmlns:a16="http://schemas.microsoft.com/office/drawing/2014/main" id="{4EB597CD-46C5-807D-5536-BC7897AE5845}"/>
                </a:ext>
              </a:extLst>
            </p:cNvPr>
            <p:cNvCxnSpPr>
              <a:cxnSpLocks/>
              <a:stCxn id="42" idx="1"/>
              <a:endCxn id="6" idx="2"/>
            </p:cNvCxnSpPr>
            <p:nvPr/>
          </p:nvCxnSpPr>
          <p:spPr>
            <a:xfrm rot="5400000" flipH="1" flipV="1">
              <a:off x="6014481" y="4106864"/>
              <a:ext cx="467037" cy="806356"/>
            </a:xfrm>
            <a:prstGeom prst="bentConnector5">
              <a:avLst>
                <a:gd name="adj1" fmla="val 48947"/>
                <a:gd name="adj2" fmla="val 922"/>
                <a:gd name="adj3" fmla="val 51053"/>
              </a:avLst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485D6C3-B6D3-8B36-259E-83FCC25310AE}"/>
              </a:ext>
            </a:extLst>
          </p:cNvPr>
          <p:cNvGrpSpPr/>
          <p:nvPr/>
        </p:nvGrpSpPr>
        <p:grpSpPr>
          <a:xfrm>
            <a:off x="617518" y="6297383"/>
            <a:ext cx="11052000" cy="418967"/>
            <a:chOff x="617518" y="6297383"/>
            <a:chExt cx="11052000" cy="418967"/>
          </a:xfrm>
        </p:grpSpPr>
        <p:sp>
          <p:nvSpPr>
            <p:cNvPr id="12" name="Left Bracket 11">
              <a:extLst>
                <a:ext uri="{FF2B5EF4-FFF2-40B4-BE49-F238E27FC236}">
                  <a16:creationId xmlns:a16="http://schemas.microsoft.com/office/drawing/2014/main" id="{4458F5C4-C617-83AC-1D5F-1DEE77004141}"/>
                </a:ext>
              </a:extLst>
            </p:cNvPr>
            <p:cNvSpPr/>
            <p:nvPr/>
          </p:nvSpPr>
          <p:spPr>
            <a:xfrm rot="5400000">
              <a:off x="6053518" y="861383"/>
              <a:ext cx="180000" cy="11052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7" name="Picture 16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A33A9072-C120-30B7-BBE6-2E92A1A7F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047FFFB-EDAF-3BCA-DDBC-492ABDD5CA2C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26" name="Picture 25" descr="A blue and green logo&#10;&#10;AI-generated content may be incorrect.">
              <a:extLst>
                <a:ext uri="{FF2B5EF4-FFF2-40B4-BE49-F238E27FC236}">
                  <a16:creationId xmlns:a16="http://schemas.microsoft.com/office/drawing/2014/main" id="{2C733C28-CFFF-B134-76BD-6998FC7A6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4162" y="6356350"/>
              <a:ext cx="696152" cy="36000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7F86A12-99AB-27BD-0F3D-609C9CF163FC}"/>
              </a:ext>
            </a:extLst>
          </p:cNvPr>
          <p:cNvSpPr txBox="1"/>
          <p:nvPr/>
        </p:nvSpPr>
        <p:spPr>
          <a:xfrm>
            <a:off x="590320" y="1108120"/>
            <a:ext cx="609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9684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CudaLSTM</a:t>
            </a:r>
            <a:endParaRPr lang="en-US" sz="1800" dirty="0">
              <a:solidFill>
                <a:srgbClr val="009684"/>
              </a:solidFill>
              <a:latin typeface="Consolas" panose="020B0609020204030204" pitchFamily="49" charset="0"/>
              <a:cs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EF6C32C-4A41-7A53-1963-7348ED031ABB}"/>
              </a:ext>
            </a:extLst>
          </p:cNvPr>
          <p:cNvSpPr/>
          <p:nvPr/>
        </p:nvSpPr>
        <p:spPr>
          <a:xfrm>
            <a:off x="590320" y="352130"/>
            <a:ext cx="11052000" cy="546497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00968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: Rounded Corners 9">
            <a:hlinkClick r:id="rId4" action="ppaction://hlinksldjump"/>
            <a:extLst>
              <a:ext uri="{FF2B5EF4-FFF2-40B4-BE49-F238E27FC236}">
                <a16:creationId xmlns:a16="http://schemas.microsoft.com/office/drawing/2014/main" id="{EE49A571-B11B-1ADB-BFC1-3B843558E1A2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Fine tuning</a:t>
            </a:r>
          </a:p>
        </p:txBody>
      </p:sp>
      <p:sp>
        <p:nvSpPr>
          <p:cNvPr id="11" name="Rectangle: Rounded Corners 10">
            <a:hlinkClick r:id="rId5" action="ppaction://hlinksldjump"/>
            <a:extLst>
              <a:ext uri="{FF2B5EF4-FFF2-40B4-BE49-F238E27FC236}">
                <a16:creationId xmlns:a16="http://schemas.microsoft.com/office/drawing/2014/main" id="{E86B9B7D-3E5B-88FD-B46F-019D1559B673}"/>
              </a:ext>
            </a:extLst>
          </p:cNvPr>
          <p:cNvSpPr/>
          <p:nvPr/>
        </p:nvSpPr>
        <p:spPr>
          <a:xfrm>
            <a:off x="646599" y="387853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Base model</a:t>
            </a:r>
          </a:p>
        </p:txBody>
      </p:sp>
      <p:sp>
        <p:nvSpPr>
          <p:cNvPr id="29" name="Rectangle: Rounded Corners 28">
            <a:hlinkClick r:id="rId5" action="ppaction://hlinksldjump"/>
            <a:extLst>
              <a:ext uri="{FF2B5EF4-FFF2-40B4-BE49-F238E27FC236}">
                <a16:creationId xmlns:a16="http://schemas.microsoft.com/office/drawing/2014/main" id="{99A29641-E5D6-94FE-23A4-DA542985C9A2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Transfer learning</a:t>
            </a:r>
          </a:p>
        </p:txBody>
      </p:sp>
      <p:sp>
        <p:nvSpPr>
          <p:cNvPr id="30" name="Rectangle: Rounded Corners 29">
            <a:hlinkClick r:id="rId4" action="ppaction://hlinksldjump"/>
            <a:extLst>
              <a:ext uri="{FF2B5EF4-FFF2-40B4-BE49-F238E27FC236}">
                <a16:creationId xmlns:a16="http://schemas.microsoft.com/office/drawing/2014/main" id="{6B020AF6-4D65-C234-FDAB-CEB00584742E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Forecasting</a:t>
            </a:r>
          </a:p>
        </p:txBody>
      </p:sp>
    </p:spTree>
    <p:extLst>
      <p:ext uri="{BB962C8B-B14F-4D97-AF65-F5344CB8AC3E}">
        <p14:creationId xmlns:p14="http://schemas.microsoft.com/office/powerpoint/2010/main" val="234713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94154-0656-EBC8-8CD8-0003B7D44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27124-06CB-619D-0610-1FD1A7036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5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977719-C71F-6049-0D6A-A9A7B0270DD5}"/>
              </a:ext>
            </a:extLst>
          </p:cNvPr>
          <p:cNvSpPr txBox="1"/>
          <p:nvPr/>
        </p:nvSpPr>
        <p:spPr>
          <a:xfrm>
            <a:off x="5367629" y="1504995"/>
            <a:ext cx="592840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This model uses a single LSTM to simulate both hindcast and forecast timesteps.</a:t>
            </a:r>
          </a:p>
          <a:p>
            <a:endParaRPr lang="en-US" sz="17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sz="17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43EDEDD-E515-BDA1-E0D1-BF0F91548AA6}"/>
              </a:ext>
            </a:extLst>
          </p:cNvPr>
          <p:cNvGrpSpPr/>
          <p:nvPr/>
        </p:nvGrpSpPr>
        <p:grpSpPr>
          <a:xfrm>
            <a:off x="617518" y="6297383"/>
            <a:ext cx="11052000" cy="418967"/>
            <a:chOff x="617518" y="6297383"/>
            <a:chExt cx="11052000" cy="418967"/>
          </a:xfrm>
        </p:grpSpPr>
        <p:sp>
          <p:nvSpPr>
            <p:cNvPr id="12" name="Left Bracket 11">
              <a:extLst>
                <a:ext uri="{FF2B5EF4-FFF2-40B4-BE49-F238E27FC236}">
                  <a16:creationId xmlns:a16="http://schemas.microsoft.com/office/drawing/2014/main" id="{79CA1A57-919A-1154-106E-B16949D8AEC6}"/>
                </a:ext>
              </a:extLst>
            </p:cNvPr>
            <p:cNvSpPr/>
            <p:nvPr/>
          </p:nvSpPr>
          <p:spPr>
            <a:xfrm rot="5400000">
              <a:off x="6053518" y="861383"/>
              <a:ext cx="180000" cy="11052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7" name="Picture 16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0074A47C-8A7D-92F0-4F40-D7CD4F5CB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90B1926-CA75-1B52-6E36-E372FB6251CE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26" name="Picture 25" descr="A blue and green logo&#10;&#10;AI-generated content may be incorrect.">
              <a:extLst>
                <a:ext uri="{FF2B5EF4-FFF2-40B4-BE49-F238E27FC236}">
                  <a16:creationId xmlns:a16="http://schemas.microsoft.com/office/drawing/2014/main" id="{FE72D8EB-BA91-8915-F8C0-3220372139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4162" y="6356350"/>
              <a:ext cx="696152" cy="36000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F3D3871-217D-9671-7237-0CAC26C1B5D3}"/>
              </a:ext>
            </a:extLst>
          </p:cNvPr>
          <p:cNvSpPr txBox="1"/>
          <p:nvPr/>
        </p:nvSpPr>
        <p:spPr>
          <a:xfrm>
            <a:off x="590320" y="1108120"/>
            <a:ext cx="609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9684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SequentialForecastLSTM</a:t>
            </a:r>
            <a:endParaRPr lang="en-US" sz="1800" dirty="0">
              <a:solidFill>
                <a:srgbClr val="009684"/>
              </a:solidFill>
              <a:latin typeface="Consolas" panose="020B0609020204030204" pitchFamily="49" charset="0"/>
              <a:cs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86A68D1-00C3-FB14-D57E-553ECF4A34A4}"/>
              </a:ext>
            </a:extLst>
          </p:cNvPr>
          <p:cNvSpPr/>
          <p:nvPr/>
        </p:nvSpPr>
        <p:spPr>
          <a:xfrm>
            <a:off x="590320" y="352130"/>
            <a:ext cx="11052000" cy="546497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00968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: Rounded Corners 9">
            <a:hlinkClick r:id="rId4" action="ppaction://hlinksldjump"/>
            <a:extLst>
              <a:ext uri="{FF2B5EF4-FFF2-40B4-BE49-F238E27FC236}">
                <a16:creationId xmlns:a16="http://schemas.microsoft.com/office/drawing/2014/main" id="{F1DA1899-1D3F-B77C-E0A3-D9D694C8227D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Fine tuning</a:t>
            </a:r>
          </a:p>
        </p:txBody>
      </p:sp>
      <p:sp>
        <p:nvSpPr>
          <p:cNvPr id="11" name="Rectangle: Rounded Corners 10">
            <a:hlinkClick r:id="rId5" action="ppaction://hlinksldjump"/>
            <a:extLst>
              <a:ext uri="{FF2B5EF4-FFF2-40B4-BE49-F238E27FC236}">
                <a16:creationId xmlns:a16="http://schemas.microsoft.com/office/drawing/2014/main" id="{EFC43870-B52A-DFCA-FE8C-562CEA1B23B0}"/>
              </a:ext>
            </a:extLst>
          </p:cNvPr>
          <p:cNvSpPr/>
          <p:nvPr/>
        </p:nvSpPr>
        <p:spPr>
          <a:xfrm>
            <a:off x="646599" y="387853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Base model</a:t>
            </a:r>
          </a:p>
        </p:txBody>
      </p:sp>
      <p:sp>
        <p:nvSpPr>
          <p:cNvPr id="29" name="Rectangle: Rounded Corners 28">
            <a:hlinkClick r:id="rId5" action="ppaction://hlinksldjump"/>
            <a:extLst>
              <a:ext uri="{FF2B5EF4-FFF2-40B4-BE49-F238E27FC236}">
                <a16:creationId xmlns:a16="http://schemas.microsoft.com/office/drawing/2014/main" id="{DB00637F-3B05-8C99-B255-BAD50376EB48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Transfer learning</a:t>
            </a:r>
          </a:p>
        </p:txBody>
      </p:sp>
      <p:sp>
        <p:nvSpPr>
          <p:cNvPr id="30" name="Rectangle: Rounded Corners 29">
            <a:hlinkClick r:id="rId4" action="ppaction://hlinksldjump"/>
            <a:extLst>
              <a:ext uri="{FF2B5EF4-FFF2-40B4-BE49-F238E27FC236}">
                <a16:creationId xmlns:a16="http://schemas.microsoft.com/office/drawing/2014/main" id="{5DD899D7-F739-6E2A-B88F-15413697AF7A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Forecasting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E14707D-6C6B-C34D-B7A1-F4F0F7EEC1F8}"/>
              </a:ext>
            </a:extLst>
          </p:cNvPr>
          <p:cNvGrpSpPr/>
          <p:nvPr/>
        </p:nvGrpSpPr>
        <p:grpSpPr>
          <a:xfrm>
            <a:off x="838200" y="1884150"/>
            <a:ext cx="4689508" cy="3554997"/>
            <a:chOff x="5123566" y="1985071"/>
            <a:chExt cx="4689508" cy="3554997"/>
          </a:xfrm>
        </p:grpSpPr>
        <p:grpSp>
          <p:nvGrpSpPr>
            <p:cNvPr id="46" name="Grupo 271">
              <a:extLst>
                <a:ext uri="{FF2B5EF4-FFF2-40B4-BE49-F238E27FC236}">
                  <a16:creationId xmlns:a16="http://schemas.microsoft.com/office/drawing/2014/main" id="{BBE33A71-CB0E-3F44-47E6-ABDCBAB73859}"/>
                </a:ext>
              </a:extLst>
            </p:cNvPr>
            <p:cNvGrpSpPr/>
            <p:nvPr/>
          </p:nvGrpSpPr>
          <p:grpSpPr>
            <a:xfrm>
              <a:off x="5931177" y="3039838"/>
              <a:ext cx="1440000" cy="1236685"/>
              <a:chOff x="3929140" y="2907883"/>
              <a:chExt cx="1440000" cy="1236685"/>
            </a:xfrm>
          </p:grpSpPr>
          <p:sp>
            <p:nvSpPr>
              <p:cNvPr id="65" name="Rectángulo: esquinas redondeadas 272">
                <a:extLst>
                  <a:ext uri="{FF2B5EF4-FFF2-40B4-BE49-F238E27FC236}">
                    <a16:creationId xmlns:a16="http://schemas.microsoft.com/office/drawing/2014/main" id="{1BC6123F-F605-F6F0-96DE-26DC76581C04}"/>
                  </a:ext>
                </a:extLst>
              </p:cNvPr>
              <p:cNvSpPr/>
              <p:nvPr/>
            </p:nvSpPr>
            <p:spPr>
              <a:xfrm>
                <a:off x="3929140" y="2910282"/>
                <a:ext cx="1440000" cy="1234286"/>
              </a:xfrm>
              <a:prstGeom prst="roundRect">
                <a:avLst>
                  <a:gd name="adj" fmla="val 11953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cxnSp>
            <p:nvCxnSpPr>
              <p:cNvPr id="66" name="Conector recto de flecha 273">
                <a:extLst>
                  <a:ext uri="{FF2B5EF4-FFF2-40B4-BE49-F238E27FC236}">
                    <a16:creationId xmlns:a16="http://schemas.microsoft.com/office/drawing/2014/main" id="{B1C92562-C898-0C32-F69C-51521D263E3D}"/>
                  </a:ext>
                </a:extLst>
              </p:cNvPr>
              <p:cNvCxnSpPr>
                <a:cxnSpLocks/>
                <a:endCxn id="68" idx="2"/>
              </p:cNvCxnSpPr>
              <p:nvPr/>
            </p:nvCxnSpPr>
            <p:spPr>
              <a:xfrm>
                <a:off x="3929140" y="3116434"/>
                <a:ext cx="374637" cy="0"/>
              </a:xfrm>
              <a:prstGeom prst="straightConnector1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Conector: angular 274">
                <a:extLst>
                  <a:ext uri="{FF2B5EF4-FFF2-40B4-BE49-F238E27FC236}">
                    <a16:creationId xmlns:a16="http://schemas.microsoft.com/office/drawing/2014/main" id="{01D0EAA5-09C6-1B56-C971-0D92B17531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29140" y="3568568"/>
                <a:ext cx="1037285" cy="367448"/>
              </a:xfrm>
              <a:prstGeom prst="bentConnector3">
                <a:avLst>
                  <a:gd name="adj1" fmla="val 99907"/>
                </a:avLst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Elipse 275">
                <a:extLst>
                  <a:ext uri="{FF2B5EF4-FFF2-40B4-BE49-F238E27FC236}">
                    <a16:creationId xmlns:a16="http://schemas.microsoft.com/office/drawing/2014/main" id="{F2436DDC-FF31-D59B-2074-2E4628A44F0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3777" y="3075291"/>
                <a:ext cx="82286" cy="82286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Elipse 276">
                <a:extLst>
                  <a:ext uri="{FF2B5EF4-FFF2-40B4-BE49-F238E27FC236}">
                    <a16:creationId xmlns:a16="http://schemas.microsoft.com/office/drawing/2014/main" id="{AED10C93-6074-E10D-DC4B-B8A87140BE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13929" y="3490225"/>
                <a:ext cx="82286" cy="82286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Elipse 277">
                <a:extLst>
                  <a:ext uri="{FF2B5EF4-FFF2-40B4-BE49-F238E27FC236}">
                    <a16:creationId xmlns:a16="http://schemas.microsoft.com/office/drawing/2014/main" id="{95EC137F-F920-2E4E-2C32-D67E07E447A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16931" y="3076568"/>
                <a:ext cx="82286" cy="82286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Elipse 278">
                <a:extLst>
                  <a:ext uri="{FF2B5EF4-FFF2-40B4-BE49-F238E27FC236}">
                    <a16:creationId xmlns:a16="http://schemas.microsoft.com/office/drawing/2014/main" id="{30DED26D-E88C-87E2-B877-5C3597AD74B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25283" y="3486282"/>
                <a:ext cx="82286" cy="82286"/>
              </a:xfrm>
              <a:prstGeom prst="ellipse">
                <a:avLst/>
              </a:prstGeom>
              <a:noFill/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4" name="Conector recto de flecha 279">
                <a:extLst>
                  <a:ext uri="{FF2B5EF4-FFF2-40B4-BE49-F238E27FC236}">
                    <a16:creationId xmlns:a16="http://schemas.microsoft.com/office/drawing/2014/main" id="{07FA6619-540E-AE5C-31F8-733BD814D905}"/>
                  </a:ext>
                </a:extLst>
              </p:cNvPr>
              <p:cNvCxnSpPr>
                <a:cxnSpLocks/>
                <a:stCxn id="68" idx="6"/>
                <a:endCxn id="71" idx="2"/>
              </p:cNvCxnSpPr>
              <p:nvPr/>
            </p:nvCxnSpPr>
            <p:spPr>
              <a:xfrm>
                <a:off x="4386063" y="3116434"/>
                <a:ext cx="330869" cy="1277"/>
              </a:xfrm>
              <a:prstGeom prst="straightConnector1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ector: angular 280">
                <a:extLst>
                  <a:ext uri="{FF2B5EF4-FFF2-40B4-BE49-F238E27FC236}">
                    <a16:creationId xmlns:a16="http://schemas.microsoft.com/office/drawing/2014/main" id="{4F9263B2-9F71-4EC5-4435-45D6EB0D30B3}"/>
                  </a:ext>
                </a:extLst>
              </p:cNvPr>
              <p:cNvCxnSpPr>
                <a:cxnSpLocks/>
                <a:endCxn id="70" idx="4"/>
              </p:cNvCxnSpPr>
              <p:nvPr/>
            </p:nvCxnSpPr>
            <p:spPr>
              <a:xfrm flipV="1">
                <a:off x="3929140" y="3572511"/>
                <a:ext cx="825931" cy="363505"/>
              </a:xfrm>
              <a:prstGeom prst="bentConnector2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Conector: angular 281">
                <a:extLst>
                  <a:ext uri="{FF2B5EF4-FFF2-40B4-BE49-F238E27FC236}">
                    <a16:creationId xmlns:a16="http://schemas.microsoft.com/office/drawing/2014/main" id="{0751A3E5-4060-14E3-535D-4A3F1EBC3700}"/>
                  </a:ext>
                </a:extLst>
              </p:cNvPr>
              <p:cNvCxnSpPr>
                <a:cxnSpLocks/>
                <a:stCxn id="85" idx="3"/>
                <a:endCxn id="68" idx="4"/>
              </p:cNvCxnSpPr>
              <p:nvPr/>
            </p:nvCxnSpPr>
            <p:spPr>
              <a:xfrm flipV="1">
                <a:off x="4249700" y="3157577"/>
                <a:ext cx="95220" cy="777350"/>
              </a:xfrm>
              <a:prstGeom prst="bentConnector2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Conector recto de flecha 282">
                <a:extLst>
                  <a:ext uri="{FF2B5EF4-FFF2-40B4-BE49-F238E27FC236}">
                    <a16:creationId xmlns:a16="http://schemas.microsoft.com/office/drawing/2014/main" id="{C10BA1A3-538D-4D42-5BA4-23379951C6D8}"/>
                  </a:ext>
                </a:extLst>
              </p:cNvPr>
              <p:cNvCxnSpPr>
                <a:cxnSpLocks/>
                <a:stCxn id="70" idx="0"/>
                <a:endCxn id="71" idx="4"/>
              </p:cNvCxnSpPr>
              <p:nvPr/>
            </p:nvCxnSpPr>
            <p:spPr>
              <a:xfrm flipV="1">
                <a:off x="4755071" y="3158854"/>
                <a:ext cx="3003" cy="331371"/>
              </a:xfrm>
              <a:prstGeom prst="straightConnector1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Conector recto de flecha 283">
                <a:extLst>
                  <a:ext uri="{FF2B5EF4-FFF2-40B4-BE49-F238E27FC236}">
                    <a16:creationId xmlns:a16="http://schemas.microsoft.com/office/drawing/2014/main" id="{7CDA54A9-7D52-CDDE-0B7B-3921D743487E}"/>
                  </a:ext>
                </a:extLst>
              </p:cNvPr>
              <p:cNvCxnSpPr>
                <a:cxnSpLocks/>
                <a:stCxn id="71" idx="6"/>
              </p:cNvCxnSpPr>
              <p:nvPr/>
            </p:nvCxnSpPr>
            <p:spPr>
              <a:xfrm flipV="1">
                <a:off x="4799217" y="3116434"/>
                <a:ext cx="569923" cy="1277"/>
              </a:xfrm>
              <a:prstGeom prst="straightConnector1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Conector: angular 284">
                <a:extLst>
                  <a:ext uri="{FF2B5EF4-FFF2-40B4-BE49-F238E27FC236}">
                    <a16:creationId xmlns:a16="http://schemas.microsoft.com/office/drawing/2014/main" id="{F4BD3CAD-11D1-1309-54C8-B925233DE2F5}"/>
                  </a:ext>
                </a:extLst>
              </p:cNvPr>
              <p:cNvCxnSpPr>
                <a:cxnSpLocks/>
                <a:stCxn id="71" idx="6"/>
                <a:endCxn id="73" idx="0"/>
              </p:cNvCxnSpPr>
              <p:nvPr/>
            </p:nvCxnSpPr>
            <p:spPr>
              <a:xfrm>
                <a:off x="4799217" y="3117711"/>
                <a:ext cx="167208" cy="368571"/>
              </a:xfrm>
              <a:prstGeom prst="bentConnector2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Conector: angular 285">
                <a:extLst>
                  <a:ext uri="{FF2B5EF4-FFF2-40B4-BE49-F238E27FC236}">
                    <a16:creationId xmlns:a16="http://schemas.microsoft.com/office/drawing/2014/main" id="{DEB442E5-8541-C737-CB94-2602DCC35817}"/>
                  </a:ext>
                </a:extLst>
              </p:cNvPr>
              <p:cNvCxnSpPr>
                <a:cxnSpLocks/>
                <a:stCxn id="73" idx="6"/>
              </p:cNvCxnSpPr>
              <p:nvPr/>
            </p:nvCxnSpPr>
            <p:spPr>
              <a:xfrm>
                <a:off x="5007568" y="3527425"/>
                <a:ext cx="361572" cy="413429"/>
              </a:xfrm>
              <a:prstGeom prst="bentConnector3">
                <a:avLst>
                  <a:gd name="adj1" fmla="val 44648"/>
                </a:avLst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Rectángulo 286">
                <a:extLst>
                  <a:ext uri="{FF2B5EF4-FFF2-40B4-BE49-F238E27FC236}">
                    <a16:creationId xmlns:a16="http://schemas.microsoft.com/office/drawing/2014/main" id="{4FC879CE-A6A9-D6F9-C385-6D883769AF23}"/>
                  </a:ext>
                </a:extLst>
              </p:cNvPr>
              <p:cNvSpPr/>
              <p:nvPr/>
            </p:nvSpPr>
            <p:spPr>
              <a:xfrm>
                <a:off x="4217640" y="3850288"/>
                <a:ext cx="32060" cy="16927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s-ES" sz="1100" dirty="0">
                    <a:solidFill>
                      <a:schemeClr val="tx1"/>
                    </a:solidFill>
                  </a:rPr>
                  <a:t> </a:t>
                </a:r>
                <a:endParaRPr lang="en-GB" sz="1100" baseline="-25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6" name="Rectángulo 287">
                <a:extLst>
                  <a:ext uri="{FF2B5EF4-FFF2-40B4-BE49-F238E27FC236}">
                    <a16:creationId xmlns:a16="http://schemas.microsoft.com/office/drawing/2014/main" id="{C2F60DF0-0581-813A-EF70-2127AD632727}"/>
                  </a:ext>
                </a:extLst>
              </p:cNvPr>
              <p:cNvSpPr/>
              <p:nvPr/>
            </p:nvSpPr>
            <p:spPr>
              <a:xfrm>
                <a:off x="4626504" y="3654795"/>
                <a:ext cx="256480" cy="153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s-ES" sz="1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Palatino Linotype" panose="02040502050505030304" pitchFamily="18" charset="0"/>
                  </a:rPr>
                  <a:t>tanh</a:t>
                </a:r>
                <a:endParaRPr lang="en-GB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endParaRPr>
              </a:p>
            </p:txBody>
          </p:sp>
          <p:sp>
            <p:nvSpPr>
              <p:cNvPr id="87" name="Rectángulo 288">
                <a:extLst>
                  <a:ext uri="{FF2B5EF4-FFF2-40B4-BE49-F238E27FC236}">
                    <a16:creationId xmlns:a16="http://schemas.microsoft.com/office/drawing/2014/main" id="{50117665-633D-63F1-92CD-13288847BEA3}"/>
                  </a:ext>
                </a:extLst>
              </p:cNvPr>
              <p:cNvSpPr/>
              <p:nvPr/>
            </p:nvSpPr>
            <p:spPr>
              <a:xfrm>
                <a:off x="4927953" y="3654795"/>
                <a:ext cx="76944" cy="153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l-GR" sz="1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Palatino Linotype" panose="02040502050505030304" pitchFamily="18" charset="0"/>
                  </a:rPr>
                  <a:t>σ</a:t>
                </a:r>
                <a:endParaRPr lang="en-GB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endParaRPr>
              </a:p>
            </p:txBody>
          </p:sp>
          <p:sp>
            <p:nvSpPr>
              <p:cNvPr id="88" name="Rectángulo 289">
                <a:extLst>
                  <a:ext uri="{FF2B5EF4-FFF2-40B4-BE49-F238E27FC236}">
                    <a16:creationId xmlns:a16="http://schemas.microsoft.com/office/drawing/2014/main" id="{904D3DA7-E7FA-2C95-F287-50C158CD4B7A}"/>
                  </a:ext>
                </a:extLst>
              </p:cNvPr>
              <p:cNvSpPr/>
              <p:nvPr/>
            </p:nvSpPr>
            <p:spPr>
              <a:xfrm>
                <a:off x="4838186" y="3235882"/>
                <a:ext cx="256480" cy="153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s-ES" sz="10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Palatino Linotype" panose="02040502050505030304" pitchFamily="18" charset="0"/>
                  </a:rPr>
                  <a:t>tanh</a:t>
                </a:r>
                <a:endParaRPr lang="en-GB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endParaRPr>
              </a:p>
            </p:txBody>
          </p:sp>
          <p:cxnSp>
            <p:nvCxnSpPr>
              <p:cNvPr id="89" name="Conector: angular 290">
                <a:extLst>
                  <a:ext uri="{FF2B5EF4-FFF2-40B4-BE49-F238E27FC236}">
                    <a16:creationId xmlns:a16="http://schemas.microsoft.com/office/drawing/2014/main" id="{7A2605CF-42E6-5ACB-B615-B983484FADA8}"/>
                  </a:ext>
                </a:extLst>
              </p:cNvPr>
              <p:cNvCxnSpPr>
                <a:cxnSpLocks/>
                <a:stCxn id="73" idx="6"/>
              </p:cNvCxnSpPr>
              <p:nvPr/>
            </p:nvCxnSpPr>
            <p:spPr>
              <a:xfrm>
                <a:off x="5007569" y="3527425"/>
                <a:ext cx="161331" cy="617143"/>
              </a:xfrm>
              <a:prstGeom prst="bentConnector2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Conector: angular 291">
                <a:extLst>
                  <a:ext uri="{FF2B5EF4-FFF2-40B4-BE49-F238E27FC236}">
                    <a16:creationId xmlns:a16="http://schemas.microsoft.com/office/drawing/2014/main" id="{51A56D45-3733-3AD8-F07F-BD9B4899850E}"/>
                  </a:ext>
                </a:extLst>
              </p:cNvPr>
              <p:cNvCxnSpPr>
                <a:cxnSpLocks/>
                <a:endCxn id="85" idx="1"/>
              </p:cNvCxnSpPr>
              <p:nvPr/>
            </p:nvCxnSpPr>
            <p:spPr>
              <a:xfrm rot="16200000" flipH="1">
                <a:off x="3671065" y="3388351"/>
                <a:ext cx="1027043" cy="66108"/>
              </a:xfrm>
              <a:prstGeom prst="bentConnector2">
                <a:avLst/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Conector: angular 292">
                <a:extLst>
                  <a:ext uri="{FF2B5EF4-FFF2-40B4-BE49-F238E27FC236}">
                    <a16:creationId xmlns:a16="http://schemas.microsoft.com/office/drawing/2014/main" id="{49C48632-1CF1-2BC7-D2B0-5418CF8F3F09}"/>
                  </a:ext>
                </a:extLst>
              </p:cNvPr>
              <p:cNvCxnSpPr>
                <a:cxnSpLocks/>
                <a:endCxn id="70" idx="2"/>
              </p:cNvCxnSpPr>
              <p:nvPr/>
            </p:nvCxnSpPr>
            <p:spPr>
              <a:xfrm flipV="1">
                <a:off x="3929140" y="3531368"/>
                <a:ext cx="784789" cy="404648"/>
              </a:xfrm>
              <a:prstGeom prst="bentConnector3">
                <a:avLst>
                  <a:gd name="adj1" fmla="val 78667"/>
                </a:avLst>
              </a:prstGeom>
              <a:ln w="12700">
                <a:solidFill>
                  <a:schemeClr val="accent6">
                    <a:lumMod val="40000"/>
                    <a:lumOff val="60000"/>
                  </a:schemeClr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ectángulo 293">
                <a:extLst>
                  <a:ext uri="{FF2B5EF4-FFF2-40B4-BE49-F238E27FC236}">
                    <a16:creationId xmlns:a16="http://schemas.microsoft.com/office/drawing/2014/main" id="{B5635156-24F4-60F8-51DA-8D91B7E63E66}"/>
                  </a:ext>
                </a:extLst>
              </p:cNvPr>
              <p:cNvSpPr/>
              <p:nvPr/>
            </p:nvSpPr>
            <p:spPr>
              <a:xfrm>
                <a:off x="4509094" y="3654795"/>
                <a:ext cx="76944" cy="153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l-GR" sz="1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Palatino Linotype" panose="02040502050505030304" pitchFamily="18" charset="0"/>
                  </a:rPr>
                  <a:t>σ</a:t>
                </a:r>
                <a:endParaRPr lang="en-GB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endParaRPr>
              </a:p>
            </p:txBody>
          </p:sp>
          <p:sp>
            <p:nvSpPr>
              <p:cNvPr id="93" name="Rectángulo 294">
                <a:extLst>
                  <a:ext uri="{FF2B5EF4-FFF2-40B4-BE49-F238E27FC236}">
                    <a16:creationId xmlns:a16="http://schemas.microsoft.com/office/drawing/2014/main" id="{51EEB489-7190-A093-BC75-EADF75090603}"/>
                  </a:ext>
                </a:extLst>
              </p:cNvPr>
              <p:cNvSpPr/>
              <p:nvPr/>
            </p:nvSpPr>
            <p:spPr>
              <a:xfrm>
                <a:off x="4306449" y="3647101"/>
                <a:ext cx="76944" cy="1538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spAutoFit/>
              </a:bodyPr>
              <a:lstStyle/>
              <a:p>
                <a:pPr algn="ctr"/>
                <a:r>
                  <a:rPr lang="el-GR" sz="10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Palatino Linotype" panose="02040502050505030304" pitchFamily="18" charset="0"/>
                  </a:rPr>
                  <a:t>σ</a:t>
                </a:r>
                <a:endParaRPr lang="en-GB" sz="10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Palatino Linotype" panose="02040502050505030304" pitchFamily="18" charset="0"/>
                </a:endParaRPr>
              </a:p>
            </p:txBody>
          </p:sp>
        </p:grpSp>
        <p:sp>
          <p:nvSpPr>
            <p:cNvPr id="47" name="Rectángulo: esquinas redondeadas 7">
              <a:extLst>
                <a:ext uri="{FF2B5EF4-FFF2-40B4-BE49-F238E27FC236}">
                  <a16:creationId xmlns:a16="http://schemas.microsoft.com/office/drawing/2014/main" id="{A873D065-C74E-4474-19E5-C3245DF06C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30111" y="5258050"/>
              <a:ext cx="1440000" cy="282018"/>
            </a:xfrm>
            <a:prstGeom prst="roundRect">
              <a:avLst>
                <a:gd name="adj" fmla="val 35352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X</a:t>
              </a:r>
              <a:r>
                <a:rPr lang="es-ES" baseline="-250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d,h</a:t>
              </a:r>
              <a:r>
                <a:rPr lang="es-ES" dirty="0">
                  <a:solidFill>
                    <a:schemeClr val="tx1"/>
                  </a:solidFill>
                  <a:latin typeface="Palatino Linotype" panose="02040502050505030304" pitchFamily="18" charset="0"/>
                </a:rPr>
                <a:t> + </a:t>
              </a:r>
              <a:r>
                <a:rPr lang="es-ES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X</a:t>
              </a:r>
              <a:r>
                <a:rPr lang="es-ES" baseline="-250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d,f</a:t>
              </a:r>
              <a:endParaRPr lang="en-GB" baseline="-250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48" name="Rectángulo: esquinas redondeadas 8">
              <a:extLst>
                <a:ext uri="{FF2B5EF4-FFF2-40B4-BE49-F238E27FC236}">
                  <a16:creationId xmlns:a16="http://schemas.microsoft.com/office/drawing/2014/main" id="{7BCE1AFD-FE0B-31E4-4414-40B8D3A8D3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23566" y="5231798"/>
              <a:ext cx="1440000" cy="282018"/>
            </a:xfrm>
            <a:prstGeom prst="roundRect">
              <a:avLst>
                <a:gd name="adj" fmla="val 35352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X</a:t>
              </a:r>
              <a:r>
                <a:rPr lang="es-ES" baseline="-25000" dirty="0" err="1">
                  <a:solidFill>
                    <a:schemeClr val="tx1"/>
                  </a:solidFill>
                  <a:latin typeface="Palatino Linotype" panose="02040502050505030304" pitchFamily="18" charset="0"/>
                </a:rPr>
                <a:t>s</a:t>
              </a:r>
              <a:endParaRPr lang="en-GB" baseline="-25000" dirty="0">
                <a:solidFill>
                  <a:schemeClr val="tx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49" name="Rectángulo: esquinas redondeadas 299">
              <a:extLst>
                <a:ext uri="{FF2B5EF4-FFF2-40B4-BE49-F238E27FC236}">
                  <a16:creationId xmlns:a16="http://schemas.microsoft.com/office/drawing/2014/main" id="{E32E98F8-CD63-4AE4-AE63-5726B0697911}"/>
                </a:ext>
              </a:extLst>
            </p:cNvPr>
            <p:cNvSpPr/>
            <p:nvPr/>
          </p:nvSpPr>
          <p:spPr>
            <a:xfrm rot="5400000">
              <a:off x="5704421" y="4165215"/>
              <a:ext cx="280800" cy="1437490"/>
            </a:xfrm>
            <a:prstGeom prst="roundRect">
              <a:avLst>
                <a:gd name="adj" fmla="val 11953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[31, 64, 32, 16]</a:t>
              </a:r>
              <a:endParaRPr lang="en-GB" sz="1400" dirty="0">
                <a:solidFill>
                  <a:schemeClr val="bg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50" name="Rectángulo: esquinas redondeadas 299">
              <a:extLst>
                <a:ext uri="{FF2B5EF4-FFF2-40B4-BE49-F238E27FC236}">
                  <a16:creationId xmlns:a16="http://schemas.microsoft.com/office/drawing/2014/main" id="{4CFC4186-346F-F076-0C86-0D7D7272757B}"/>
                </a:ext>
              </a:extLst>
            </p:cNvPr>
            <p:cNvSpPr/>
            <p:nvPr/>
          </p:nvSpPr>
          <p:spPr>
            <a:xfrm rot="5400000">
              <a:off x="7310966" y="4154814"/>
              <a:ext cx="280800" cy="1437490"/>
            </a:xfrm>
            <a:prstGeom prst="roundRect">
              <a:avLst>
                <a:gd name="adj" fmla="val 11953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[9, 9]</a:t>
              </a:r>
              <a:endParaRPr lang="en-GB" sz="1400" dirty="0">
                <a:solidFill>
                  <a:schemeClr val="bg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51" name="Rectángulo: esquinas redondeadas 299">
              <a:extLst>
                <a:ext uri="{FF2B5EF4-FFF2-40B4-BE49-F238E27FC236}">
                  <a16:creationId xmlns:a16="http://schemas.microsoft.com/office/drawing/2014/main" id="{42386802-6FCB-4957-A309-AC205BCDF146}"/>
                </a:ext>
              </a:extLst>
            </p:cNvPr>
            <p:cNvSpPr/>
            <p:nvPr/>
          </p:nvSpPr>
          <p:spPr>
            <a:xfrm rot="5400000">
              <a:off x="6512032" y="1955499"/>
              <a:ext cx="280800" cy="1437490"/>
            </a:xfrm>
            <a:prstGeom prst="roundRect">
              <a:avLst>
                <a:gd name="adj" fmla="val 11953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s-ES" sz="1400" dirty="0">
                  <a:solidFill>
                    <a:schemeClr val="bg1"/>
                  </a:solidFill>
                  <a:latin typeface="Palatino Linotype" panose="02040502050505030304" pitchFamily="18" charset="0"/>
                </a:rPr>
                <a:t>[64, 8]</a:t>
              </a:r>
              <a:endParaRPr lang="en-GB" sz="1400" dirty="0">
                <a:solidFill>
                  <a:schemeClr val="bg1"/>
                </a:solidFill>
                <a:latin typeface="Palatino Linotype" panose="02040502050505030304" pitchFamily="18" charset="0"/>
              </a:endParaRPr>
            </a:p>
          </p:txBody>
        </p:sp>
        <p:sp>
          <p:nvSpPr>
            <p:cNvPr id="53" name="Rectángulo: esquinas redondeadas 8">
              <a:extLst>
                <a:ext uri="{FF2B5EF4-FFF2-40B4-BE49-F238E27FC236}">
                  <a16:creationId xmlns:a16="http://schemas.microsoft.com/office/drawing/2014/main" id="{C610D359-BEC2-5E2F-A2E3-AB4F281474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31177" y="1985071"/>
              <a:ext cx="1440000" cy="282018"/>
            </a:xfrm>
            <a:prstGeom prst="roundRect">
              <a:avLst>
                <a:gd name="adj" fmla="val 35352"/>
              </a:avLst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s-ES" dirty="0" err="1">
                  <a:latin typeface="Palatino Linotype" panose="02040502050505030304" pitchFamily="18" charset="0"/>
                </a:rPr>
                <a:t>Y</a:t>
              </a:r>
              <a:r>
                <a:rPr lang="es-ES" baseline="-25000" dirty="0" err="1">
                  <a:latin typeface="Palatino Linotype" panose="02040502050505030304" pitchFamily="18" charset="0"/>
                </a:rPr>
                <a:t>t</a:t>
              </a:r>
              <a:endParaRPr lang="en-GB" baseline="-25000" dirty="0">
                <a:latin typeface="Palatino Linotype" panose="02040502050505030304" pitchFamily="18" charset="0"/>
              </a:endParaRPr>
            </a:p>
          </p:txBody>
        </p:sp>
        <p:cxnSp>
          <p:nvCxnSpPr>
            <p:cNvPr id="54" name="Conector recto de flecha 297">
              <a:extLst>
                <a:ext uri="{FF2B5EF4-FFF2-40B4-BE49-F238E27FC236}">
                  <a16:creationId xmlns:a16="http://schemas.microsoft.com/office/drawing/2014/main" id="{9132E4C9-25BF-2B61-C4C2-48AC42A99B44}"/>
                </a:ext>
              </a:extLst>
            </p:cNvPr>
            <p:cNvCxnSpPr>
              <a:cxnSpLocks/>
              <a:stCxn id="48" idx="0"/>
              <a:endCxn id="49" idx="3"/>
            </p:cNvCxnSpPr>
            <p:nvPr/>
          </p:nvCxnSpPr>
          <p:spPr>
            <a:xfrm flipV="1">
              <a:off x="5843566" y="5024360"/>
              <a:ext cx="1255" cy="20743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de flecha 297">
              <a:extLst>
                <a:ext uri="{FF2B5EF4-FFF2-40B4-BE49-F238E27FC236}">
                  <a16:creationId xmlns:a16="http://schemas.microsoft.com/office/drawing/2014/main" id="{4E4BC082-96DA-83E7-3F6D-71170E5A0096}"/>
                </a:ext>
              </a:extLst>
            </p:cNvPr>
            <p:cNvCxnSpPr>
              <a:cxnSpLocks/>
              <a:stCxn id="47" idx="0"/>
              <a:endCxn id="50" idx="3"/>
            </p:cNvCxnSpPr>
            <p:nvPr/>
          </p:nvCxnSpPr>
          <p:spPr>
            <a:xfrm flipV="1">
              <a:off x="7450111" y="5013959"/>
              <a:ext cx="1255" cy="24409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: Elbow 55">
              <a:extLst>
                <a:ext uri="{FF2B5EF4-FFF2-40B4-BE49-F238E27FC236}">
                  <a16:creationId xmlns:a16="http://schemas.microsoft.com/office/drawing/2014/main" id="{1BAC0860-7188-540B-4B95-00D6871EC9DA}"/>
                </a:ext>
              </a:extLst>
            </p:cNvPr>
            <p:cNvCxnSpPr>
              <a:cxnSpLocks/>
              <a:stCxn id="50" idx="1"/>
              <a:endCxn id="65" idx="2"/>
            </p:cNvCxnSpPr>
            <p:nvPr/>
          </p:nvCxnSpPr>
          <p:spPr>
            <a:xfrm rot="16200000" flipV="1">
              <a:off x="6822954" y="4104746"/>
              <a:ext cx="456636" cy="800189"/>
            </a:xfrm>
            <a:prstGeom prst="bentConnector5">
              <a:avLst>
                <a:gd name="adj1" fmla="val 50062"/>
                <a:gd name="adj2" fmla="val 158"/>
                <a:gd name="adj3" fmla="val 49938"/>
              </a:avLst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ector recto de flecha 297">
              <a:extLst>
                <a:ext uri="{FF2B5EF4-FFF2-40B4-BE49-F238E27FC236}">
                  <a16:creationId xmlns:a16="http://schemas.microsoft.com/office/drawing/2014/main" id="{CAE43323-4DE6-86FF-82D3-6ADADC441071}"/>
                </a:ext>
              </a:extLst>
            </p:cNvPr>
            <p:cNvCxnSpPr>
              <a:cxnSpLocks/>
              <a:stCxn id="65" idx="0"/>
              <a:endCxn id="51" idx="3"/>
            </p:cNvCxnSpPr>
            <p:nvPr/>
          </p:nvCxnSpPr>
          <p:spPr>
            <a:xfrm flipV="1">
              <a:off x="6651177" y="2814644"/>
              <a:ext cx="1255" cy="22759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cto de flecha 297">
              <a:extLst>
                <a:ext uri="{FF2B5EF4-FFF2-40B4-BE49-F238E27FC236}">
                  <a16:creationId xmlns:a16="http://schemas.microsoft.com/office/drawing/2014/main" id="{641251BE-C93D-4A26-44B9-A36C6A1EEABA}"/>
                </a:ext>
              </a:extLst>
            </p:cNvPr>
            <p:cNvCxnSpPr>
              <a:cxnSpLocks/>
              <a:stCxn id="51" idx="1"/>
              <a:endCxn id="53" idx="2"/>
            </p:cNvCxnSpPr>
            <p:nvPr/>
          </p:nvCxnSpPr>
          <p:spPr>
            <a:xfrm flipH="1" flipV="1">
              <a:off x="6651177" y="2267089"/>
              <a:ext cx="1255" cy="2667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CuadroTexto 334">
              <a:extLst>
                <a:ext uri="{FF2B5EF4-FFF2-40B4-BE49-F238E27FC236}">
                  <a16:creationId xmlns:a16="http://schemas.microsoft.com/office/drawing/2014/main" id="{9FE4479B-1FED-A157-2445-3D95BF00D1DD}"/>
                </a:ext>
              </a:extLst>
            </p:cNvPr>
            <p:cNvSpPr txBox="1"/>
            <p:nvPr/>
          </p:nvSpPr>
          <p:spPr>
            <a:xfrm>
              <a:off x="8221462" y="3530799"/>
              <a:ext cx="1489800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>
                  <a:latin typeface="Palatino Linotype" panose="02040502050505030304" pitchFamily="18" charset="0"/>
                </a:rPr>
                <a:t>LSTM</a:t>
              </a:r>
            </a:p>
            <a:p>
              <a:r>
                <a:rPr lang="en-US" sz="1400" dirty="0">
                  <a:latin typeface="Palatino Linotype" panose="02040502050505030304" pitchFamily="18" charset="0"/>
                </a:rPr>
                <a:t>[365, 25, 64]</a:t>
              </a:r>
            </a:p>
          </p:txBody>
        </p:sp>
        <p:sp>
          <p:nvSpPr>
            <p:cNvPr id="61" name="CuadroTexto 334">
              <a:extLst>
                <a:ext uri="{FF2B5EF4-FFF2-40B4-BE49-F238E27FC236}">
                  <a16:creationId xmlns:a16="http://schemas.microsoft.com/office/drawing/2014/main" id="{D66F58E4-3B12-DBB6-D9B9-EFFC42D64676}"/>
                </a:ext>
              </a:extLst>
            </p:cNvPr>
            <p:cNvSpPr txBox="1"/>
            <p:nvPr/>
          </p:nvSpPr>
          <p:spPr>
            <a:xfrm>
              <a:off x="8221461" y="4751581"/>
              <a:ext cx="1591613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>
                  <a:latin typeface="Palatino Linotype" panose="02040502050505030304" pitchFamily="18" charset="0"/>
                </a:rPr>
                <a:t>Embedding MLP</a:t>
              </a:r>
            </a:p>
          </p:txBody>
        </p:sp>
        <p:sp>
          <p:nvSpPr>
            <p:cNvPr id="62" name="CuadroTexto 334">
              <a:extLst>
                <a:ext uri="{FF2B5EF4-FFF2-40B4-BE49-F238E27FC236}">
                  <a16:creationId xmlns:a16="http://schemas.microsoft.com/office/drawing/2014/main" id="{4907E8E4-288F-4C15-6CCB-38A79580487B}"/>
                </a:ext>
              </a:extLst>
            </p:cNvPr>
            <p:cNvSpPr txBox="1"/>
            <p:nvPr/>
          </p:nvSpPr>
          <p:spPr>
            <a:xfrm>
              <a:off x="8221462" y="2551133"/>
              <a:ext cx="14898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>
                  <a:latin typeface="Palatino Linotype" panose="02040502050505030304" pitchFamily="18" charset="0"/>
                </a:rPr>
                <a:t>head MLP</a:t>
              </a:r>
            </a:p>
          </p:txBody>
        </p:sp>
        <p:cxnSp>
          <p:nvCxnSpPr>
            <p:cNvPr id="63" name="Connector: Elbow 62">
              <a:extLst>
                <a:ext uri="{FF2B5EF4-FFF2-40B4-BE49-F238E27FC236}">
                  <a16:creationId xmlns:a16="http://schemas.microsoft.com/office/drawing/2014/main" id="{C3FD0492-3F07-F734-7790-C06F026CF73B}"/>
                </a:ext>
              </a:extLst>
            </p:cNvPr>
            <p:cNvCxnSpPr>
              <a:cxnSpLocks/>
              <a:stCxn id="49" idx="1"/>
              <a:endCxn id="65" idx="2"/>
            </p:cNvCxnSpPr>
            <p:nvPr/>
          </p:nvCxnSpPr>
          <p:spPr>
            <a:xfrm rot="5400000" flipH="1" flipV="1">
              <a:off x="6014481" y="4106864"/>
              <a:ext cx="467037" cy="806356"/>
            </a:xfrm>
            <a:prstGeom prst="bentConnector5">
              <a:avLst>
                <a:gd name="adj1" fmla="val 48947"/>
                <a:gd name="adj2" fmla="val 922"/>
                <a:gd name="adj3" fmla="val 51053"/>
              </a:avLst>
            </a:prstGeom>
            <a:ln w="12700">
              <a:solidFill>
                <a:schemeClr val="tx1"/>
              </a:solidFill>
              <a:tail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85884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337A2-36C6-97E3-2C7C-AC6A950A1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E90E9-AF29-B51D-412C-CE474CEB3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6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284891-71D0-AE84-E3C5-7AAF518FFCCA}"/>
              </a:ext>
            </a:extLst>
          </p:cNvPr>
          <p:cNvSpPr txBox="1"/>
          <p:nvPr/>
        </p:nvSpPr>
        <p:spPr>
          <a:xfrm>
            <a:off x="6096000" y="1543305"/>
            <a:ext cx="592840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This model uses a single LSTM to simulate both hindcast and forecast timesteps.</a:t>
            </a:r>
          </a:p>
          <a:p>
            <a:endParaRPr lang="en-US" sz="17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sz="17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BD39099-6BB3-3841-59FE-7A67F88D065D}"/>
              </a:ext>
            </a:extLst>
          </p:cNvPr>
          <p:cNvGrpSpPr/>
          <p:nvPr/>
        </p:nvGrpSpPr>
        <p:grpSpPr>
          <a:xfrm>
            <a:off x="617518" y="6297383"/>
            <a:ext cx="11052000" cy="418967"/>
            <a:chOff x="617518" y="6297383"/>
            <a:chExt cx="11052000" cy="418967"/>
          </a:xfrm>
        </p:grpSpPr>
        <p:sp>
          <p:nvSpPr>
            <p:cNvPr id="12" name="Left Bracket 11">
              <a:extLst>
                <a:ext uri="{FF2B5EF4-FFF2-40B4-BE49-F238E27FC236}">
                  <a16:creationId xmlns:a16="http://schemas.microsoft.com/office/drawing/2014/main" id="{2A775825-F7A8-ABCA-3AB3-67A27480F28D}"/>
                </a:ext>
              </a:extLst>
            </p:cNvPr>
            <p:cNvSpPr/>
            <p:nvPr/>
          </p:nvSpPr>
          <p:spPr>
            <a:xfrm rot="5400000">
              <a:off x="6053518" y="861383"/>
              <a:ext cx="180000" cy="11052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7" name="Picture 16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8C036494-08B2-08E1-12D6-309134B867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DEE9EB3-8E9A-2824-D7E5-FABDB2FCD0C0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26" name="Picture 25" descr="A blue and green logo&#10;&#10;AI-generated content may be incorrect.">
              <a:extLst>
                <a:ext uri="{FF2B5EF4-FFF2-40B4-BE49-F238E27FC236}">
                  <a16:creationId xmlns:a16="http://schemas.microsoft.com/office/drawing/2014/main" id="{736FCD44-47B5-5649-768A-D18C65ACB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4162" y="6356350"/>
              <a:ext cx="696152" cy="36000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7E7C11D-9377-11B9-A52B-B4F86371B436}"/>
              </a:ext>
            </a:extLst>
          </p:cNvPr>
          <p:cNvSpPr txBox="1"/>
          <p:nvPr/>
        </p:nvSpPr>
        <p:spPr>
          <a:xfrm>
            <a:off x="590320" y="1108120"/>
            <a:ext cx="609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9684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HandoffForecastLSTM</a:t>
            </a:r>
            <a:endParaRPr lang="en-US" sz="1800" dirty="0">
              <a:solidFill>
                <a:srgbClr val="009684"/>
              </a:solidFill>
              <a:latin typeface="Consolas" panose="020B0609020204030204" pitchFamily="49" charset="0"/>
              <a:cs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214940F-577A-EA69-AEE9-53974E4E2BE1}"/>
              </a:ext>
            </a:extLst>
          </p:cNvPr>
          <p:cNvSpPr/>
          <p:nvPr/>
        </p:nvSpPr>
        <p:spPr>
          <a:xfrm>
            <a:off x="590320" y="352130"/>
            <a:ext cx="11052000" cy="546497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00968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: Rounded Corners 9">
            <a:hlinkClick r:id="rId4" action="ppaction://hlinksldjump"/>
            <a:extLst>
              <a:ext uri="{FF2B5EF4-FFF2-40B4-BE49-F238E27FC236}">
                <a16:creationId xmlns:a16="http://schemas.microsoft.com/office/drawing/2014/main" id="{CBE84725-97DC-1A93-D541-B78843BCA18C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Fine tuning</a:t>
            </a:r>
          </a:p>
        </p:txBody>
      </p:sp>
      <p:sp>
        <p:nvSpPr>
          <p:cNvPr id="11" name="Rectangle: Rounded Corners 10">
            <a:hlinkClick r:id="rId5" action="ppaction://hlinksldjump"/>
            <a:extLst>
              <a:ext uri="{FF2B5EF4-FFF2-40B4-BE49-F238E27FC236}">
                <a16:creationId xmlns:a16="http://schemas.microsoft.com/office/drawing/2014/main" id="{043AE023-DF40-CB0C-A6C9-CDA021EE160A}"/>
              </a:ext>
            </a:extLst>
          </p:cNvPr>
          <p:cNvSpPr/>
          <p:nvPr/>
        </p:nvSpPr>
        <p:spPr>
          <a:xfrm>
            <a:off x="646599" y="387853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Base model</a:t>
            </a:r>
          </a:p>
        </p:txBody>
      </p:sp>
      <p:sp>
        <p:nvSpPr>
          <p:cNvPr id="29" name="Rectangle: Rounded Corners 28">
            <a:hlinkClick r:id="rId5" action="ppaction://hlinksldjump"/>
            <a:extLst>
              <a:ext uri="{FF2B5EF4-FFF2-40B4-BE49-F238E27FC236}">
                <a16:creationId xmlns:a16="http://schemas.microsoft.com/office/drawing/2014/main" id="{945EBF64-4B12-F680-0D84-7531BDB196EE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Transfer learning</a:t>
            </a:r>
          </a:p>
        </p:txBody>
      </p:sp>
      <p:sp>
        <p:nvSpPr>
          <p:cNvPr id="30" name="Rectangle: Rounded Corners 29">
            <a:hlinkClick r:id="rId4" action="ppaction://hlinksldjump"/>
            <a:extLst>
              <a:ext uri="{FF2B5EF4-FFF2-40B4-BE49-F238E27FC236}">
                <a16:creationId xmlns:a16="http://schemas.microsoft.com/office/drawing/2014/main" id="{A873187C-C919-59AA-858C-A652F7F0B042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Forecasting</a:t>
            </a:r>
          </a:p>
        </p:txBody>
      </p:sp>
      <p:sp>
        <p:nvSpPr>
          <p:cNvPr id="47" name="Rectángulo: esquinas redondeadas 7">
            <a:extLst>
              <a:ext uri="{FF2B5EF4-FFF2-40B4-BE49-F238E27FC236}">
                <a16:creationId xmlns:a16="http://schemas.microsoft.com/office/drawing/2014/main" id="{F0293594-1A14-4CBC-88C5-BD238C18C02E}"/>
              </a:ext>
            </a:extLst>
          </p:cNvPr>
          <p:cNvSpPr>
            <a:spLocks noChangeAspect="1"/>
          </p:cNvSpPr>
          <p:nvPr/>
        </p:nvSpPr>
        <p:spPr>
          <a:xfrm>
            <a:off x="3153388" y="5520185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d,h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8" name="Rectángulo: esquinas redondeadas 8">
            <a:extLst>
              <a:ext uri="{FF2B5EF4-FFF2-40B4-BE49-F238E27FC236}">
                <a16:creationId xmlns:a16="http://schemas.microsoft.com/office/drawing/2014/main" id="{6EB46EA1-A822-0874-5D6B-8CC0DDD570FF}"/>
              </a:ext>
            </a:extLst>
          </p:cNvPr>
          <p:cNvSpPr>
            <a:spLocks noChangeAspect="1"/>
          </p:cNvSpPr>
          <p:nvPr/>
        </p:nvSpPr>
        <p:spPr>
          <a:xfrm>
            <a:off x="1546843" y="5526128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9" name="Rectángulo: esquinas redondeadas 299">
            <a:extLst>
              <a:ext uri="{FF2B5EF4-FFF2-40B4-BE49-F238E27FC236}">
                <a16:creationId xmlns:a16="http://schemas.microsoft.com/office/drawing/2014/main" id="{992EA013-17F0-970E-6EF6-50A4D764C8C1}"/>
              </a:ext>
            </a:extLst>
          </p:cNvPr>
          <p:cNvSpPr/>
          <p:nvPr/>
        </p:nvSpPr>
        <p:spPr>
          <a:xfrm rot="5400000">
            <a:off x="2127698" y="4453106"/>
            <a:ext cx="280800" cy="1437490"/>
          </a:xfrm>
          <a:prstGeom prst="roundRect">
            <a:avLst>
              <a:gd name="adj" fmla="val 11953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  <a:latin typeface="Palatino Linotype" panose="02040502050505030304" pitchFamily="18" charset="0"/>
              </a:rPr>
              <a:t>[41, 64, 32, 16]</a:t>
            </a:r>
            <a:endParaRPr lang="en-GB" sz="1400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50" name="Rectángulo: esquinas redondeadas 299">
            <a:extLst>
              <a:ext uri="{FF2B5EF4-FFF2-40B4-BE49-F238E27FC236}">
                <a16:creationId xmlns:a16="http://schemas.microsoft.com/office/drawing/2014/main" id="{218FB4F5-DE39-D9D2-1BEF-A33E264EF607}"/>
              </a:ext>
            </a:extLst>
          </p:cNvPr>
          <p:cNvSpPr/>
          <p:nvPr/>
        </p:nvSpPr>
        <p:spPr>
          <a:xfrm rot="5400000">
            <a:off x="3734243" y="4442705"/>
            <a:ext cx="280800" cy="1437490"/>
          </a:xfrm>
          <a:prstGeom prst="roundRect">
            <a:avLst>
              <a:gd name="adj" fmla="val 11953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  <a:latin typeface="Palatino Linotype" panose="02040502050505030304" pitchFamily="18" charset="0"/>
              </a:rPr>
              <a:t>[9, 9]</a:t>
            </a:r>
            <a:endParaRPr lang="en-GB" sz="1400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cxnSp>
        <p:nvCxnSpPr>
          <p:cNvPr id="54" name="Conector recto de flecha 297">
            <a:extLst>
              <a:ext uri="{FF2B5EF4-FFF2-40B4-BE49-F238E27FC236}">
                <a16:creationId xmlns:a16="http://schemas.microsoft.com/office/drawing/2014/main" id="{6737923C-5A27-22A7-E0C3-6F3A2D75F226}"/>
              </a:ext>
            </a:extLst>
          </p:cNvPr>
          <p:cNvCxnSpPr>
            <a:cxnSpLocks/>
            <a:stCxn id="48" idx="0"/>
            <a:endCxn id="49" idx="3"/>
          </p:cNvCxnSpPr>
          <p:nvPr/>
        </p:nvCxnSpPr>
        <p:spPr>
          <a:xfrm flipV="1">
            <a:off x="2266843" y="5312251"/>
            <a:ext cx="1255" cy="213877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297">
            <a:extLst>
              <a:ext uri="{FF2B5EF4-FFF2-40B4-BE49-F238E27FC236}">
                <a16:creationId xmlns:a16="http://schemas.microsoft.com/office/drawing/2014/main" id="{CF3223BA-1ED2-38BE-AF85-6DF70BFF749F}"/>
              </a:ext>
            </a:extLst>
          </p:cNvPr>
          <p:cNvCxnSpPr>
            <a:cxnSpLocks/>
            <a:stCxn id="47" idx="0"/>
            <a:endCxn id="50" idx="3"/>
          </p:cNvCxnSpPr>
          <p:nvPr/>
        </p:nvCxnSpPr>
        <p:spPr>
          <a:xfrm flipV="1">
            <a:off x="3873388" y="5301850"/>
            <a:ext cx="1255" cy="21833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5EF49532-3A98-EC21-B25F-53C6EA418453}"/>
              </a:ext>
            </a:extLst>
          </p:cNvPr>
          <p:cNvCxnSpPr>
            <a:cxnSpLocks/>
            <a:stCxn id="50" idx="1"/>
          </p:cNvCxnSpPr>
          <p:nvPr/>
        </p:nvCxnSpPr>
        <p:spPr>
          <a:xfrm rot="16200000" flipV="1">
            <a:off x="3246231" y="4392637"/>
            <a:ext cx="456636" cy="800189"/>
          </a:xfrm>
          <a:prstGeom prst="bentConnector5">
            <a:avLst>
              <a:gd name="adj1" fmla="val 50062"/>
              <a:gd name="adj2" fmla="val 158"/>
              <a:gd name="adj3" fmla="val 49938"/>
            </a:avLst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297">
            <a:extLst>
              <a:ext uri="{FF2B5EF4-FFF2-40B4-BE49-F238E27FC236}">
                <a16:creationId xmlns:a16="http://schemas.microsoft.com/office/drawing/2014/main" id="{43977ED7-5AE0-7F27-2C11-C345A2966FA6}"/>
              </a:ext>
            </a:extLst>
          </p:cNvPr>
          <p:cNvCxnSpPr>
            <a:cxnSpLocks/>
            <a:stCxn id="108" idx="1"/>
            <a:endCxn id="2" idx="3"/>
          </p:cNvCxnSpPr>
          <p:nvPr/>
        </p:nvCxnSpPr>
        <p:spPr>
          <a:xfrm flipV="1">
            <a:off x="3079059" y="3776897"/>
            <a:ext cx="0" cy="215514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uadroTexto 334">
            <a:extLst>
              <a:ext uri="{FF2B5EF4-FFF2-40B4-BE49-F238E27FC236}">
                <a16:creationId xmlns:a16="http://schemas.microsoft.com/office/drawing/2014/main" id="{F1FB022A-EB67-A5A2-C575-5D7F0D309FAD}"/>
              </a:ext>
            </a:extLst>
          </p:cNvPr>
          <p:cNvSpPr txBox="1"/>
          <p:nvPr/>
        </p:nvSpPr>
        <p:spPr>
          <a:xfrm>
            <a:off x="-191609" y="4168874"/>
            <a:ext cx="160574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latin typeface="Palatino Linotype" panose="02040502050505030304" pitchFamily="18" charset="0"/>
              </a:rPr>
              <a:t>Hindcast LSTM</a:t>
            </a:r>
          </a:p>
        </p:txBody>
      </p:sp>
      <p:sp>
        <p:nvSpPr>
          <p:cNvPr id="61" name="CuadroTexto 334">
            <a:extLst>
              <a:ext uri="{FF2B5EF4-FFF2-40B4-BE49-F238E27FC236}">
                <a16:creationId xmlns:a16="http://schemas.microsoft.com/office/drawing/2014/main" id="{62C0D469-D96B-3F31-71E5-CB26E965EFCE}"/>
              </a:ext>
            </a:extLst>
          </p:cNvPr>
          <p:cNvSpPr txBox="1"/>
          <p:nvPr/>
        </p:nvSpPr>
        <p:spPr>
          <a:xfrm>
            <a:off x="-191609" y="5066030"/>
            <a:ext cx="160574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latin typeface="Palatino Linotype" panose="02040502050505030304" pitchFamily="18" charset="0"/>
              </a:rPr>
              <a:t>Embedding MLP</a:t>
            </a:r>
          </a:p>
        </p:txBody>
      </p:sp>
      <p:sp>
        <p:nvSpPr>
          <p:cNvPr id="62" name="CuadroTexto 334">
            <a:extLst>
              <a:ext uri="{FF2B5EF4-FFF2-40B4-BE49-F238E27FC236}">
                <a16:creationId xmlns:a16="http://schemas.microsoft.com/office/drawing/2014/main" id="{B2693FC7-9C93-4961-97EA-D25ABA5A735E}"/>
              </a:ext>
            </a:extLst>
          </p:cNvPr>
          <p:cNvSpPr txBox="1"/>
          <p:nvPr/>
        </p:nvSpPr>
        <p:spPr>
          <a:xfrm>
            <a:off x="-191609" y="2878487"/>
            <a:ext cx="14898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latin typeface="Palatino Linotype" panose="02040502050505030304" pitchFamily="18" charset="0"/>
              </a:rPr>
              <a:t>Forecast LSTM</a:t>
            </a: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C13CD1C0-F2F8-5EB1-BE2D-8DF5E5565FE3}"/>
              </a:ext>
            </a:extLst>
          </p:cNvPr>
          <p:cNvCxnSpPr>
            <a:cxnSpLocks/>
            <a:stCxn id="49" idx="1"/>
          </p:cNvCxnSpPr>
          <p:nvPr/>
        </p:nvCxnSpPr>
        <p:spPr>
          <a:xfrm rot="5400000" flipH="1" flipV="1">
            <a:off x="2437758" y="4394755"/>
            <a:ext cx="467037" cy="806356"/>
          </a:xfrm>
          <a:prstGeom prst="bentConnector5">
            <a:avLst>
              <a:gd name="adj1" fmla="val 48947"/>
              <a:gd name="adj2" fmla="val 922"/>
              <a:gd name="adj3" fmla="val 51053"/>
            </a:avLst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: esquinas redondeadas 299">
            <a:extLst>
              <a:ext uri="{FF2B5EF4-FFF2-40B4-BE49-F238E27FC236}">
                <a16:creationId xmlns:a16="http://schemas.microsoft.com/office/drawing/2014/main" id="{799F4AC6-486B-833A-20E3-D1B6626D0601}"/>
              </a:ext>
            </a:extLst>
          </p:cNvPr>
          <p:cNvSpPr/>
          <p:nvPr/>
        </p:nvSpPr>
        <p:spPr>
          <a:xfrm rot="5400000">
            <a:off x="2938659" y="2917752"/>
            <a:ext cx="280800" cy="1437490"/>
          </a:xfrm>
          <a:prstGeom prst="roundRect">
            <a:avLst>
              <a:gd name="adj" fmla="val 11953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  <a:latin typeface="Palatino Linotype" panose="02040502050505030304" pitchFamily="18" charset="0"/>
              </a:rPr>
              <a:t>[128, 64, 128]</a:t>
            </a:r>
            <a:endParaRPr lang="en-GB" sz="1400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05" name="Rectángulo: esquinas redondeadas 8">
            <a:extLst>
              <a:ext uri="{FF2B5EF4-FFF2-40B4-BE49-F238E27FC236}">
                <a16:creationId xmlns:a16="http://schemas.microsoft.com/office/drawing/2014/main" id="{8E53F771-112C-F7E8-3514-F75EF047226B}"/>
              </a:ext>
            </a:extLst>
          </p:cNvPr>
          <p:cNvSpPr>
            <a:spLocks noChangeAspect="1"/>
          </p:cNvSpPr>
          <p:nvPr/>
        </p:nvSpPr>
        <p:spPr>
          <a:xfrm>
            <a:off x="2360314" y="1686945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s-ES" dirty="0" err="1">
                <a:latin typeface="Palatino Linotype" panose="02040502050505030304" pitchFamily="18" charset="0"/>
              </a:rPr>
              <a:t>Y</a:t>
            </a:r>
            <a:r>
              <a:rPr lang="es-ES" baseline="-25000" dirty="0" err="1">
                <a:latin typeface="Palatino Linotype" panose="02040502050505030304" pitchFamily="18" charset="0"/>
              </a:rPr>
              <a:t>t,h</a:t>
            </a:r>
            <a:r>
              <a:rPr lang="es-ES" dirty="0">
                <a:latin typeface="Palatino Linotype" panose="02040502050505030304" pitchFamily="18" charset="0"/>
              </a:rPr>
              <a:t> + </a:t>
            </a:r>
            <a:r>
              <a:rPr lang="es-ES" dirty="0" err="1">
                <a:latin typeface="Palatino Linotype" panose="02040502050505030304" pitchFamily="18" charset="0"/>
              </a:rPr>
              <a:t>Y</a:t>
            </a:r>
            <a:r>
              <a:rPr lang="es-ES" baseline="-25000" dirty="0" err="1">
                <a:latin typeface="Palatino Linotype" panose="02040502050505030304" pitchFamily="18" charset="0"/>
              </a:rPr>
              <a:t>t,d</a:t>
            </a:r>
            <a:endParaRPr lang="en-GB" baseline="-25000" dirty="0">
              <a:latin typeface="Palatino Linotype" panose="02040502050505030304" pitchFamily="18" charset="0"/>
            </a:endParaRPr>
          </a:p>
        </p:txBody>
      </p:sp>
      <p:sp>
        <p:nvSpPr>
          <p:cNvPr id="107" name="Rectángulo: esquinas redondeadas 299">
            <a:extLst>
              <a:ext uri="{FF2B5EF4-FFF2-40B4-BE49-F238E27FC236}">
                <a16:creationId xmlns:a16="http://schemas.microsoft.com/office/drawing/2014/main" id="{6E82C8D9-372F-7E01-8FBE-24E9D29C4BD9}"/>
              </a:ext>
            </a:extLst>
          </p:cNvPr>
          <p:cNvSpPr/>
          <p:nvPr/>
        </p:nvSpPr>
        <p:spPr>
          <a:xfrm rot="5400000">
            <a:off x="2941114" y="1632715"/>
            <a:ext cx="280800" cy="1437490"/>
          </a:xfrm>
          <a:prstGeom prst="roundRect">
            <a:avLst>
              <a:gd name="adj" fmla="val 11953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  <a:latin typeface="Palatino Linotype" panose="02040502050505030304" pitchFamily="18" charset="0"/>
              </a:rPr>
              <a:t>[64, 8]</a:t>
            </a:r>
            <a:endParaRPr lang="en-GB" sz="1400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08" name="Rectángulo: esquinas redondeadas 299">
            <a:extLst>
              <a:ext uri="{FF2B5EF4-FFF2-40B4-BE49-F238E27FC236}">
                <a16:creationId xmlns:a16="http://schemas.microsoft.com/office/drawing/2014/main" id="{1FC5D08F-260A-BA3C-3EEE-CC8743A08407}"/>
              </a:ext>
            </a:extLst>
          </p:cNvPr>
          <p:cNvSpPr/>
          <p:nvPr/>
        </p:nvSpPr>
        <p:spPr>
          <a:xfrm rot="5400000">
            <a:off x="2798259" y="3554466"/>
            <a:ext cx="561600" cy="1437490"/>
          </a:xfrm>
          <a:prstGeom prst="roundRect">
            <a:avLst>
              <a:gd name="adj" fmla="val 1195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1400" dirty="0">
                <a:solidFill>
                  <a:schemeClr val="accent6">
                    <a:lumMod val="75000"/>
                  </a:schemeClr>
                </a:solidFill>
                <a:latin typeface="Palatino Linotype" panose="02040502050505030304" pitchFamily="18" charset="0"/>
              </a:rPr>
              <a:t>[365, 25, 64]</a:t>
            </a:r>
            <a:endParaRPr lang="en-GB" sz="1400" dirty="0">
              <a:solidFill>
                <a:schemeClr val="accent6">
                  <a:lumMod val="75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113" name="Rectángulo: esquinas redondeadas 299">
            <a:extLst>
              <a:ext uri="{FF2B5EF4-FFF2-40B4-BE49-F238E27FC236}">
                <a16:creationId xmlns:a16="http://schemas.microsoft.com/office/drawing/2014/main" id="{A0150B88-8153-3218-CFB9-72BCC70B20E7}"/>
              </a:ext>
            </a:extLst>
          </p:cNvPr>
          <p:cNvSpPr/>
          <p:nvPr/>
        </p:nvSpPr>
        <p:spPr>
          <a:xfrm rot="5400000">
            <a:off x="2798259" y="2283244"/>
            <a:ext cx="561600" cy="1437490"/>
          </a:xfrm>
          <a:prstGeom prst="roundRect">
            <a:avLst>
              <a:gd name="adj" fmla="val 1195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1400" dirty="0">
                <a:solidFill>
                  <a:schemeClr val="accent6">
                    <a:lumMod val="75000"/>
                  </a:schemeClr>
                </a:solidFill>
                <a:latin typeface="Palatino Linotype" panose="02040502050505030304" pitchFamily="18" charset="0"/>
              </a:rPr>
              <a:t>[7, 23, 64]</a:t>
            </a:r>
            <a:endParaRPr lang="en-GB" sz="1400" dirty="0">
              <a:solidFill>
                <a:schemeClr val="accent6">
                  <a:lumMod val="75000"/>
                </a:schemeClr>
              </a:solidFill>
              <a:latin typeface="Palatino Linotype" panose="02040502050505030304" pitchFamily="18" charset="0"/>
            </a:endParaRPr>
          </a:p>
        </p:txBody>
      </p:sp>
      <p:cxnSp>
        <p:nvCxnSpPr>
          <p:cNvPr id="114" name="Conector recto de flecha 297">
            <a:extLst>
              <a:ext uri="{FF2B5EF4-FFF2-40B4-BE49-F238E27FC236}">
                <a16:creationId xmlns:a16="http://schemas.microsoft.com/office/drawing/2014/main" id="{683CD084-7EA9-D921-4EAA-6260F1E1DC33}"/>
              </a:ext>
            </a:extLst>
          </p:cNvPr>
          <p:cNvCxnSpPr>
            <a:cxnSpLocks/>
            <a:stCxn id="2" idx="1"/>
            <a:endCxn id="113" idx="3"/>
          </p:cNvCxnSpPr>
          <p:nvPr/>
        </p:nvCxnSpPr>
        <p:spPr>
          <a:xfrm flipV="1">
            <a:off x="3079059" y="3282789"/>
            <a:ext cx="0" cy="21330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CuadroTexto 334">
            <a:extLst>
              <a:ext uri="{FF2B5EF4-FFF2-40B4-BE49-F238E27FC236}">
                <a16:creationId xmlns:a16="http://schemas.microsoft.com/office/drawing/2014/main" id="{9840B981-B392-8085-A775-0BAB6BC0B8B6}"/>
              </a:ext>
            </a:extLst>
          </p:cNvPr>
          <p:cNvSpPr txBox="1"/>
          <p:nvPr/>
        </p:nvSpPr>
        <p:spPr>
          <a:xfrm>
            <a:off x="-181770" y="3520096"/>
            <a:ext cx="14898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latin typeface="Palatino Linotype" panose="02040502050505030304" pitchFamily="18" charset="0"/>
              </a:rPr>
              <a:t>Handoff MLP</a:t>
            </a:r>
          </a:p>
        </p:txBody>
      </p:sp>
      <p:cxnSp>
        <p:nvCxnSpPr>
          <p:cNvPr id="119" name="Conector recto de flecha 297">
            <a:extLst>
              <a:ext uri="{FF2B5EF4-FFF2-40B4-BE49-F238E27FC236}">
                <a16:creationId xmlns:a16="http://schemas.microsoft.com/office/drawing/2014/main" id="{55DEB0CD-45B6-8437-0E68-E9DD00F63612}"/>
              </a:ext>
            </a:extLst>
          </p:cNvPr>
          <p:cNvCxnSpPr>
            <a:cxnSpLocks/>
            <a:stCxn id="113" idx="1"/>
            <a:endCxn id="107" idx="3"/>
          </p:cNvCxnSpPr>
          <p:nvPr/>
        </p:nvCxnSpPr>
        <p:spPr>
          <a:xfrm flipV="1">
            <a:off x="3079059" y="2491860"/>
            <a:ext cx="2455" cy="22932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cto de flecha 297">
            <a:extLst>
              <a:ext uri="{FF2B5EF4-FFF2-40B4-BE49-F238E27FC236}">
                <a16:creationId xmlns:a16="http://schemas.microsoft.com/office/drawing/2014/main" id="{A5339102-44D4-1ADD-7B2A-C4A261699E47}"/>
              </a:ext>
            </a:extLst>
          </p:cNvPr>
          <p:cNvCxnSpPr>
            <a:cxnSpLocks/>
            <a:stCxn id="107" idx="1"/>
            <a:endCxn id="105" idx="2"/>
          </p:cNvCxnSpPr>
          <p:nvPr/>
        </p:nvCxnSpPr>
        <p:spPr>
          <a:xfrm flipH="1" flipV="1">
            <a:off x="3080314" y="1968963"/>
            <a:ext cx="1200" cy="242097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CuadroTexto 334">
            <a:extLst>
              <a:ext uri="{FF2B5EF4-FFF2-40B4-BE49-F238E27FC236}">
                <a16:creationId xmlns:a16="http://schemas.microsoft.com/office/drawing/2014/main" id="{B74F334D-CC63-8EC7-8C8B-F122E8967273}"/>
              </a:ext>
            </a:extLst>
          </p:cNvPr>
          <p:cNvSpPr txBox="1"/>
          <p:nvPr/>
        </p:nvSpPr>
        <p:spPr>
          <a:xfrm>
            <a:off x="-189081" y="2226764"/>
            <a:ext cx="14898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latin typeface="Palatino Linotype" panose="02040502050505030304" pitchFamily="18" charset="0"/>
              </a:rPr>
              <a:t>Head MLP</a:t>
            </a:r>
          </a:p>
        </p:txBody>
      </p:sp>
      <p:sp>
        <p:nvSpPr>
          <p:cNvPr id="132" name="Rectángulo: esquinas redondeadas 7">
            <a:extLst>
              <a:ext uri="{FF2B5EF4-FFF2-40B4-BE49-F238E27FC236}">
                <a16:creationId xmlns:a16="http://schemas.microsoft.com/office/drawing/2014/main" id="{5521777F-4D25-71BD-9F37-E708E4273286}"/>
              </a:ext>
            </a:extLst>
          </p:cNvPr>
          <p:cNvSpPr>
            <a:spLocks noChangeAspect="1"/>
          </p:cNvSpPr>
          <p:nvPr/>
        </p:nvSpPr>
        <p:spPr>
          <a:xfrm>
            <a:off x="6366478" y="5522812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d,f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33" name="Rectángulo: esquinas redondeadas 8">
            <a:extLst>
              <a:ext uri="{FF2B5EF4-FFF2-40B4-BE49-F238E27FC236}">
                <a16:creationId xmlns:a16="http://schemas.microsoft.com/office/drawing/2014/main" id="{ED6B73BB-C9FF-8CBE-D861-EFEEBC4C7969}"/>
              </a:ext>
            </a:extLst>
          </p:cNvPr>
          <p:cNvSpPr>
            <a:spLocks noChangeAspect="1"/>
          </p:cNvSpPr>
          <p:nvPr/>
        </p:nvSpPr>
        <p:spPr>
          <a:xfrm>
            <a:off x="4759933" y="5528755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34" name="Rectángulo: esquinas redondeadas 299">
            <a:extLst>
              <a:ext uri="{FF2B5EF4-FFF2-40B4-BE49-F238E27FC236}">
                <a16:creationId xmlns:a16="http://schemas.microsoft.com/office/drawing/2014/main" id="{F5E49F32-3685-FAAF-2769-BDD553B35CC6}"/>
              </a:ext>
            </a:extLst>
          </p:cNvPr>
          <p:cNvSpPr/>
          <p:nvPr/>
        </p:nvSpPr>
        <p:spPr>
          <a:xfrm rot="5400000">
            <a:off x="5340788" y="4455733"/>
            <a:ext cx="280800" cy="1437490"/>
          </a:xfrm>
          <a:prstGeom prst="roundRect">
            <a:avLst>
              <a:gd name="adj" fmla="val 11953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  <a:latin typeface="Palatino Linotype" panose="02040502050505030304" pitchFamily="18" charset="0"/>
              </a:rPr>
              <a:t>[41, 64, 32, 16]</a:t>
            </a:r>
            <a:endParaRPr lang="en-GB" sz="1400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35" name="Rectángulo: esquinas redondeadas 299">
            <a:extLst>
              <a:ext uri="{FF2B5EF4-FFF2-40B4-BE49-F238E27FC236}">
                <a16:creationId xmlns:a16="http://schemas.microsoft.com/office/drawing/2014/main" id="{B1D49460-80C7-E775-513F-CBD5BA5828EC}"/>
              </a:ext>
            </a:extLst>
          </p:cNvPr>
          <p:cNvSpPr/>
          <p:nvPr/>
        </p:nvSpPr>
        <p:spPr>
          <a:xfrm rot="5400000">
            <a:off x="6947333" y="4445332"/>
            <a:ext cx="280800" cy="1437490"/>
          </a:xfrm>
          <a:prstGeom prst="roundRect">
            <a:avLst>
              <a:gd name="adj" fmla="val 11953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  <a:latin typeface="Palatino Linotype" panose="02040502050505030304" pitchFamily="18" charset="0"/>
              </a:rPr>
              <a:t>[7, 7]</a:t>
            </a:r>
            <a:endParaRPr lang="en-GB" sz="1400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cxnSp>
        <p:nvCxnSpPr>
          <p:cNvPr id="136" name="Conector recto de flecha 297">
            <a:extLst>
              <a:ext uri="{FF2B5EF4-FFF2-40B4-BE49-F238E27FC236}">
                <a16:creationId xmlns:a16="http://schemas.microsoft.com/office/drawing/2014/main" id="{7A766BEC-843C-2D6C-0D41-B248D373307C}"/>
              </a:ext>
            </a:extLst>
          </p:cNvPr>
          <p:cNvCxnSpPr>
            <a:cxnSpLocks/>
            <a:stCxn id="133" idx="0"/>
            <a:endCxn id="134" idx="3"/>
          </p:cNvCxnSpPr>
          <p:nvPr/>
        </p:nvCxnSpPr>
        <p:spPr>
          <a:xfrm flipV="1">
            <a:off x="5479933" y="5314878"/>
            <a:ext cx="1255" cy="213877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cto de flecha 297">
            <a:extLst>
              <a:ext uri="{FF2B5EF4-FFF2-40B4-BE49-F238E27FC236}">
                <a16:creationId xmlns:a16="http://schemas.microsoft.com/office/drawing/2014/main" id="{4D2D28ED-AC13-D850-3896-5643F06174F6}"/>
              </a:ext>
            </a:extLst>
          </p:cNvPr>
          <p:cNvCxnSpPr>
            <a:cxnSpLocks/>
            <a:stCxn id="132" idx="0"/>
            <a:endCxn id="135" idx="3"/>
          </p:cNvCxnSpPr>
          <p:nvPr/>
        </p:nvCxnSpPr>
        <p:spPr>
          <a:xfrm flipV="1">
            <a:off x="7086478" y="5304477"/>
            <a:ext cx="1255" cy="21833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5517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2CC4A-2509-F0A5-8872-84064D278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ángulo: esquinas redondeadas 299">
            <a:extLst>
              <a:ext uri="{FF2B5EF4-FFF2-40B4-BE49-F238E27FC236}">
                <a16:creationId xmlns:a16="http://schemas.microsoft.com/office/drawing/2014/main" id="{94DE7EAE-ACB9-E9AC-5121-A3D6C1FD19C6}"/>
              </a:ext>
            </a:extLst>
          </p:cNvPr>
          <p:cNvSpPr/>
          <p:nvPr/>
        </p:nvSpPr>
        <p:spPr>
          <a:xfrm>
            <a:off x="5516287" y="1837173"/>
            <a:ext cx="3309996" cy="3820611"/>
          </a:xfrm>
          <a:prstGeom prst="roundRect">
            <a:avLst>
              <a:gd name="adj" fmla="val 4413"/>
            </a:avLst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 anchorCtr="0"/>
          <a:lstStyle/>
          <a:p>
            <a:r>
              <a:rPr lang="es-ES" dirty="0" err="1">
                <a:solidFill>
                  <a:schemeClr val="accent2">
                    <a:lumMod val="50000"/>
                  </a:schemeClr>
                </a:solidFill>
                <a:latin typeface="Palatino Linotype" panose="02040502050505030304" pitchFamily="18" charset="0"/>
              </a:rPr>
              <a:t>Forecast</a:t>
            </a:r>
            <a:endParaRPr lang="en-GB" sz="1400" dirty="0">
              <a:solidFill>
                <a:schemeClr val="accent2">
                  <a:lumMod val="50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66" name="Rectángulo: esquinas redondeadas 299">
            <a:extLst>
              <a:ext uri="{FF2B5EF4-FFF2-40B4-BE49-F238E27FC236}">
                <a16:creationId xmlns:a16="http://schemas.microsoft.com/office/drawing/2014/main" id="{AA60FD34-0B03-A29C-BA1A-972C1E4F325B}"/>
              </a:ext>
            </a:extLst>
          </p:cNvPr>
          <p:cNvSpPr/>
          <p:nvPr/>
        </p:nvSpPr>
        <p:spPr>
          <a:xfrm>
            <a:off x="1936993" y="1837173"/>
            <a:ext cx="3309996" cy="3820611"/>
          </a:xfrm>
          <a:prstGeom prst="roundRect">
            <a:avLst>
              <a:gd name="adj" fmla="val 4413"/>
            </a:avLst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 anchorCtr="0"/>
          <a:lstStyle/>
          <a:p>
            <a:r>
              <a:rPr lang="es-ES" dirty="0" err="1">
                <a:solidFill>
                  <a:schemeClr val="accent2">
                    <a:lumMod val="50000"/>
                  </a:schemeClr>
                </a:solidFill>
                <a:latin typeface="Palatino Linotype" panose="02040502050505030304" pitchFamily="18" charset="0"/>
              </a:rPr>
              <a:t>Hindcast</a:t>
            </a:r>
            <a:endParaRPr lang="en-GB" sz="1400" dirty="0">
              <a:solidFill>
                <a:schemeClr val="accent2">
                  <a:lumMod val="50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E356F-7ACA-6FBB-28C7-207DF2D75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7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F20E9A-E38D-EEF1-B402-CAFBBD741865}"/>
              </a:ext>
            </a:extLst>
          </p:cNvPr>
          <p:cNvSpPr txBox="1"/>
          <p:nvPr/>
        </p:nvSpPr>
        <p:spPr>
          <a:xfrm>
            <a:off x="8937895" y="1997601"/>
            <a:ext cx="3054027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This model uses two LSTMs, one fore the hindcast period and one for the forecast period.</a:t>
            </a:r>
          </a:p>
          <a:p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The structure of both are similar: </a:t>
            </a:r>
            <a:r>
              <a:rPr lang="en-US" sz="17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embeddings+LSTM+head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The forecast LSTM hidden and cell state are initialized using an MLP from the hidden and cell state of the hindcast LSTM.</a:t>
            </a:r>
          </a:p>
          <a:p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As it is independent, the forecast engine may have different width and depth, or it can use different dynamic inputs.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ADF6B92-2196-3529-E5BC-FF6EEBE31434}"/>
              </a:ext>
            </a:extLst>
          </p:cNvPr>
          <p:cNvGrpSpPr/>
          <p:nvPr/>
        </p:nvGrpSpPr>
        <p:grpSpPr>
          <a:xfrm>
            <a:off x="617518" y="6297383"/>
            <a:ext cx="11052000" cy="418967"/>
            <a:chOff x="617518" y="6297383"/>
            <a:chExt cx="11052000" cy="418967"/>
          </a:xfrm>
        </p:grpSpPr>
        <p:sp>
          <p:nvSpPr>
            <p:cNvPr id="12" name="Left Bracket 11">
              <a:extLst>
                <a:ext uri="{FF2B5EF4-FFF2-40B4-BE49-F238E27FC236}">
                  <a16:creationId xmlns:a16="http://schemas.microsoft.com/office/drawing/2014/main" id="{F56B85A1-9BDD-9BC9-C8E7-CCDC9E8AF23E}"/>
                </a:ext>
              </a:extLst>
            </p:cNvPr>
            <p:cNvSpPr/>
            <p:nvPr/>
          </p:nvSpPr>
          <p:spPr>
            <a:xfrm rot="5400000">
              <a:off x="6053518" y="861383"/>
              <a:ext cx="180000" cy="11052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7" name="Picture 16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69F4E52A-89C0-16C3-7452-A349980E1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7960859-B8C8-8C40-45C9-1F5E8416E2C7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26" name="Picture 25" descr="A blue and green logo&#10;&#10;AI-generated content may be incorrect.">
              <a:extLst>
                <a:ext uri="{FF2B5EF4-FFF2-40B4-BE49-F238E27FC236}">
                  <a16:creationId xmlns:a16="http://schemas.microsoft.com/office/drawing/2014/main" id="{E7378D6E-8C43-F3C9-C721-54C72D6A1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4162" y="6356350"/>
              <a:ext cx="696152" cy="36000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2D9C4EB-EE7D-E268-DEB8-CFAD79AD29C1}"/>
              </a:ext>
            </a:extLst>
          </p:cNvPr>
          <p:cNvSpPr txBox="1"/>
          <p:nvPr/>
        </p:nvSpPr>
        <p:spPr>
          <a:xfrm>
            <a:off x="590320" y="1108120"/>
            <a:ext cx="609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9684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HandoffForecastLSTM</a:t>
            </a:r>
            <a:endParaRPr lang="en-US" sz="1800" dirty="0">
              <a:solidFill>
                <a:srgbClr val="009684"/>
              </a:solidFill>
              <a:latin typeface="Consolas" panose="020B0609020204030204" pitchFamily="49" charset="0"/>
              <a:cs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7C37771-78A2-5E67-42B5-F8BC030D2EDB}"/>
              </a:ext>
            </a:extLst>
          </p:cNvPr>
          <p:cNvSpPr/>
          <p:nvPr/>
        </p:nvSpPr>
        <p:spPr>
          <a:xfrm>
            <a:off x="590320" y="352130"/>
            <a:ext cx="11052000" cy="546497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00968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: Rounded Corners 9">
            <a:hlinkClick r:id="rId4" action="ppaction://hlinksldjump"/>
            <a:extLst>
              <a:ext uri="{FF2B5EF4-FFF2-40B4-BE49-F238E27FC236}">
                <a16:creationId xmlns:a16="http://schemas.microsoft.com/office/drawing/2014/main" id="{C79222E4-BB56-D022-73E0-D56731CA3BB8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Fine tuning</a:t>
            </a:r>
          </a:p>
        </p:txBody>
      </p:sp>
      <p:sp>
        <p:nvSpPr>
          <p:cNvPr id="11" name="Rectangle: Rounded Corners 10">
            <a:hlinkClick r:id="rId5" action="ppaction://hlinksldjump"/>
            <a:extLst>
              <a:ext uri="{FF2B5EF4-FFF2-40B4-BE49-F238E27FC236}">
                <a16:creationId xmlns:a16="http://schemas.microsoft.com/office/drawing/2014/main" id="{3AF1034E-1FB7-1593-36B9-092CD9B8355C}"/>
              </a:ext>
            </a:extLst>
          </p:cNvPr>
          <p:cNvSpPr/>
          <p:nvPr/>
        </p:nvSpPr>
        <p:spPr>
          <a:xfrm>
            <a:off x="646599" y="387853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Base model</a:t>
            </a:r>
          </a:p>
        </p:txBody>
      </p:sp>
      <p:sp>
        <p:nvSpPr>
          <p:cNvPr id="29" name="Rectangle: Rounded Corners 28">
            <a:hlinkClick r:id="rId5" action="ppaction://hlinksldjump"/>
            <a:extLst>
              <a:ext uri="{FF2B5EF4-FFF2-40B4-BE49-F238E27FC236}">
                <a16:creationId xmlns:a16="http://schemas.microsoft.com/office/drawing/2014/main" id="{9BD0C7D7-9037-A4B3-4BDA-1EAA93C35FAA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Transfer learning</a:t>
            </a:r>
          </a:p>
        </p:txBody>
      </p:sp>
      <p:sp>
        <p:nvSpPr>
          <p:cNvPr id="30" name="Rectangle: Rounded Corners 29">
            <a:hlinkClick r:id="rId4" action="ppaction://hlinksldjump"/>
            <a:extLst>
              <a:ext uri="{FF2B5EF4-FFF2-40B4-BE49-F238E27FC236}">
                <a16:creationId xmlns:a16="http://schemas.microsoft.com/office/drawing/2014/main" id="{307F97BE-B5B5-825F-D922-D74E4CB13376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Forecasting</a:t>
            </a:r>
          </a:p>
        </p:txBody>
      </p:sp>
      <p:sp>
        <p:nvSpPr>
          <p:cNvPr id="47" name="Rectángulo: esquinas redondeadas 7">
            <a:extLst>
              <a:ext uri="{FF2B5EF4-FFF2-40B4-BE49-F238E27FC236}">
                <a16:creationId xmlns:a16="http://schemas.microsoft.com/office/drawing/2014/main" id="{27912379-080C-1ABD-3DB4-3032FCF24932}"/>
              </a:ext>
            </a:extLst>
          </p:cNvPr>
          <p:cNvSpPr>
            <a:spLocks noChangeAspect="1"/>
          </p:cNvSpPr>
          <p:nvPr/>
        </p:nvSpPr>
        <p:spPr>
          <a:xfrm>
            <a:off x="3667539" y="5192800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d,h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8" name="Rectángulo: esquinas redondeadas 8">
            <a:extLst>
              <a:ext uri="{FF2B5EF4-FFF2-40B4-BE49-F238E27FC236}">
                <a16:creationId xmlns:a16="http://schemas.microsoft.com/office/drawing/2014/main" id="{5CB48079-5EB7-44C2-2393-6B4C8834E671}"/>
              </a:ext>
            </a:extLst>
          </p:cNvPr>
          <p:cNvSpPr>
            <a:spLocks noChangeAspect="1"/>
          </p:cNvSpPr>
          <p:nvPr/>
        </p:nvSpPr>
        <p:spPr>
          <a:xfrm>
            <a:off x="2060994" y="5198743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9" name="Rectángulo: esquinas redondeadas 299">
            <a:extLst>
              <a:ext uri="{FF2B5EF4-FFF2-40B4-BE49-F238E27FC236}">
                <a16:creationId xmlns:a16="http://schemas.microsoft.com/office/drawing/2014/main" id="{91D850BB-EDD6-DBF0-3A47-71B87FDD1B6A}"/>
              </a:ext>
            </a:extLst>
          </p:cNvPr>
          <p:cNvSpPr/>
          <p:nvPr/>
        </p:nvSpPr>
        <p:spPr>
          <a:xfrm rot="5400000">
            <a:off x="2641849" y="4125721"/>
            <a:ext cx="280800" cy="1437490"/>
          </a:xfrm>
          <a:prstGeom prst="roundRect">
            <a:avLst>
              <a:gd name="adj" fmla="val 11953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  <a:latin typeface="Palatino Linotype" panose="02040502050505030304" pitchFamily="18" charset="0"/>
              </a:rPr>
              <a:t>[41, 64, 32, 16]</a:t>
            </a:r>
            <a:endParaRPr lang="en-GB" sz="1400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50" name="Rectángulo: esquinas redondeadas 299">
            <a:extLst>
              <a:ext uri="{FF2B5EF4-FFF2-40B4-BE49-F238E27FC236}">
                <a16:creationId xmlns:a16="http://schemas.microsoft.com/office/drawing/2014/main" id="{5D45A4B0-6CBB-5C14-5441-98DB80DD92D0}"/>
              </a:ext>
            </a:extLst>
          </p:cNvPr>
          <p:cNvSpPr/>
          <p:nvPr/>
        </p:nvSpPr>
        <p:spPr>
          <a:xfrm rot="5400000">
            <a:off x="4248394" y="4115320"/>
            <a:ext cx="280800" cy="1437490"/>
          </a:xfrm>
          <a:prstGeom prst="roundRect">
            <a:avLst>
              <a:gd name="adj" fmla="val 11953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  <a:latin typeface="Palatino Linotype" panose="02040502050505030304" pitchFamily="18" charset="0"/>
              </a:rPr>
              <a:t>[9, 9]</a:t>
            </a:r>
            <a:endParaRPr lang="en-GB" sz="1400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cxnSp>
        <p:nvCxnSpPr>
          <p:cNvPr id="54" name="Conector recto de flecha 297">
            <a:extLst>
              <a:ext uri="{FF2B5EF4-FFF2-40B4-BE49-F238E27FC236}">
                <a16:creationId xmlns:a16="http://schemas.microsoft.com/office/drawing/2014/main" id="{EE20FA84-2B6F-880D-A629-1E40EA2A2614}"/>
              </a:ext>
            </a:extLst>
          </p:cNvPr>
          <p:cNvCxnSpPr>
            <a:cxnSpLocks/>
            <a:stCxn id="48" idx="0"/>
            <a:endCxn id="49" idx="3"/>
          </p:cNvCxnSpPr>
          <p:nvPr/>
        </p:nvCxnSpPr>
        <p:spPr>
          <a:xfrm flipV="1">
            <a:off x="2780994" y="4984866"/>
            <a:ext cx="1255" cy="213877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297">
            <a:extLst>
              <a:ext uri="{FF2B5EF4-FFF2-40B4-BE49-F238E27FC236}">
                <a16:creationId xmlns:a16="http://schemas.microsoft.com/office/drawing/2014/main" id="{07C62AC0-4DE0-9C00-13C9-52D175D3ACFB}"/>
              </a:ext>
            </a:extLst>
          </p:cNvPr>
          <p:cNvCxnSpPr>
            <a:cxnSpLocks/>
            <a:stCxn id="47" idx="0"/>
            <a:endCxn id="50" idx="3"/>
          </p:cNvCxnSpPr>
          <p:nvPr/>
        </p:nvCxnSpPr>
        <p:spPr>
          <a:xfrm flipV="1">
            <a:off x="4387539" y="4974465"/>
            <a:ext cx="1255" cy="21833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905FD256-49D4-0908-215B-209AEC60B586}"/>
              </a:ext>
            </a:extLst>
          </p:cNvPr>
          <p:cNvCxnSpPr>
            <a:cxnSpLocks/>
            <a:stCxn id="50" idx="1"/>
            <a:endCxn id="108" idx="3"/>
          </p:cNvCxnSpPr>
          <p:nvPr/>
        </p:nvCxnSpPr>
        <p:spPr>
          <a:xfrm rot="16200000" flipV="1">
            <a:off x="3764150" y="4069021"/>
            <a:ext cx="445391" cy="803898"/>
          </a:xfrm>
          <a:prstGeom prst="bentConnector5">
            <a:avLst>
              <a:gd name="adj1" fmla="val 48760"/>
              <a:gd name="adj2" fmla="val 32535"/>
              <a:gd name="adj3" fmla="val 48674"/>
            </a:avLst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297">
            <a:extLst>
              <a:ext uri="{FF2B5EF4-FFF2-40B4-BE49-F238E27FC236}">
                <a16:creationId xmlns:a16="http://schemas.microsoft.com/office/drawing/2014/main" id="{7436F06F-6F49-A759-63E3-465926A11E97}"/>
              </a:ext>
            </a:extLst>
          </p:cNvPr>
          <p:cNvCxnSpPr>
            <a:cxnSpLocks/>
            <a:stCxn id="108" idx="1"/>
            <a:endCxn id="2" idx="3"/>
          </p:cNvCxnSpPr>
          <p:nvPr/>
        </p:nvCxnSpPr>
        <p:spPr>
          <a:xfrm flipV="1">
            <a:off x="3584896" y="3190360"/>
            <a:ext cx="0" cy="215514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uadroTexto 334">
            <a:extLst>
              <a:ext uri="{FF2B5EF4-FFF2-40B4-BE49-F238E27FC236}">
                <a16:creationId xmlns:a16="http://schemas.microsoft.com/office/drawing/2014/main" id="{1B4F60E3-F2AE-5BCA-3677-2E055231FC84}"/>
              </a:ext>
            </a:extLst>
          </p:cNvPr>
          <p:cNvSpPr txBox="1"/>
          <p:nvPr/>
        </p:nvSpPr>
        <p:spPr>
          <a:xfrm>
            <a:off x="754618" y="3744233"/>
            <a:ext cx="11520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latin typeface="Palatino Linotype" panose="02040502050505030304" pitchFamily="18" charset="0"/>
              </a:rPr>
              <a:t>LSTM</a:t>
            </a:r>
          </a:p>
        </p:txBody>
      </p:sp>
      <p:sp>
        <p:nvSpPr>
          <p:cNvPr id="61" name="CuadroTexto 334">
            <a:extLst>
              <a:ext uri="{FF2B5EF4-FFF2-40B4-BE49-F238E27FC236}">
                <a16:creationId xmlns:a16="http://schemas.microsoft.com/office/drawing/2014/main" id="{4C7EC67C-FD39-135B-1433-19840B14B1AF}"/>
              </a:ext>
            </a:extLst>
          </p:cNvPr>
          <p:cNvSpPr txBox="1"/>
          <p:nvPr/>
        </p:nvSpPr>
        <p:spPr>
          <a:xfrm>
            <a:off x="751439" y="4584925"/>
            <a:ext cx="11520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latin typeface="Palatino Linotype" panose="02040502050505030304" pitchFamily="18" charset="0"/>
              </a:rPr>
              <a:t>Embedding </a:t>
            </a:r>
          </a:p>
          <a:p>
            <a:r>
              <a:rPr lang="en-US" sz="1600" dirty="0">
                <a:latin typeface="Palatino Linotype" panose="02040502050505030304" pitchFamily="18" charset="0"/>
              </a:rPr>
              <a:t>MLP</a:t>
            </a: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F55A3ECA-B1DA-328A-695B-5FAF336443F6}"/>
              </a:ext>
            </a:extLst>
          </p:cNvPr>
          <p:cNvCxnSpPr>
            <a:cxnSpLocks/>
            <a:stCxn id="49" idx="1"/>
            <a:endCxn id="108" idx="3"/>
          </p:cNvCxnSpPr>
          <p:nvPr/>
        </p:nvCxnSpPr>
        <p:spPr>
          <a:xfrm rot="5400000" flipH="1" flipV="1">
            <a:off x="2955676" y="4074847"/>
            <a:ext cx="455792" cy="802647"/>
          </a:xfrm>
          <a:prstGeom prst="bentConnector5">
            <a:avLst>
              <a:gd name="adj1" fmla="val 50154"/>
              <a:gd name="adj2" fmla="val 32508"/>
              <a:gd name="adj3" fmla="val 49846"/>
            </a:avLst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: esquinas redondeadas 299">
            <a:extLst>
              <a:ext uri="{FF2B5EF4-FFF2-40B4-BE49-F238E27FC236}">
                <a16:creationId xmlns:a16="http://schemas.microsoft.com/office/drawing/2014/main" id="{BB1A0195-FC33-3F0C-19E5-94132AD54F3F}"/>
              </a:ext>
            </a:extLst>
          </p:cNvPr>
          <p:cNvSpPr/>
          <p:nvPr/>
        </p:nvSpPr>
        <p:spPr>
          <a:xfrm rot="5400000">
            <a:off x="3444496" y="2331215"/>
            <a:ext cx="280800" cy="1437490"/>
          </a:xfrm>
          <a:prstGeom prst="roundRect">
            <a:avLst>
              <a:gd name="adj" fmla="val 11953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  <a:latin typeface="Palatino Linotype" panose="02040502050505030304" pitchFamily="18" charset="0"/>
              </a:rPr>
              <a:t>[64, 1]</a:t>
            </a:r>
            <a:endParaRPr lang="en-GB" sz="1400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105" name="Rectángulo: esquinas redondeadas 8">
            <a:extLst>
              <a:ext uri="{FF2B5EF4-FFF2-40B4-BE49-F238E27FC236}">
                <a16:creationId xmlns:a16="http://schemas.microsoft.com/office/drawing/2014/main" id="{EFE667D1-DD28-3108-A0A8-81686343E311}"/>
              </a:ext>
            </a:extLst>
          </p:cNvPr>
          <p:cNvSpPr>
            <a:spLocks noChangeAspect="1"/>
          </p:cNvSpPr>
          <p:nvPr/>
        </p:nvSpPr>
        <p:spPr>
          <a:xfrm>
            <a:off x="2867351" y="2403831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s-ES" dirty="0" err="1">
                <a:latin typeface="Palatino Linotype" panose="02040502050505030304" pitchFamily="18" charset="0"/>
              </a:rPr>
              <a:t>Y</a:t>
            </a:r>
            <a:r>
              <a:rPr lang="es-ES" baseline="-25000" dirty="0" err="1">
                <a:latin typeface="Palatino Linotype" panose="02040502050505030304" pitchFamily="18" charset="0"/>
              </a:rPr>
              <a:t>t,h</a:t>
            </a:r>
            <a:endParaRPr lang="en-GB" baseline="-25000" dirty="0">
              <a:latin typeface="Palatino Linotype" panose="02040502050505030304" pitchFamily="18" charset="0"/>
            </a:endParaRPr>
          </a:p>
        </p:txBody>
      </p:sp>
      <p:sp>
        <p:nvSpPr>
          <p:cNvPr id="108" name="Rectángulo: esquinas redondeadas 299">
            <a:extLst>
              <a:ext uri="{FF2B5EF4-FFF2-40B4-BE49-F238E27FC236}">
                <a16:creationId xmlns:a16="http://schemas.microsoft.com/office/drawing/2014/main" id="{7991FFBA-A382-3357-4E50-04C6EF41C221}"/>
              </a:ext>
            </a:extLst>
          </p:cNvPr>
          <p:cNvSpPr/>
          <p:nvPr/>
        </p:nvSpPr>
        <p:spPr>
          <a:xfrm rot="5400000">
            <a:off x="3163696" y="3108329"/>
            <a:ext cx="842400" cy="1437490"/>
          </a:xfrm>
          <a:prstGeom prst="roundRect">
            <a:avLst>
              <a:gd name="adj" fmla="val 1195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1400" dirty="0">
                <a:solidFill>
                  <a:schemeClr val="accent6">
                    <a:lumMod val="75000"/>
                  </a:schemeClr>
                </a:solidFill>
                <a:latin typeface="Palatino Linotype" panose="02040502050505030304" pitchFamily="18" charset="0"/>
              </a:rPr>
              <a:t>[365, 25, 64]</a:t>
            </a:r>
            <a:endParaRPr lang="en-GB" sz="1400" dirty="0">
              <a:solidFill>
                <a:schemeClr val="accent6">
                  <a:lumMod val="75000"/>
                </a:schemeClr>
              </a:solidFill>
              <a:latin typeface="Palatino Linotype" panose="02040502050505030304" pitchFamily="18" charset="0"/>
            </a:endParaRPr>
          </a:p>
        </p:txBody>
      </p:sp>
      <p:cxnSp>
        <p:nvCxnSpPr>
          <p:cNvPr id="114" name="Conector recto de flecha 297">
            <a:extLst>
              <a:ext uri="{FF2B5EF4-FFF2-40B4-BE49-F238E27FC236}">
                <a16:creationId xmlns:a16="http://schemas.microsoft.com/office/drawing/2014/main" id="{1DD0524B-FAD3-2D55-98C7-9B93EBE4A941}"/>
              </a:ext>
            </a:extLst>
          </p:cNvPr>
          <p:cNvCxnSpPr>
            <a:cxnSpLocks/>
            <a:stCxn id="2" idx="1"/>
          </p:cNvCxnSpPr>
          <p:nvPr/>
        </p:nvCxnSpPr>
        <p:spPr>
          <a:xfrm flipV="1">
            <a:off x="3584896" y="2696252"/>
            <a:ext cx="0" cy="21330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CuadroTexto 334">
            <a:extLst>
              <a:ext uri="{FF2B5EF4-FFF2-40B4-BE49-F238E27FC236}">
                <a16:creationId xmlns:a16="http://schemas.microsoft.com/office/drawing/2014/main" id="{126B8AAF-5F8D-C72F-644C-1ED6E1BD1A02}"/>
              </a:ext>
            </a:extLst>
          </p:cNvPr>
          <p:cNvSpPr txBox="1"/>
          <p:nvPr/>
        </p:nvSpPr>
        <p:spPr>
          <a:xfrm>
            <a:off x="4633191" y="3364972"/>
            <a:ext cx="1489800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latin typeface="Palatino Linotype" panose="02040502050505030304" pitchFamily="18" charset="0"/>
              </a:rPr>
              <a:t>Handoff MLP</a:t>
            </a:r>
          </a:p>
        </p:txBody>
      </p:sp>
      <p:sp>
        <p:nvSpPr>
          <p:cNvPr id="127" name="CuadroTexto 334">
            <a:extLst>
              <a:ext uri="{FF2B5EF4-FFF2-40B4-BE49-F238E27FC236}">
                <a16:creationId xmlns:a16="http://schemas.microsoft.com/office/drawing/2014/main" id="{E4BF1940-537C-0656-665F-9BE212DBF44E}"/>
              </a:ext>
            </a:extLst>
          </p:cNvPr>
          <p:cNvSpPr txBox="1"/>
          <p:nvPr/>
        </p:nvSpPr>
        <p:spPr>
          <a:xfrm>
            <a:off x="746246" y="2933241"/>
            <a:ext cx="11520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latin typeface="Palatino Linotype" panose="02040502050505030304" pitchFamily="18" charset="0"/>
              </a:rPr>
              <a:t>Head MLP</a:t>
            </a:r>
          </a:p>
        </p:txBody>
      </p:sp>
      <p:sp>
        <p:nvSpPr>
          <p:cNvPr id="31" name="Rectángulo: esquinas redondeadas 299">
            <a:extLst>
              <a:ext uri="{FF2B5EF4-FFF2-40B4-BE49-F238E27FC236}">
                <a16:creationId xmlns:a16="http://schemas.microsoft.com/office/drawing/2014/main" id="{B47CA4A4-DF01-4C56-9345-D29BE624CE62}"/>
              </a:ext>
            </a:extLst>
          </p:cNvPr>
          <p:cNvSpPr/>
          <p:nvPr/>
        </p:nvSpPr>
        <p:spPr>
          <a:xfrm rot="5400000">
            <a:off x="5237691" y="3107140"/>
            <a:ext cx="280800" cy="1437490"/>
          </a:xfrm>
          <a:prstGeom prst="roundRect">
            <a:avLst>
              <a:gd name="adj" fmla="val 11953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  <a:latin typeface="Palatino Linotype" panose="02040502050505030304" pitchFamily="18" charset="0"/>
              </a:rPr>
              <a:t>[128, 64, 128]</a:t>
            </a:r>
            <a:endParaRPr lang="en-GB" sz="1400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2" name="Rectángulo: esquinas redondeadas 7">
            <a:extLst>
              <a:ext uri="{FF2B5EF4-FFF2-40B4-BE49-F238E27FC236}">
                <a16:creationId xmlns:a16="http://schemas.microsoft.com/office/drawing/2014/main" id="{16B19797-8B89-ACC3-5DC7-55204E010668}"/>
              </a:ext>
            </a:extLst>
          </p:cNvPr>
          <p:cNvSpPr>
            <a:spLocks noChangeAspect="1"/>
          </p:cNvSpPr>
          <p:nvPr/>
        </p:nvSpPr>
        <p:spPr>
          <a:xfrm>
            <a:off x="7255496" y="5193514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d,f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3" name="Rectángulo: esquinas redondeadas 8">
            <a:extLst>
              <a:ext uri="{FF2B5EF4-FFF2-40B4-BE49-F238E27FC236}">
                <a16:creationId xmlns:a16="http://schemas.microsoft.com/office/drawing/2014/main" id="{58DC4F55-9454-54A8-90CB-AB7B25A74387}"/>
              </a:ext>
            </a:extLst>
          </p:cNvPr>
          <p:cNvSpPr>
            <a:spLocks noChangeAspect="1"/>
          </p:cNvSpPr>
          <p:nvPr/>
        </p:nvSpPr>
        <p:spPr>
          <a:xfrm>
            <a:off x="5648951" y="5191837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X</a:t>
            </a:r>
            <a:r>
              <a:rPr lang="es-ES" baseline="-25000" dirty="0" err="1">
                <a:solidFill>
                  <a:schemeClr val="tx1"/>
                </a:solidFill>
                <a:latin typeface="Palatino Linotype" panose="02040502050505030304" pitchFamily="18" charset="0"/>
              </a:rPr>
              <a:t>s</a:t>
            </a:r>
            <a:endParaRPr lang="en-GB" baseline="-25000" dirty="0">
              <a:solidFill>
                <a:schemeClr val="tx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4" name="Rectángulo: esquinas redondeadas 299">
            <a:extLst>
              <a:ext uri="{FF2B5EF4-FFF2-40B4-BE49-F238E27FC236}">
                <a16:creationId xmlns:a16="http://schemas.microsoft.com/office/drawing/2014/main" id="{8D11D923-F08B-AE5A-E201-CE2B4E9EEFD4}"/>
              </a:ext>
            </a:extLst>
          </p:cNvPr>
          <p:cNvSpPr/>
          <p:nvPr/>
        </p:nvSpPr>
        <p:spPr>
          <a:xfrm rot="5400000">
            <a:off x="6229806" y="4118815"/>
            <a:ext cx="280800" cy="1437490"/>
          </a:xfrm>
          <a:prstGeom prst="roundRect">
            <a:avLst>
              <a:gd name="adj" fmla="val 11953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  <a:latin typeface="Palatino Linotype" panose="02040502050505030304" pitchFamily="18" charset="0"/>
              </a:rPr>
              <a:t>[41, 64, 32, 16]</a:t>
            </a:r>
            <a:endParaRPr lang="en-GB" sz="1400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35" name="Rectángulo: esquinas redondeadas 299">
            <a:extLst>
              <a:ext uri="{FF2B5EF4-FFF2-40B4-BE49-F238E27FC236}">
                <a16:creationId xmlns:a16="http://schemas.microsoft.com/office/drawing/2014/main" id="{AE9D1B3C-75DC-0073-C88F-A1257FE6189B}"/>
              </a:ext>
            </a:extLst>
          </p:cNvPr>
          <p:cNvSpPr/>
          <p:nvPr/>
        </p:nvSpPr>
        <p:spPr>
          <a:xfrm rot="5400000">
            <a:off x="7836351" y="4116034"/>
            <a:ext cx="280800" cy="1437490"/>
          </a:xfrm>
          <a:prstGeom prst="roundRect">
            <a:avLst>
              <a:gd name="adj" fmla="val 11953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  <a:latin typeface="Palatino Linotype" panose="02040502050505030304" pitchFamily="18" charset="0"/>
              </a:rPr>
              <a:t>[7, 7]</a:t>
            </a:r>
            <a:endParaRPr lang="en-GB" sz="1400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cxnSp>
        <p:nvCxnSpPr>
          <p:cNvPr id="36" name="Conector recto de flecha 297">
            <a:extLst>
              <a:ext uri="{FF2B5EF4-FFF2-40B4-BE49-F238E27FC236}">
                <a16:creationId xmlns:a16="http://schemas.microsoft.com/office/drawing/2014/main" id="{F276B23E-6629-CC09-E5F8-60CFBC60B775}"/>
              </a:ext>
            </a:extLst>
          </p:cNvPr>
          <p:cNvCxnSpPr>
            <a:cxnSpLocks/>
          </p:cNvCxnSpPr>
          <p:nvPr/>
        </p:nvCxnSpPr>
        <p:spPr>
          <a:xfrm flipV="1">
            <a:off x="6368951" y="4985580"/>
            <a:ext cx="1255" cy="213877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297">
            <a:extLst>
              <a:ext uri="{FF2B5EF4-FFF2-40B4-BE49-F238E27FC236}">
                <a16:creationId xmlns:a16="http://schemas.microsoft.com/office/drawing/2014/main" id="{4AD2C4BE-7413-9C7F-EAF8-C4F9FC7A6DF3}"/>
              </a:ext>
            </a:extLst>
          </p:cNvPr>
          <p:cNvCxnSpPr>
            <a:cxnSpLocks/>
            <a:stCxn id="32" idx="0"/>
            <a:endCxn id="35" idx="3"/>
          </p:cNvCxnSpPr>
          <p:nvPr/>
        </p:nvCxnSpPr>
        <p:spPr>
          <a:xfrm flipV="1">
            <a:off x="7975496" y="4975179"/>
            <a:ext cx="1255" cy="21833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47FF4384-EA1F-D533-F0C2-20717FFE6B1C}"/>
              </a:ext>
            </a:extLst>
          </p:cNvPr>
          <p:cNvCxnSpPr>
            <a:cxnSpLocks/>
            <a:stCxn id="35" idx="1"/>
            <a:endCxn id="43" idx="3"/>
          </p:cNvCxnSpPr>
          <p:nvPr/>
        </p:nvCxnSpPr>
        <p:spPr>
          <a:xfrm rot="16200000" flipV="1">
            <a:off x="7352107" y="4069735"/>
            <a:ext cx="445391" cy="803898"/>
          </a:xfrm>
          <a:prstGeom prst="bentConnector5">
            <a:avLst>
              <a:gd name="adj1" fmla="val 48760"/>
              <a:gd name="adj2" fmla="val 32535"/>
              <a:gd name="adj3" fmla="val 48674"/>
            </a:avLst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297">
            <a:extLst>
              <a:ext uri="{FF2B5EF4-FFF2-40B4-BE49-F238E27FC236}">
                <a16:creationId xmlns:a16="http://schemas.microsoft.com/office/drawing/2014/main" id="{0F3355C5-91F7-C142-7CF3-21FC663E9CF9}"/>
              </a:ext>
            </a:extLst>
          </p:cNvPr>
          <p:cNvCxnSpPr>
            <a:cxnSpLocks/>
            <a:stCxn id="43" idx="1"/>
            <a:endCxn id="41" idx="3"/>
          </p:cNvCxnSpPr>
          <p:nvPr/>
        </p:nvCxnSpPr>
        <p:spPr>
          <a:xfrm flipV="1">
            <a:off x="7172853" y="3191074"/>
            <a:ext cx="0" cy="215514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DC6A2560-BDC0-2421-1CA7-45726A31D9B8}"/>
              </a:ext>
            </a:extLst>
          </p:cNvPr>
          <p:cNvCxnSpPr>
            <a:cxnSpLocks/>
            <a:endCxn id="43" idx="3"/>
          </p:cNvCxnSpPr>
          <p:nvPr/>
        </p:nvCxnSpPr>
        <p:spPr>
          <a:xfrm rot="5400000" flipH="1" flipV="1">
            <a:off x="6543633" y="4075561"/>
            <a:ext cx="455792" cy="802647"/>
          </a:xfrm>
          <a:prstGeom prst="bentConnector5">
            <a:avLst>
              <a:gd name="adj1" fmla="val 50154"/>
              <a:gd name="adj2" fmla="val 32508"/>
              <a:gd name="adj3" fmla="val 49846"/>
            </a:avLst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ángulo: esquinas redondeadas 299">
            <a:extLst>
              <a:ext uri="{FF2B5EF4-FFF2-40B4-BE49-F238E27FC236}">
                <a16:creationId xmlns:a16="http://schemas.microsoft.com/office/drawing/2014/main" id="{47579CC6-B48A-675E-4B15-8453EED88FB3}"/>
              </a:ext>
            </a:extLst>
          </p:cNvPr>
          <p:cNvSpPr/>
          <p:nvPr/>
        </p:nvSpPr>
        <p:spPr>
          <a:xfrm rot="5400000">
            <a:off x="7032453" y="2331929"/>
            <a:ext cx="280800" cy="1437490"/>
          </a:xfrm>
          <a:prstGeom prst="roundRect">
            <a:avLst>
              <a:gd name="adj" fmla="val 11953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  <a:latin typeface="Palatino Linotype" panose="02040502050505030304" pitchFamily="18" charset="0"/>
              </a:rPr>
              <a:t>[64, 1]</a:t>
            </a:r>
            <a:endParaRPr lang="en-GB" sz="1400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2" name="Rectángulo: esquinas redondeadas 8">
            <a:extLst>
              <a:ext uri="{FF2B5EF4-FFF2-40B4-BE49-F238E27FC236}">
                <a16:creationId xmlns:a16="http://schemas.microsoft.com/office/drawing/2014/main" id="{F47D4182-93F4-368E-556F-19FC32015810}"/>
              </a:ext>
            </a:extLst>
          </p:cNvPr>
          <p:cNvSpPr>
            <a:spLocks noChangeAspect="1"/>
          </p:cNvSpPr>
          <p:nvPr/>
        </p:nvSpPr>
        <p:spPr>
          <a:xfrm>
            <a:off x="6455308" y="2404545"/>
            <a:ext cx="1440000" cy="282018"/>
          </a:xfrm>
          <a:prstGeom prst="roundRect">
            <a:avLst>
              <a:gd name="adj" fmla="val 35352"/>
            </a:avLst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s-ES" dirty="0" err="1">
                <a:latin typeface="Palatino Linotype" panose="02040502050505030304" pitchFamily="18" charset="0"/>
              </a:rPr>
              <a:t>Y</a:t>
            </a:r>
            <a:r>
              <a:rPr lang="es-ES" baseline="-25000" dirty="0" err="1">
                <a:latin typeface="Palatino Linotype" panose="02040502050505030304" pitchFamily="18" charset="0"/>
              </a:rPr>
              <a:t>t,f</a:t>
            </a:r>
            <a:endParaRPr lang="en-GB" baseline="-25000" dirty="0">
              <a:latin typeface="Palatino Linotype" panose="02040502050505030304" pitchFamily="18" charset="0"/>
            </a:endParaRPr>
          </a:p>
        </p:txBody>
      </p:sp>
      <p:sp>
        <p:nvSpPr>
          <p:cNvPr id="43" name="Rectángulo: esquinas redondeadas 299">
            <a:extLst>
              <a:ext uri="{FF2B5EF4-FFF2-40B4-BE49-F238E27FC236}">
                <a16:creationId xmlns:a16="http://schemas.microsoft.com/office/drawing/2014/main" id="{EA1F41C5-F2E3-51C3-67C7-BDC71F17DAAB}"/>
              </a:ext>
            </a:extLst>
          </p:cNvPr>
          <p:cNvSpPr/>
          <p:nvPr/>
        </p:nvSpPr>
        <p:spPr>
          <a:xfrm rot="5400000">
            <a:off x="6751653" y="3109043"/>
            <a:ext cx="842400" cy="1437490"/>
          </a:xfrm>
          <a:prstGeom prst="roundRect">
            <a:avLst>
              <a:gd name="adj" fmla="val 11953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1400" dirty="0">
                <a:solidFill>
                  <a:schemeClr val="accent6">
                    <a:lumMod val="75000"/>
                  </a:schemeClr>
                </a:solidFill>
                <a:latin typeface="Palatino Linotype" panose="02040502050505030304" pitchFamily="18" charset="0"/>
              </a:rPr>
              <a:t>[365, 23, 64]</a:t>
            </a:r>
            <a:endParaRPr lang="en-GB" sz="1400" dirty="0">
              <a:solidFill>
                <a:schemeClr val="accent6">
                  <a:lumMod val="75000"/>
                </a:schemeClr>
              </a:solidFill>
              <a:latin typeface="Palatino Linotype" panose="02040502050505030304" pitchFamily="18" charset="0"/>
            </a:endParaRPr>
          </a:p>
        </p:txBody>
      </p:sp>
      <p:cxnSp>
        <p:nvCxnSpPr>
          <p:cNvPr id="44" name="Conector recto de flecha 297">
            <a:extLst>
              <a:ext uri="{FF2B5EF4-FFF2-40B4-BE49-F238E27FC236}">
                <a16:creationId xmlns:a16="http://schemas.microsoft.com/office/drawing/2014/main" id="{6F866EF9-4EF7-D96F-5CE8-668FC36D6A91}"/>
              </a:ext>
            </a:extLst>
          </p:cNvPr>
          <p:cNvCxnSpPr>
            <a:cxnSpLocks/>
            <a:stCxn id="41" idx="1"/>
          </p:cNvCxnSpPr>
          <p:nvPr/>
        </p:nvCxnSpPr>
        <p:spPr>
          <a:xfrm flipV="1">
            <a:off x="7172853" y="2696966"/>
            <a:ext cx="0" cy="213308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297">
            <a:extLst>
              <a:ext uri="{FF2B5EF4-FFF2-40B4-BE49-F238E27FC236}">
                <a16:creationId xmlns:a16="http://schemas.microsoft.com/office/drawing/2014/main" id="{1536105D-BE20-2FE7-02A2-11388C0A5473}"/>
              </a:ext>
            </a:extLst>
          </p:cNvPr>
          <p:cNvCxnSpPr>
            <a:cxnSpLocks/>
            <a:stCxn id="108" idx="0"/>
            <a:endCxn id="31" idx="2"/>
          </p:cNvCxnSpPr>
          <p:nvPr/>
        </p:nvCxnSpPr>
        <p:spPr>
          <a:xfrm flipV="1">
            <a:off x="4303641" y="3825885"/>
            <a:ext cx="355705" cy="1189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297">
            <a:extLst>
              <a:ext uri="{FF2B5EF4-FFF2-40B4-BE49-F238E27FC236}">
                <a16:creationId xmlns:a16="http://schemas.microsoft.com/office/drawing/2014/main" id="{4CE2FF9E-8207-4AAA-A445-50A442C13657}"/>
              </a:ext>
            </a:extLst>
          </p:cNvPr>
          <p:cNvCxnSpPr>
            <a:cxnSpLocks/>
            <a:stCxn id="31" idx="0"/>
            <a:endCxn id="43" idx="2"/>
          </p:cNvCxnSpPr>
          <p:nvPr/>
        </p:nvCxnSpPr>
        <p:spPr>
          <a:xfrm>
            <a:off x="6096836" y="3825885"/>
            <a:ext cx="357272" cy="1903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5796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48BE0-69F7-DECC-3BE4-73C887A6B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1FB69-776A-31FC-C03B-6D03B60E9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57C2F69-064F-642B-A45C-54DB3DFC2B08}"/>
              </a:ext>
            </a:extLst>
          </p:cNvPr>
          <p:cNvGrpSpPr/>
          <p:nvPr/>
        </p:nvGrpSpPr>
        <p:grpSpPr>
          <a:xfrm>
            <a:off x="617518" y="6297383"/>
            <a:ext cx="11052000" cy="418967"/>
            <a:chOff x="617518" y="6297383"/>
            <a:chExt cx="11052000" cy="418967"/>
          </a:xfrm>
        </p:grpSpPr>
        <p:sp>
          <p:nvSpPr>
            <p:cNvPr id="12" name="Left Bracket 11">
              <a:extLst>
                <a:ext uri="{FF2B5EF4-FFF2-40B4-BE49-F238E27FC236}">
                  <a16:creationId xmlns:a16="http://schemas.microsoft.com/office/drawing/2014/main" id="{C067A5AA-E3CE-8370-9F1A-99FDC362F9DB}"/>
                </a:ext>
              </a:extLst>
            </p:cNvPr>
            <p:cNvSpPr/>
            <p:nvPr/>
          </p:nvSpPr>
          <p:spPr>
            <a:xfrm rot="5400000">
              <a:off x="6053518" y="861383"/>
              <a:ext cx="180000" cy="11052000"/>
            </a:xfrm>
            <a:prstGeom prst="leftBracket">
              <a:avLst>
                <a:gd name="adj" fmla="val 56448"/>
              </a:avLst>
            </a:prstGeom>
            <a:ln>
              <a:solidFill>
                <a:srgbClr val="00494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7" name="Picture 16" descr="A black background with green and blue text&#10;&#10;AI-generated content may be incorrect.">
              <a:extLst>
                <a:ext uri="{FF2B5EF4-FFF2-40B4-BE49-F238E27FC236}">
                  <a16:creationId xmlns:a16="http://schemas.microsoft.com/office/drawing/2014/main" id="{F1B7C43D-12A7-6261-8584-A74633536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>
            <a:xfrm>
              <a:off x="838200" y="6356350"/>
              <a:ext cx="939661" cy="3600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459A8A1-11CB-2D9C-BDF6-4D6B0EDD3B96}"/>
                </a:ext>
              </a:extLst>
            </p:cNvPr>
            <p:cNvSpPr txBox="1"/>
            <p:nvPr/>
          </p:nvSpPr>
          <p:spPr>
            <a:xfrm>
              <a:off x="5128290" y="6385023"/>
              <a:ext cx="19354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/>
              <a:r>
                <a:rPr lang="en-GB" sz="1400" b="0" i="0" dirty="0">
                  <a:solidFill>
                    <a:srgbClr val="009684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rPr>
                <a:t>www.kajoservices.com</a:t>
              </a:r>
              <a:endParaRPr lang="en-GB" sz="1400" dirty="0"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26" name="Picture 25" descr="A blue and green logo&#10;&#10;AI-generated content may be incorrect.">
              <a:extLst>
                <a:ext uri="{FF2B5EF4-FFF2-40B4-BE49-F238E27FC236}">
                  <a16:creationId xmlns:a16="http://schemas.microsoft.com/office/drawing/2014/main" id="{DFD65254-DA76-7FA4-0217-F72761B029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4162" y="6356350"/>
              <a:ext cx="696152" cy="36000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6F581CF-67E8-53CA-B68D-5900168C3C65}"/>
              </a:ext>
            </a:extLst>
          </p:cNvPr>
          <p:cNvSpPr txBox="1"/>
          <p:nvPr/>
        </p:nvSpPr>
        <p:spPr>
          <a:xfrm>
            <a:off x="590320" y="1108120"/>
            <a:ext cx="6094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9684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WeatherGenerator</a:t>
            </a:r>
            <a:endParaRPr lang="en-US" sz="1800" dirty="0">
              <a:solidFill>
                <a:srgbClr val="009684"/>
              </a:solidFill>
              <a:latin typeface="Consolas" panose="020B0609020204030204" pitchFamily="49" charset="0"/>
              <a:cs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6E074A7-38B1-7C7B-E3E5-D2B494556593}"/>
              </a:ext>
            </a:extLst>
          </p:cNvPr>
          <p:cNvSpPr/>
          <p:nvPr/>
        </p:nvSpPr>
        <p:spPr>
          <a:xfrm>
            <a:off x="590320" y="352130"/>
            <a:ext cx="11052000" cy="546497"/>
          </a:xfrm>
          <a:prstGeom prst="roundRect">
            <a:avLst>
              <a:gd name="adj" fmla="val 27110"/>
            </a:avLst>
          </a:prstGeom>
          <a:solidFill>
            <a:srgbClr val="004C42">
              <a:alpha val="30196"/>
            </a:srgb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rgbClr val="00968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: Rounded Corners 9">
            <a:hlinkClick r:id="rId4" action="ppaction://hlinksldjump"/>
            <a:extLst>
              <a:ext uri="{FF2B5EF4-FFF2-40B4-BE49-F238E27FC236}">
                <a16:creationId xmlns:a16="http://schemas.microsoft.com/office/drawing/2014/main" id="{A038EF3A-945A-F646-7438-08AAA437D954}"/>
              </a:ext>
            </a:extLst>
          </p:cNvPr>
          <p:cNvSpPr/>
          <p:nvPr/>
        </p:nvSpPr>
        <p:spPr>
          <a:xfrm>
            <a:off x="3402878" y="393825"/>
            <a:ext cx="2700000" cy="437198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Fine tuning</a:t>
            </a:r>
          </a:p>
        </p:txBody>
      </p:sp>
      <p:sp>
        <p:nvSpPr>
          <p:cNvPr id="11" name="Rectangle: Rounded Corners 10">
            <a:hlinkClick r:id="rId5" action="ppaction://hlinksldjump"/>
            <a:extLst>
              <a:ext uri="{FF2B5EF4-FFF2-40B4-BE49-F238E27FC236}">
                <a16:creationId xmlns:a16="http://schemas.microsoft.com/office/drawing/2014/main" id="{6978220D-0167-DC4F-9718-06D9440EC77B}"/>
              </a:ext>
            </a:extLst>
          </p:cNvPr>
          <p:cNvSpPr/>
          <p:nvPr/>
        </p:nvSpPr>
        <p:spPr>
          <a:xfrm>
            <a:off x="646599" y="387853"/>
            <a:ext cx="2700000" cy="450000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Base model</a:t>
            </a:r>
          </a:p>
        </p:txBody>
      </p:sp>
      <p:sp>
        <p:nvSpPr>
          <p:cNvPr id="29" name="Rectangle: Rounded Corners 28">
            <a:hlinkClick r:id="rId5" action="ppaction://hlinksldjump"/>
            <a:extLst>
              <a:ext uri="{FF2B5EF4-FFF2-40B4-BE49-F238E27FC236}">
                <a16:creationId xmlns:a16="http://schemas.microsoft.com/office/drawing/2014/main" id="{811B7FE5-E91F-CC26-A08B-A75B7941A305}"/>
              </a:ext>
            </a:extLst>
          </p:cNvPr>
          <p:cNvSpPr/>
          <p:nvPr/>
        </p:nvSpPr>
        <p:spPr>
          <a:xfrm>
            <a:off x="6143518" y="396226"/>
            <a:ext cx="2700000" cy="434797"/>
          </a:xfrm>
          <a:prstGeom prst="roundRect">
            <a:avLst>
              <a:gd name="adj" fmla="val 27110"/>
            </a:avLst>
          </a:prstGeom>
          <a:noFill/>
          <a:ln>
            <a:solidFill>
              <a:srgbClr val="EAFBF8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Transfer learning</a:t>
            </a:r>
          </a:p>
        </p:txBody>
      </p:sp>
      <p:sp>
        <p:nvSpPr>
          <p:cNvPr id="30" name="Rectangle: Rounded Corners 29">
            <a:hlinkClick r:id="rId4" action="ppaction://hlinksldjump"/>
            <a:extLst>
              <a:ext uri="{FF2B5EF4-FFF2-40B4-BE49-F238E27FC236}">
                <a16:creationId xmlns:a16="http://schemas.microsoft.com/office/drawing/2014/main" id="{513CB5E6-8252-E530-0F0E-F70EF37DE440}"/>
              </a:ext>
            </a:extLst>
          </p:cNvPr>
          <p:cNvSpPr/>
          <p:nvPr/>
        </p:nvSpPr>
        <p:spPr>
          <a:xfrm>
            <a:off x="8884158" y="391410"/>
            <a:ext cx="2700000" cy="437198"/>
          </a:xfrm>
          <a:prstGeom prst="roundRect">
            <a:avLst>
              <a:gd name="adj" fmla="val 27110"/>
            </a:avLst>
          </a:prstGeom>
          <a:solidFill>
            <a:srgbClr val="004C42"/>
          </a:solidFill>
          <a:ln>
            <a:solidFill>
              <a:schemeClr val="bg1"/>
            </a:solidFill>
          </a:ln>
        </p:spPr>
        <p:txBody>
          <a:bodyPr wrap="square" lIns="72000" tIns="0" rIns="72000" bIns="0" rtlCol="0">
            <a:no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Forecasting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8A3C95-64A4-D769-5B2D-36EBCC8B99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320" y="1565092"/>
            <a:ext cx="8541242" cy="39337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4B52CF0-6B7B-D55F-8C1D-D73013241EBD}"/>
              </a:ext>
            </a:extLst>
          </p:cNvPr>
          <p:cNvSpPr txBox="1"/>
          <p:nvPr/>
        </p:nvSpPr>
        <p:spPr>
          <a:xfrm>
            <a:off x="9137973" y="1292786"/>
            <a:ext cx="3054027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WG is mostly a project about meteorology. That’s a initial-state problem, knowing the initial state (from observations), the model reproduces its evolution</a:t>
            </a:r>
          </a:p>
          <a:p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Hydrology is a memory process, it requires knowledge about the past, since it is not possible to have a comprehensive knowledge of the initial state.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3C0FA6-13E0-33FF-7AF6-0CE7A9C2F696}"/>
              </a:ext>
            </a:extLst>
          </p:cNvPr>
          <p:cNvSpPr txBox="1"/>
          <p:nvPr/>
        </p:nvSpPr>
        <p:spPr>
          <a:xfrm>
            <a:off x="9131562" y="4399172"/>
            <a:ext cx="3054027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Most of the other applications in WG are spatial distributed. The processes in the atmosphere (in theory) can occur in any direction (</a:t>
            </a:r>
            <a:r>
              <a:rPr lang="en-US" sz="17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lat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7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lon</a:t>
            </a:r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, z).</a:t>
            </a:r>
          </a:p>
          <a:p>
            <a:r>
              <a:rPr lang="en-US" sz="1700" dirty="0">
                <a:latin typeface="Calibri Light" panose="020F0302020204030204" pitchFamily="34" charset="0"/>
                <a:cs typeface="Calibri Light" panose="020F0302020204030204" pitchFamily="34" charset="0"/>
              </a:rPr>
              <a:t>In Hydrology, processes are driven by the topography. It is a results of spatially </a:t>
            </a:r>
            <a:r>
              <a:rPr lang="en-US" sz="1700">
                <a:latin typeface="Calibri Light" panose="020F0302020204030204" pitchFamily="34" charset="0"/>
                <a:cs typeface="Calibri Light" panose="020F0302020204030204" pitchFamily="34" charset="0"/>
              </a:rPr>
              <a:t>aggregated processes.</a:t>
            </a:r>
            <a:endParaRPr lang="en-US" sz="17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081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4BB2C62-6DAC-9557-1E96-17823E4D4EB0}"/>
              </a:ext>
            </a:extLst>
          </p:cNvPr>
          <p:cNvSpPr/>
          <p:nvPr/>
        </p:nvSpPr>
        <p:spPr>
          <a:xfrm>
            <a:off x="0" y="0"/>
            <a:ext cx="4320000" cy="6858000"/>
          </a:xfrm>
          <a:prstGeom prst="rect">
            <a:avLst/>
          </a:prstGeom>
          <a:solidFill>
            <a:srgbClr val="0049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38B069-302D-DA6F-2258-0939D0547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04" y="6139381"/>
            <a:ext cx="907331" cy="4782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6DBE4A-E71C-2953-E446-2546153C74E9}"/>
              </a:ext>
            </a:extLst>
          </p:cNvPr>
          <p:cNvSpPr txBox="1"/>
          <p:nvPr/>
        </p:nvSpPr>
        <p:spPr>
          <a:xfrm>
            <a:off x="0" y="615254"/>
            <a:ext cx="4181839" cy="584775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r>
              <a:rPr lang="en-US" sz="3200">
                <a:solidFill>
                  <a:srgbClr val="2CDB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Thanks!</a:t>
            </a:r>
          </a:p>
        </p:txBody>
      </p:sp>
      <p:pic>
        <p:nvPicPr>
          <p:cNvPr id="17" name="Picture 16" descr="An aerial view of a land and water&#10;&#10;AI-generated content may be incorrect.">
            <a:extLst>
              <a:ext uri="{FF2B5EF4-FFF2-40B4-BE49-F238E27FC236}">
                <a16:creationId xmlns:a16="http://schemas.microsoft.com/office/drawing/2014/main" id="{B43159D7-F33B-F848-A99E-8A38B314EFD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009684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104" t="2547"/>
          <a:stretch/>
        </p:blipFill>
        <p:spPr>
          <a:xfrm>
            <a:off x="4320000" y="0"/>
            <a:ext cx="7872001" cy="6858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9268E81-C1DC-CFA7-AD61-389B5595AA7C}"/>
              </a:ext>
            </a:extLst>
          </p:cNvPr>
          <p:cNvSpPr txBox="1"/>
          <p:nvPr/>
        </p:nvSpPr>
        <p:spPr>
          <a:xfrm>
            <a:off x="69850" y="5396981"/>
            <a:ext cx="2862028" cy="61555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2CDB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Jesús Casado Rodríguez</a:t>
            </a:r>
          </a:p>
          <a:p>
            <a:r>
              <a:rPr lang="es-ES" sz="1600" dirty="0">
                <a:solidFill>
                  <a:srgbClr val="EAFB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j.casado@kajoservices.com</a:t>
            </a:r>
            <a:endParaRPr lang="en-US" sz="1600" dirty="0">
              <a:solidFill>
                <a:srgbClr val="EAFBF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05D37A-014B-9020-F1E6-819FC9D8069D}"/>
              </a:ext>
            </a:extLst>
          </p:cNvPr>
          <p:cNvSpPr txBox="1"/>
          <p:nvPr/>
        </p:nvSpPr>
        <p:spPr>
          <a:xfrm>
            <a:off x="10709188" y="6552398"/>
            <a:ext cx="1482811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es-ES" sz="1400" dirty="0">
                <a:solidFill>
                  <a:srgbClr val="00968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NASA: Landsat 8</a:t>
            </a:r>
            <a:endParaRPr lang="en-US" sz="1400" dirty="0">
              <a:solidFill>
                <a:srgbClr val="009684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428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8699</TotalTime>
  <Words>958</Words>
  <Application>Microsoft Office PowerPoint</Application>
  <PresentationFormat>Widescreen</PresentationFormat>
  <Paragraphs>198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Palatino Linotype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CASADO RODRIGUEZ Jesus (JRC-ISPRA)</dc:creator>
  <cp:lastModifiedBy>Jesus Casado</cp:lastModifiedBy>
  <cp:revision>215</cp:revision>
  <dcterms:created xsi:type="dcterms:W3CDTF">2023-11-06T14:14:49Z</dcterms:created>
  <dcterms:modified xsi:type="dcterms:W3CDTF">2026-09-23T11:51:49Z</dcterms:modified>
</cp:coreProperties>
</file>